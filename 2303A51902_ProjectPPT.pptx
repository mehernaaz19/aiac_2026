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66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2828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3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EA5E9"/>
          </a:solidFill>
          <a:ln w="12700">
            <a:solidFill>
              <a:srgbClr val="0EA5E9"/>
            </a:solidFill>
            <a:prstDash val="solid"/>
          </a:ln>
        </p:spPr>
      </p:sp>
      <p:sp>
        <p:nvSpPr>
          <p:cNvPr id="3" name="Shape 1"/>
          <p:cNvSpPr/>
          <p:nvPr/>
        </p:nvSpPr>
        <p:spPr>
          <a:xfrm>
            <a:off x="91440" y="0"/>
            <a:ext cx="22860" cy="5143500"/>
          </a:xfrm>
          <a:prstGeom prst="rect">
            <a:avLst/>
          </a:prstGeom>
          <a:solidFill>
            <a:srgbClr val="1E40AF"/>
          </a:solidFill>
          <a:ln w="12700">
            <a:solidFill>
              <a:srgbClr val="1E40AF"/>
            </a:solidFill>
            <a:prstDash val="solid"/>
          </a:ln>
        </p:spPr>
      </p:sp>
      <p:sp>
        <p:nvSpPr>
          <p:cNvPr id="4" name="Text 2"/>
          <p:cNvSpPr/>
          <p:nvPr/>
        </p:nvSpPr>
        <p:spPr>
          <a:xfrm>
            <a:off x="5029200" y="731520"/>
            <a:ext cx="4114800" cy="3657600"/>
          </a:xfrm>
          <a:prstGeom prst="rect">
            <a:avLst/>
          </a:prstGeom>
          <a:noFill/>
          <a:ln/>
        </p:spPr>
        <p:txBody>
          <a:bodyPr wrap="square" rtlCol="0" anchor="ctr"/>
          <a:lstStyle/>
          <a:p>
            <a:pPr marL="0" indent="0" algn="ctr">
              <a:buNone/>
            </a:pPr>
            <a:r>
              <a:rPr lang="en-US" sz="18000" dirty="0">
                <a:solidFill>
                  <a:srgbClr val="FFFFFF">
                    <a:alpha val="8000"/>
                  </a:srgbClr>
                </a:solidFill>
                <a:latin typeface="Calibri" pitchFamily="34" charset="0"/>
                <a:ea typeface="Calibri" pitchFamily="34" charset="-122"/>
                <a:cs typeface="Calibri" pitchFamily="34" charset="-120"/>
              </a:rPr>
              <a:t>✈</a:t>
            </a:r>
            <a:endParaRPr lang="en-US" sz="18000" dirty="0"/>
          </a:p>
        </p:txBody>
      </p:sp>
      <p:sp>
        <p:nvSpPr>
          <p:cNvPr id="5" name="Shape 3"/>
          <p:cNvSpPr/>
          <p:nvPr/>
        </p:nvSpPr>
        <p:spPr>
          <a:xfrm>
            <a:off x="365760" y="914400"/>
            <a:ext cx="1645920" cy="347472"/>
          </a:xfrm>
          <a:prstGeom prst="rect">
            <a:avLst/>
          </a:prstGeom>
          <a:solidFill>
            <a:srgbClr val="0EA5E9"/>
          </a:solidFill>
          <a:ln w="12700">
            <a:solidFill>
              <a:srgbClr val="0EA5E9"/>
            </a:solidFill>
            <a:prstDash val="solid"/>
          </a:ln>
        </p:spPr>
        <p:txBody>
          <a:bodyPr/>
          <a:lstStyle/>
          <a:p>
            <a:endParaRPr lang="en-US" dirty="0"/>
          </a:p>
        </p:txBody>
      </p:sp>
      <p:sp>
        <p:nvSpPr>
          <p:cNvPr id="6" name="Text 4"/>
          <p:cNvSpPr/>
          <p:nvPr/>
        </p:nvSpPr>
        <p:spPr>
          <a:xfrm>
            <a:off x="365760" y="914400"/>
            <a:ext cx="1645920"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AI - ASSISTED CODING - Project</a:t>
            </a:r>
            <a:endParaRPr lang="en-US" sz="950" dirty="0"/>
          </a:p>
        </p:txBody>
      </p:sp>
      <p:sp>
        <p:nvSpPr>
          <p:cNvPr id="7" name="Text 5"/>
          <p:cNvSpPr/>
          <p:nvPr/>
        </p:nvSpPr>
        <p:spPr>
          <a:xfrm>
            <a:off x="365760" y="1353312"/>
            <a:ext cx="6400800" cy="1005840"/>
          </a:xfrm>
          <a:prstGeom prst="rect">
            <a:avLst/>
          </a:prstGeom>
          <a:noFill/>
          <a:ln/>
        </p:spPr>
        <p:txBody>
          <a:bodyPr wrap="square" lIns="0" tIns="0" rIns="0" bIns="0" rtlCol="0" anchor="ctr"/>
          <a:lstStyle/>
          <a:p>
            <a:pPr marL="0" indent="0">
              <a:buNone/>
            </a:pPr>
            <a:r>
              <a:rPr lang="en-US" sz="7200" b="1" dirty="0">
                <a:solidFill>
                  <a:srgbClr val="FFFFFF"/>
                </a:solidFill>
                <a:latin typeface="Trebuchet MS" pitchFamily="34" charset="0"/>
                <a:ea typeface="Trebuchet MS" pitchFamily="34" charset="-122"/>
                <a:cs typeface="Trebuchet MS" pitchFamily="34" charset="-120"/>
              </a:rPr>
              <a:t>SkyWay</a:t>
            </a:r>
            <a:endParaRPr lang="en-US" sz="7200" dirty="0"/>
          </a:p>
        </p:txBody>
      </p:sp>
      <p:sp>
        <p:nvSpPr>
          <p:cNvPr id="8" name="Text 6"/>
          <p:cNvSpPr/>
          <p:nvPr/>
        </p:nvSpPr>
        <p:spPr>
          <a:xfrm>
            <a:off x="365760" y="2359152"/>
            <a:ext cx="6400800" cy="502920"/>
          </a:xfrm>
          <a:prstGeom prst="rect">
            <a:avLst/>
          </a:prstGeom>
          <a:noFill/>
          <a:ln/>
        </p:spPr>
        <p:txBody>
          <a:bodyPr wrap="square" lIns="0" tIns="0" rIns="0" bIns="0" rtlCol="0" anchor="ctr"/>
          <a:lstStyle/>
          <a:p>
            <a:pPr marL="0" indent="0">
              <a:buNone/>
            </a:pPr>
            <a:r>
              <a:rPr lang="en-US" sz="2600" dirty="0">
                <a:solidFill>
                  <a:srgbClr val="93C5FD"/>
                </a:solidFill>
                <a:latin typeface="Trebuchet MS" pitchFamily="34" charset="0"/>
                <a:ea typeface="Trebuchet MS" pitchFamily="34" charset="-122"/>
                <a:cs typeface="Trebuchet MS" pitchFamily="34" charset="-120"/>
              </a:rPr>
              <a:t>Flight Booking System</a:t>
            </a:r>
            <a:endParaRPr lang="en-US" sz="2600" dirty="0"/>
          </a:p>
        </p:txBody>
      </p:sp>
      <p:sp>
        <p:nvSpPr>
          <p:cNvPr id="9" name="Text 7"/>
          <p:cNvSpPr/>
          <p:nvPr/>
        </p:nvSpPr>
        <p:spPr>
          <a:xfrm>
            <a:off x="365760" y="2944368"/>
            <a:ext cx="6400800" cy="347472"/>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AI-Powered Full-Stack Web Application</a:t>
            </a:r>
            <a:endParaRPr lang="en-US" sz="1400" dirty="0"/>
          </a:p>
        </p:txBody>
      </p:sp>
      <p:sp>
        <p:nvSpPr>
          <p:cNvPr id="10" name="Shape 8"/>
          <p:cNvSpPr/>
          <p:nvPr/>
        </p:nvSpPr>
        <p:spPr>
          <a:xfrm>
            <a:off x="365760" y="3493008"/>
            <a:ext cx="6217920" cy="1325880"/>
          </a:xfrm>
          <a:prstGeom prst="rect">
            <a:avLst/>
          </a:prstGeom>
          <a:solidFill>
            <a:srgbClr val="162050"/>
          </a:solidFill>
          <a:ln w="10160">
            <a:solidFill>
              <a:srgbClr val="1E3A8A"/>
            </a:solidFill>
            <a:prstDash val="solid"/>
          </a:ln>
          <a:effectLst>
            <a:outerShdw blurRad="76200" dist="25400" dir="8100000" algn="bl" rotWithShape="0">
              <a:srgbClr val="000000">
                <a:alpha val="10000"/>
              </a:srgbClr>
            </a:outerShdw>
          </a:effectLst>
        </p:spPr>
      </p:sp>
      <p:sp>
        <p:nvSpPr>
          <p:cNvPr id="11" name="Text 9"/>
          <p:cNvSpPr/>
          <p:nvPr/>
        </p:nvSpPr>
        <p:spPr>
          <a:xfrm>
            <a:off x="548640" y="3566160"/>
            <a:ext cx="5852160" cy="256032"/>
          </a:xfrm>
          <a:prstGeom prst="rect">
            <a:avLst/>
          </a:prstGeom>
          <a:noFill/>
          <a:ln/>
        </p:spPr>
        <p:txBody>
          <a:bodyPr wrap="square" lIns="0" tIns="0" rIns="0" bIns="0" rtlCol="0" anchor="ctr"/>
          <a:lstStyle/>
          <a:p>
            <a:pPr marL="0" indent="0">
              <a:buNone/>
            </a:pPr>
            <a:r>
              <a:rPr lang="en-US" sz="1000" b="1" dirty="0">
                <a:solidFill>
                  <a:srgbClr val="0EA5E9"/>
                </a:solidFill>
                <a:latin typeface="Calibri" pitchFamily="34" charset="0"/>
                <a:ea typeface="Calibri" pitchFamily="34" charset="-122"/>
                <a:cs typeface="Calibri" pitchFamily="34" charset="-120"/>
              </a:rPr>
              <a:t>Details</a:t>
            </a:r>
            <a:endParaRPr lang="en-US" sz="1000" dirty="0"/>
          </a:p>
        </p:txBody>
      </p:sp>
      <p:sp>
        <p:nvSpPr>
          <p:cNvPr id="12" name="Text 10"/>
          <p:cNvSpPr/>
          <p:nvPr/>
        </p:nvSpPr>
        <p:spPr>
          <a:xfrm>
            <a:off x="548640" y="3858768"/>
            <a:ext cx="5852160" cy="896112"/>
          </a:xfrm>
          <a:prstGeom prst="rect">
            <a:avLst/>
          </a:prstGeom>
          <a:noFill/>
          <a:ln/>
        </p:spPr>
        <p:txBody>
          <a:bodyPr wrap="square" lIns="0" tIns="0" rIns="0" bIns="0" rtlCol="0" anchor="t"/>
          <a:lstStyle/>
          <a:p>
            <a:r>
              <a:rPr lang="en-US" sz="1150" dirty="0">
                <a:solidFill>
                  <a:srgbClr val="FFFFFF"/>
                </a:solidFill>
                <a:latin typeface="Calibri" pitchFamily="34" charset="0"/>
                <a:ea typeface="Calibri" pitchFamily="34" charset="-122"/>
                <a:cs typeface="Calibri" pitchFamily="34" charset="-120"/>
              </a:rPr>
              <a:t>Name                      : MEHER NAAZ                                    Hall Ticket Number     : 2303A51902</a:t>
            </a: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Department           : CSE  </a:t>
            </a:r>
          </a:p>
          <a:p>
            <a:pPr marL="0" indent="0">
              <a:buNone/>
            </a:pPr>
            <a:r>
              <a:rPr lang="en-US" sz="1150" dirty="0">
                <a:solidFill>
                  <a:srgbClr val="FFFFFF"/>
                </a:solidFill>
                <a:latin typeface="Calibri" pitchFamily="34" charset="0"/>
                <a:ea typeface="Calibri" pitchFamily="34" charset="-122"/>
                <a:cs typeface="Calibri" pitchFamily="34" charset="-120"/>
              </a:rPr>
              <a:t>Course Instructor  : SALLAUDDIN MOHAMMAD</a:t>
            </a:r>
          </a:p>
          <a:p>
            <a:pPr marL="0" indent="0">
              <a:buNone/>
            </a:pPr>
            <a:r>
              <a:rPr lang="en-US" sz="1150" dirty="0">
                <a:solidFill>
                  <a:srgbClr val="FFFFFF"/>
                </a:solidFill>
                <a:latin typeface="Calibri" pitchFamily="34" charset="0"/>
                <a:ea typeface="Calibri" pitchFamily="34" charset="-122"/>
                <a:cs typeface="Calibri" pitchFamily="34" charset="-120"/>
              </a:rPr>
              <a:t>Institution              : SR University  </a:t>
            </a:r>
          </a:p>
          <a:p>
            <a:pPr marL="0" indent="0">
              <a:buNone/>
            </a:pPr>
            <a:r>
              <a:rPr lang="en-US" sz="1150" dirty="0">
                <a:solidFill>
                  <a:srgbClr val="FFFFFF"/>
                </a:solidFill>
                <a:latin typeface="Calibri" pitchFamily="34" charset="0"/>
                <a:ea typeface="Calibri" pitchFamily="34" charset="-122"/>
                <a:cs typeface="Calibri" pitchFamily="34" charset="-120"/>
              </a:rPr>
              <a:t>Year                         :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Text 1"/>
          <p:cNvSpPr/>
          <p:nvPr/>
        </p:nvSpPr>
        <p:spPr>
          <a:xfrm>
            <a:off x="365760" y="201168"/>
            <a:ext cx="8412480" cy="502920"/>
          </a:xfrm>
          <a:prstGeom prst="rect">
            <a:avLst/>
          </a:prstGeom>
          <a:noFill/>
          <a:ln/>
        </p:spPr>
        <p:txBody>
          <a:bodyPr wrap="square" lIns="0" tIns="0" rIns="0" bIns="0" rtlCol="0" anchor="ctr"/>
          <a:lstStyle/>
          <a:p>
            <a:pPr marL="0" indent="0">
              <a:buNone/>
            </a:pPr>
            <a:r>
              <a:rPr lang="en-US" sz="3000" b="1" dirty="0">
                <a:solidFill>
                  <a:srgbClr val="0B1437"/>
                </a:solidFill>
                <a:latin typeface="Trebuchet MS" pitchFamily="34" charset="0"/>
                <a:ea typeface="Trebuchet MS" pitchFamily="34" charset="-122"/>
                <a:cs typeface="Trebuchet MS" pitchFamily="34" charset="-120"/>
              </a:rPr>
              <a:t>Introduction</a:t>
            </a:r>
            <a:endParaRPr lang="en-US" sz="3000" dirty="0"/>
          </a:p>
        </p:txBody>
      </p:sp>
      <p:sp>
        <p:nvSpPr>
          <p:cNvPr id="4" name="Text 2"/>
          <p:cNvSpPr/>
          <p:nvPr/>
        </p:nvSpPr>
        <p:spPr>
          <a:xfrm>
            <a:off x="365760" y="731520"/>
            <a:ext cx="8412480" cy="256032"/>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What is SkyWay and why does it matter?</a:t>
            </a:r>
            <a:endParaRPr lang="en-US" sz="1300" dirty="0"/>
          </a:p>
        </p:txBody>
      </p:sp>
      <p:sp>
        <p:nvSpPr>
          <p:cNvPr id="5" name="Shape 3"/>
          <p:cNvSpPr/>
          <p:nvPr/>
        </p:nvSpPr>
        <p:spPr>
          <a:xfrm>
            <a:off x="320040" y="1115568"/>
            <a:ext cx="5120640" cy="3520440"/>
          </a:xfrm>
          <a:prstGeom prst="rect">
            <a:avLst/>
          </a:prstGeom>
          <a:solidFill>
            <a:srgbClr val="FFFFFF"/>
          </a:solidFill>
          <a:ln w="7620">
            <a:solidFill>
              <a:srgbClr val="E2EAF8"/>
            </a:solidFill>
            <a:prstDash val="solid"/>
          </a:ln>
          <a:effectLst>
            <a:outerShdw blurRad="76200" dist="25400" dir="8100000" algn="bl" rotWithShape="0">
              <a:srgbClr val="000000">
                <a:alpha val="10000"/>
              </a:srgbClr>
            </a:outerShdw>
          </a:effectLst>
        </p:spPr>
      </p:sp>
      <p:sp>
        <p:nvSpPr>
          <p:cNvPr id="6" name="Shape 4"/>
          <p:cNvSpPr/>
          <p:nvPr/>
        </p:nvSpPr>
        <p:spPr>
          <a:xfrm>
            <a:off x="320040" y="1115568"/>
            <a:ext cx="54864" cy="3520440"/>
          </a:xfrm>
          <a:prstGeom prst="rect">
            <a:avLst/>
          </a:prstGeom>
          <a:solidFill>
            <a:srgbClr val="0EA5E9"/>
          </a:solidFill>
          <a:ln w="12700">
            <a:solidFill>
              <a:srgbClr val="0EA5E9"/>
            </a:solidFill>
            <a:prstDash val="solid"/>
          </a:ln>
        </p:spPr>
      </p:sp>
      <p:sp>
        <p:nvSpPr>
          <p:cNvPr id="7" name="Text 5"/>
          <p:cNvSpPr/>
          <p:nvPr/>
        </p:nvSpPr>
        <p:spPr>
          <a:xfrm>
            <a:off x="502920" y="1188720"/>
            <a:ext cx="4754880" cy="320040"/>
          </a:xfrm>
          <a:prstGeom prst="rect">
            <a:avLst/>
          </a:prstGeom>
          <a:noFill/>
          <a:ln/>
        </p:spPr>
        <p:txBody>
          <a:bodyPr wrap="square" lIns="0" tIns="0" rIns="0" bIns="0" rtlCol="0" anchor="ctr"/>
          <a:lstStyle/>
          <a:p>
            <a:pPr marL="0" indent="0">
              <a:buNone/>
            </a:pPr>
            <a:r>
              <a:rPr lang="en-US" sz="1400" b="1" dirty="0">
                <a:solidFill>
                  <a:srgbClr val="0B1437"/>
                </a:solidFill>
                <a:latin typeface="Trebuchet MS" pitchFamily="34" charset="0"/>
                <a:ea typeface="Trebuchet MS" pitchFamily="34" charset="-122"/>
                <a:cs typeface="Trebuchet MS" pitchFamily="34" charset="-120"/>
              </a:rPr>
              <a:t>About SkyWay</a:t>
            </a:r>
            <a:endParaRPr lang="en-US" sz="1400" dirty="0"/>
          </a:p>
        </p:txBody>
      </p:sp>
      <p:sp>
        <p:nvSpPr>
          <p:cNvPr id="8" name="Text 6"/>
          <p:cNvSpPr/>
          <p:nvPr/>
        </p:nvSpPr>
        <p:spPr>
          <a:xfrm>
            <a:off x="502920" y="1572768"/>
            <a:ext cx="4754880" cy="2926080"/>
          </a:xfrm>
          <a:prstGeom prst="rect">
            <a:avLst/>
          </a:prstGeom>
          <a:noFill/>
          <a:ln/>
        </p:spPr>
        <p:txBody>
          <a:bodyPr wrap="square" lIns="0" tIns="0" rIns="0" bIns="0" rtlCol="0" anchor="t"/>
          <a:lstStyle/>
          <a:p>
            <a:pPr marL="0" indent="0">
              <a:spcAft>
                <a:spcPts val="200"/>
              </a:spcAft>
              <a:buNone/>
            </a:pPr>
            <a:r>
              <a:rPr lang="en-US" sz="1150" dirty="0">
                <a:solidFill>
                  <a:srgbClr val="334155"/>
                </a:solidFill>
                <a:latin typeface="Calibri" pitchFamily="34" charset="0"/>
                <a:ea typeface="Calibri" pitchFamily="34" charset="-122"/>
                <a:cs typeface="Calibri" pitchFamily="34" charset="-120"/>
              </a:rPr>
              <a:t>SkyWay is a full-stack, AI-assisted flight booking web application built entirely in Python (stdlib) + vanilla JavaScript — no external web framework required.
It simulates a production-grade airline ticketing portal supporting:</a:t>
            </a:r>
            <a:endParaRPr lang="en-US" sz="1150" dirty="0"/>
          </a:p>
          <a:p>
            <a:pPr marL="342900" indent="-342900">
              <a:spcAft>
                <a:spcPts val="200"/>
              </a:spcAft>
              <a:buSzPct val="100000"/>
              <a:buChar char="•"/>
            </a:pPr>
            <a:r>
              <a:rPr lang="en-US" sz="1150" dirty="0">
                <a:solidFill>
                  <a:srgbClr val="334155"/>
                </a:solidFill>
                <a:latin typeface="Calibri" pitchFamily="34" charset="0"/>
                <a:ea typeface="Calibri" pitchFamily="34" charset="-122"/>
                <a:cs typeface="Calibri" pitchFamily="34" charset="-120"/>
              </a:rPr>
              <a:t>Flight search across 12 airports &amp; 6 airlines</a:t>
            </a:r>
            <a:endParaRPr lang="en-US" sz="1150" dirty="0"/>
          </a:p>
          <a:p>
            <a:pPr marL="342900" indent="-342900">
              <a:spcAft>
                <a:spcPts val="200"/>
              </a:spcAft>
              <a:buSzPct val="100000"/>
              <a:buChar char="•"/>
            </a:pPr>
            <a:r>
              <a:rPr lang="en-US" sz="1150" dirty="0">
                <a:solidFill>
                  <a:srgbClr val="334155"/>
                </a:solidFill>
                <a:latin typeface="Calibri" pitchFamily="34" charset="0"/>
                <a:ea typeface="Calibri" pitchFamily="34" charset="-122"/>
                <a:cs typeface="Calibri" pitchFamily="34" charset="-120"/>
              </a:rPr>
              <a:t>Dynamic user registration &amp; OTP-based login</a:t>
            </a:r>
            <a:endParaRPr lang="en-US" sz="1150" dirty="0"/>
          </a:p>
          <a:p>
            <a:pPr marL="342900" indent="-342900">
              <a:spcAft>
                <a:spcPts val="200"/>
              </a:spcAft>
              <a:buSzPct val="100000"/>
              <a:buChar char="•"/>
            </a:pPr>
            <a:r>
              <a:rPr lang="en-US" sz="1150" dirty="0">
                <a:solidFill>
                  <a:srgbClr val="334155"/>
                </a:solidFill>
                <a:latin typeface="Calibri" pitchFamily="34" charset="0"/>
                <a:ea typeface="Calibri" pitchFamily="34" charset="-122"/>
                <a:cs typeface="Calibri" pitchFamily="34" charset="-120"/>
              </a:rPr>
              <a:t>Interactive seat map with exit-row pricing</a:t>
            </a:r>
            <a:endParaRPr lang="en-US" sz="1150" dirty="0"/>
          </a:p>
          <a:p>
            <a:pPr marL="342900" indent="-342900">
              <a:spcAft>
                <a:spcPts val="200"/>
              </a:spcAft>
              <a:buSzPct val="100000"/>
              <a:buChar char="•"/>
            </a:pPr>
            <a:r>
              <a:rPr lang="en-US" sz="1150" dirty="0">
                <a:solidFill>
                  <a:srgbClr val="334155"/>
                </a:solidFill>
                <a:latin typeface="Calibri" pitchFamily="34" charset="0"/>
                <a:ea typeface="Calibri" pitchFamily="34" charset="-122"/>
                <a:cs typeface="Calibri" pitchFamily="34" charset="-120"/>
              </a:rPr>
              <a:t>Pre-book meals (Economy paid, Business free)</a:t>
            </a:r>
            <a:endParaRPr lang="en-US" sz="1150" dirty="0"/>
          </a:p>
          <a:p>
            <a:pPr marL="342900" indent="-342900">
              <a:spcAft>
                <a:spcPts val="200"/>
              </a:spcAft>
              <a:buSzPct val="100000"/>
              <a:buChar char="•"/>
            </a:pPr>
            <a:r>
              <a:rPr lang="en-US" sz="1150" dirty="0">
                <a:solidFill>
                  <a:srgbClr val="334155"/>
                </a:solidFill>
                <a:latin typeface="Calibri" pitchFamily="34" charset="0"/>
                <a:ea typeface="Calibri" pitchFamily="34" charset="-122"/>
                <a:cs typeface="Calibri" pitchFamily="34" charset="-120"/>
              </a:rPr>
              <a:t>Mock payment — Card, UPI/QR, Netbanking, Wallet</a:t>
            </a:r>
            <a:endParaRPr lang="en-US" sz="1150" dirty="0"/>
          </a:p>
          <a:p>
            <a:pPr marL="342900" indent="-342900">
              <a:spcAft>
                <a:spcPts val="200"/>
              </a:spcAft>
              <a:buSzPct val="100000"/>
              <a:buChar char="•"/>
            </a:pPr>
            <a:r>
              <a:rPr lang="en-US" sz="1150" dirty="0">
                <a:solidFill>
                  <a:srgbClr val="334155"/>
                </a:solidFill>
                <a:latin typeface="Calibri" pitchFamily="34" charset="0"/>
                <a:ea typeface="Calibri" pitchFamily="34" charset="-122"/>
                <a:cs typeface="Calibri" pitchFamily="34" charset="-120"/>
              </a:rPr>
              <a:t>PDF boarding-pass ticket download</a:t>
            </a:r>
            <a:endParaRPr lang="en-US" sz="1150" dirty="0"/>
          </a:p>
          <a:p>
            <a:pPr marL="342900" indent="-342900">
              <a:spcAft>
                <a:spcPts val="200"/>
              </a:spcAft>
              <a:buSzPct val="100000"/>
              <a:buChar char="•"/>
            </a:pPr>
            <a:r>
              <a:rPr lang="en-US" sz="1150" dirty="0">
                <a:solidFill>
                  <a:srgbClr val="334155"/>
                </a:solidFill>
                <a:latin typeface="Calibri" pitchFamily="34" charset="0"/>
                <a:ea typeface="Calibri" pitchFamily="34" charset="-122"/>
                <a:cs typeface="Calibri" pitchFamily="34" charset="-120"/>
              </a:rPr>
              <a:t>Web check-in, reschedule, cancellation rules</a:t>
            </a:r>
            <a:endParaRPr lang="en-US" sz="1150" dirty="0"/>
          </a:p>
          <a:p>
            <a:pPr marL="342900" indent="-342900">
              <a:spcAft>
                <a:spcPts val="200"/>
              </a:spcAft>
              <a:buSzPct val="100000"/>
              <a:buChar char="•"/>
            </a:pPr>
            <a:r>
              <a:rPr lang="en-US" sz="1150" dirty="0">
                <a:solidFill>
                  <a:srgbClr val="334155"/>
                </a:solidFill>
                <a:latin typeface="Calibri" pitchFamily="34" charset="0"/>
                <a:ea typeface="Calibri" pitchFamily="34" charset="-122"/>
                <a:cs typeface="Calibri" pitchFamily="34" charset="-120"/>
              </a:rPr>
              <a:t>Full Admin Panel — revenue, users, notifications</a:t>
            </a:r>
            <a:endParaRPr lang="en-US" sz="1150" dirty="0"/>
          </a:p>
        </p:txBody>
      </p:sp>
      <p:sp>
        <p:nvSpPr>
          <p:cNvPr id="9" name="Shape 7"/>
          <p:cNvSpPr/>
          <p:nvPr/>
        </p:nvSpPr>
        <p:spPr>
          <a:xfrm>
            <a:off x="5669280" y="1115568"/>
            <a:ext cx="3154680" cy="768096"/>
          </a:xfrm>
          <a:prstGeom prst="rect">
            <a:avLst/>
          </a:prstGeom>
          <a:solidFill>
            <a:srgbClr val="FFFFFF"/>
          </a:solidFill>
          <a:ln w="7620">
            <a:solidFill>
              <a:srgbClr val="E2EAF8"/>
            </a:solidFill>
            <a:prstDash val="solid"/>
          </a:ln>
          <a:effectLst>
            <a:outerShdw blurRad="76200" dist="25400" dir="8100000" algn="bl" rotWithShape="0">
              <a:srgbClr val="000000">
                <a:alpha val="10000"/>
              </a:srgbClr>
            </a:outerShdw>
          </a:effectLst>
        </p:spPr>
      </p:sp>
      <p:sp>
        <p:nvSpPr>
          <p:cNvPr id="10" name="Shape 8"/>
          <p:cNvSpPr/>
          <p:nvPr/>
        </p:nvSpPr>
        <p:spPr>
          <a:xfrm>
            <a:off x="5669280" y="1115568"/>
            <a:ext cx="54864" cy="768096"/>
          </a:xfrm>
          <a:prstGeom prst="rect">
            <a:avLst/>
          </a:prstGeom>
          <a:solidFill>
            <a:srgbClr val="0EA5E9"/>
          </a:solidFill>
          <a:ln w="12700">
            <a:solidFill>
              <a:srgbClr val="0EA5E9"/>
            </a:solidFill>
            <a:prstDash val="solid"/>
          </a:ln>
        </p:spPr>
      </p:sp>
      <p:sp>
        <p:nvSpPr>
          <p:cNvPr id="11" name="Text 9"/>
          <p:cNvSpPr/>
          <p:nvPr/>
        </p:nvSpPr>
        <p:spPr>
          <a:xfrm>
            <a:off x="5852160" y="1152144"/>
            <a:ext cx="1463040" cy="384048"/>
          </a:xfrm>
          <a:prstGeom prst="rect">
            <a:avLst/>
          </a:prstGeom>
          <a:noFill/>
          <a:ln/>
        </p:spPr>
        <p:txBody>
          <a:bodyPr wrap="square" lIns="0" tIns="0" rIns="0" bIns="0" rtlCol="0" anchor="ctr"/>
          <a:lstStyle/>
          <a:p>
            <a:pPr marL="0" indent="0">
              <a:buNone/>
            </a:pPr>
            <a:r>
              <a:rPr lang="en-US" sz="2600" b="1" dirty="0">
                <a:solidFill>
                  <a:srgbClr val="0B1437"/>
                </a:solidFill>
                <a:latin typeface="Trebuchet MS" pitchFamily="34" charset="0"/>
                <a:ea typeface="Trebuchet MS" pitchFamily="34" charset="-122"/>
                <a:cs typeface="Trebuchet MS" pitchFamily="34" charset="-120"/>
              </a:rPr>
              <a:t>12</a:t>
            </a:r>
            <a:endParaRPr lang="en-US" sz="2600" dirty="0"/>
          </a:p>
        </p:txBody>
      </p:sp>
      <p:sp>
        <p:nvSpPr>
          <p:cNvPr id="12" name="Text 10"/>
          <p:cNvSpPr/>
          <p:nvPr/>
        </p:nvSpPr>
        <p:spPr>
          <a:xfrm>
            <a:off x="5852160" y="1536192"/>
            <a:ext cx="2560320" cy="2743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Airports</a:t>
            </a:r>
            <a:endParaRPr lang="en-US" sz="1050" dirty="0"/>
          </a:p>
        </p:txBody>
      </p:sp>
      <p:sp>
        <p:nvSpPr>
          <p:cNvPr id="13" name="Shape 11"/>
          <p:cNvSpPr/>
          <p:nvPr/>
        </p:nvSpPr>
        <p:spPr>
          <a:xfrm>
            <a:off x="5669280" y="2002536"/>
            <a:ext cx="3154680" cy="768096"/>
          </a:xfrm>
          <a:prstGeom prst="rect">
            <a:avLst/>
          </a:prstGeom>
          <a:solidFill>
            <a:srgbClr val="FFFFFF"/>
          </a:solidFill>
          <a:ln w="7620">
            <a:solidFill>
              <a:srgbClr val="E2EAF8"/>
            </a:solidFill>
            <a:prstDash val="solid"/>
          </a:ln>
          <a:effectLst>
            <a:outerShdw blurRad="76200" dist="25400" dir="8100000" algn="bl" rotWithShape="0">
              <a:srgbClr val="000000">
                <a:alpha val="10000"/>
              </a:srgbClr>
            </a:outerShdw>
          </a:effectLst>
        </p:spPr>
      </p:sp>
      <p:sp>
        <p:nvSpPr>
          <p:cNvPr id="14" name="Shape 12"/>
          <p:cNvSpPr/>
          <p:nvPr/>
        </p:nvSpPr>
        <p:spPr>
          <a:xfrm>
            <a:off x="5669280" y="2002536"/>
            <a:ext cx="54864" cy="768096"/>
          </a:xfrm>
          <a:prstGeom prst="rect">
            <a:avLst/>
          </a:prstGeom>
          <a:solidFill>
            <a:srgbClr val="10B981"/>
          </a:solidFill>
          <a:ln w="12700">
            <a:solidFill>
              <a:srgbClr val="10B981"/>
            </a:solidFill>
            <a:prstDash val="solid"/>
          </a:ln>
        </p:spPr>
      </p:sp>
      <p:sp>
        <p:nvSpPr>
          <p:cNvPr id="15" name="Text 13"/>
          <p:cNvSpPr/>
          <p:nvPr/>
        </p:nvSpPr>
        <p:spPr>
          <a:xfrm>
            <a:off x="5852160" y="2039112"/>
            <a:ext cx="1463040" cy="384048"/>
          </a:xfrm>
          <a:prstGeom prst="rect">
            <a:avLst/>
          </a:prstGeom>
          <a:noFill/>
          <a:ln/>
        </p:spPr>
        <p:txBody>
          <a:bodyPr wrap="square" lIns="0" tIns="0" rIns="0" bIns="0" rtlCol="0" anchor="ctr"/>
          <a:lstStyle/>
          <a:p>
            <a:pPr marL="0" indent="0">
              <a:buNone/>
            </a:pPr>
            <a:r>
              <a:rPr lang="en-US" sz="2600" b="1" dirty="0">
                <a:solidFill>
                  <a:srgbClr val="0B1437"/>
                </a:solidFill>
                <a:latin typeface="Trebuchet MS" pitchFamily="34" charset="0"/>
                <a:ea typeface="Trebuchet MS" pitchFamily="34" charset="-122"/>
                <a:cs typeface="Trebuchet MS" pitchFamily="34" charset="-120"/>
              </a:rPr>
              <a:t>6</a:t>
            </a:r>
            <a:endParaRPr lang="en-US" sz="2600" dirty="0"/>
          </a:p>
        </p:txBody>
      </p:sp>
      <p:sp>
        <p:nvSpPr>
          <p:cNvPr id="16" name="Text 14"/>
          <p:cNvSpPr/>
          <p:nvPr/>
        </p:nvSpPr>
        <p:spPr>
          <a:xfrm>
            <a:off x="5852160" y="2423160"/>
            <a:ext cx="2560320" cy="2743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Airlines</a:t>
            </a:r>
            <a:endParaRPr lang="en-US" sz="1050" dirty="0"/>
          </a:p>
        </p:txBody>
      </p:sp>
      <p:sp>
        <p:nvSpPr>
          <p:cNvPr id="17" name="Shape 15"/>
          <p:cNvSpPr/>
          <p:nvPr/>
        </p:nvSpPr>
        <p:spPr>
          <a:xfrm>
            <a:off x="5669280" y="2889504"/>
            <a:ext cx="3154680" cy="768096"/>
          </a:xfrm>
          <a:prstGeom prst="rect">
            <a:avLst/>
          </a:prstGeom>
          <a:solidFill>
            <a:srgbClr val="FFFFFF"/>
          </a:solidFill>
          <a:ln w="7620">
            <a:solidFill>
              <a:srgbClr val="E2EAF8"/>
            </a:solidFill>
            <a:prstDash val="solid"/>
          </a:ln>
          <a:effectLst>
            <a:outerShdw blurRad="76200" dist="25400" dir="8100000" algn="bl" rotWithShape="0">
              <a:srgbClr val="000000">
                <a:alpha val="10000"/>
              </a:srgbClr>
            </a:outerShdw>
          </a:effectLst>
        </p:spPr>
      </p:sp>
      <p:sp>
        <p:nvSpPr>
          <p:cNvPr id="18" name="Shape 16"/>
          <p:cNvSpPr/>
          <p:nvPr/>
        </p:nvSpPr>
        <p:spPr>
          <a:xfrm>
            <a:off x="5669280" y="2889504"/>
            <a:ext cx="54864" cy="768096"/>
          </a:xfrm>
          <a:prstGeom prst="rect">
            <a:avLst/>
          </a:prstGeom>
          <a:solidFill>
            <a:srgbClr val="F59E0B"/>
          </a:solidFill>
          <a:ln w="12700">
            <a:solidFill>
              <a:srgbClr val="F59E0B"/>
            </a:solidFill>
            <a:prstDash val="solid"/>
          </a:ln>
        </p:spPr>
      </p:sp>
      <p:sp>
        <p:nvSpPr>
          <p:cNvPr id="19" name="Text 17"/>
          <p:cNvSpPr/>
          <p:nvPr/>
        </p:nvSpPr>
        <p:spPr>
          <a:xfrm>
            <a:off x="5852160" y="2926080"/>
            <a:ext cx="1463040" cy="384048"/>
          </a:xfrm>
          <a:prstGeom prst="rect">
            <a:avLst/>
          </a:prstGeom>
          <a:noFill/>
          <a:ln/>
        </p:spPr>
        <p:txBody>
          <a:bodyPr wrap="square" lIns="0" tIns="0" rIns="0" bIns="0" rtlCol="0" anchor="ctr"/>
          <a:lstStyle/>
          <a:p>
            <a:pPr marL="0" indent="0">
              <a:buNone/>
            </a:pPr>
            <a:r>
              <a:rPr lang="en-US" sz="2600" b="1" dirty="0">
                <a:solidFill>
                  <a:srgbClr val="0B1437"/>
                </a:solidFill>
                <a:latin typeface="Trebuchet MS" pitchFamily="34" charset="0"/>
                <a:ea typeface="Trebuchet MS" pitchFamily="34" charset="-122"/>
                <a:cs typeface="Trebuchet MS" pitchFamily="34" charset="-120"/>
              </a:rPr>
              <a:t>50+</a:t>
            </a:r>
            <a:endParaRPr lang="en-US" sz="2600" dirty="0"/>
          </a:p>
        </p:txBody>
      </p:sp>
      <p:sp>
        <p:nvSpPr>
          <p:cNvPr id="20" name="Text 18"/>
          <p:cNvSpPr/>
          <p:nvPr/>
        </p:nvSpPr>
        <p:spPr>
          <a:xfrm>
            <a:off x="5852160" y="3310128"/>
            <a:ext cx="2560320" cy="2743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Routes</a:t>
            </a:r>
            <a:endParaRPr lang="en-US" sz="1050" dirty="0"/>
          </a:p>
        </p:txBody>
      </p:sp>
      <p:sp>
        <p:nvSpPr>
          <p:cNvPr id="21" name="Shape 19"/>
          <p:cNvSpPr/>
          <p:nvPr/>
        </p:nvSpPr>
        <p:spPr>
          <a:xfrm>
            <a:off x="5669280" y="3776472"/>
            <a:ext cx="3154680" cy="768096"/>
          </a:xfrm>
          <a:prstGeom prst="rect">
            <a:avLst/>
          </a:prstGeom>
          <a:solidFill>
            <a:srgbClr val="FFFFFF"/>
          </a:solidFill>
          <a:ln w="7620">
            <a:solidFill>
              <a:srgbClr val="E2EAF8"/>
            </a:solidFill>
            <a:prstDash val="solid"/>
          </a:ln>
          <a:effectLst>
            <a:outerShdw blurRad="76200" dist="25400" dir="8100000" algn="bl" rotWithShape="0">
              <a:srgbClr val="000000">
                <a:alpha val="10000"/>
              </a:srgbClr>
            </a:outerShdw>
          </a:effectLst>
        </p:spPr>
      </p:sp>
      <p:sp>
        <p:nvSpPr>
          <p:cNvPr id="22" name="Shape 20"/>
          <p:cNvSpPr/>
          <p:nvPr/>
        </p:nvSpPr>
        <p:spPr>
          <a:xfrm>
            <a:off x="5669280" y="3776472"/>
            <a:ext cx="54864" cy="768096"/>
          </a:xfrm>
          <a:prstGeom prst="rect">
            <a:avLst/>
          </a:prstGeom>
          <a:solidFill>
            <a:srgbClr val="EF4444"/>
          </a:solidFill>
          <a:ln w="12700">
            <a:solidFill>
              <a:srgbClr val="EF4444"/>
            </a:solidFill>
            <a:prstDash val="solid"/>
          </a:ln>
        </p:spPr>
      </p:sp>
      <p:sp>
        <p:nvSpPr>
          <p:cNvPr id="23" name="Text 21"/>
          <p:cNvSpPr/>
          <p:nvPr/>
        </p:nvSpPr>
        <p:spPr>
          <a:xfrm>
            <a:off x="5852160" y="3813048"/>
            <a:ext cx="1463040" cy="384048"/>
          </a:xfrm>
          <a:prstGeom prst="rect">
            <a:avLst/>
          </a:prstGeom>
          <a:noFill/>
          <a:ln/>
        </p:spPr>
        <p:txBody>
          <a:bodyPr wrap="square" lIns="0" tIns="0" rIns="0" bIns="0" rtlCol="0" anchor="ctr"/>
          <a:lstStyle/>
          <a:p>
            <a:pPr marL="0" indent="0">
              <a:buNone/>
            </a:pPr>
            <a:r>
              <a:rPr lang="en-US" sz="2600" b="1" dirty="0">
                <a:solidFill>
                  <a:srgbClr val="0B1437"/>
                </a:solidFill>
                <a:latin typeface="Trebuchet MS" pitchFamily="34" charset="0"/>
                <a:ea typeface="Trebuchet MS" pitchFamily="34" charset="-122"/>
                <a:cs typeface="Trebuchet MS" pitchFamily="34" charset="-120"/>
              </a:rPr>
              <a:t>100%</a:t>
            </a:r>
            <a:endParaRPr lang="en-US" sz="2600" dirty="0"/>
          </a:p>
        </p:txBody>
      </p:sp>
      <p:sp>
        <p:nvSpPr>
          <p:cNvPr id="24" name="Text 22"/>
          <p:cNvSpPr/>
          <p:nvPr/>
        </p:nvSpPr>
        <p:spPr>
          <a:xfrm>
            <a:off x="5852160" y="4197096"/>
            <a:ext cx="2560320" cy="2743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AI-Built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43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EA5E9"/>
          </a:solidFill>
          <a:ln w="12700">
            <a:solidFill>
              <a:srgbClr val="0EA5E9"/>
            </a:solidFill>
            <a:prstDash val="solid"/>
          </a:ln>
        </p:spPr>
      </p:sp>
      <p:sp>
        <p:nvSpPr>
          <p:cNvPr id="3" name="Shape 1"/>
          <p:cNvSpPr/>
          <p:nvPr/>
        </p:nvSpPr>
        <p:spPr>
          <a:xfrm>
            <a:off x="91440" y="0"/>
            <a:ext cx="22860" cy="5143500"/>
          </a:xfrm>
          <a:prstGeom prst="rect">
            <a:avLst/>
          </a:prstGeom>
          <a:solidFill>
            <a:srgbClr val="1E40AF"/>
          </a:solidFill>
          <a:ln w="12700">
            <a:solidFill>
              <a:srgbClr val="1E40AF"/>
            </a:solidFill>
            <a:prstDash val="solid"/>
          </a:ln>
        </p:spPr>
      </p:sp>
      <p:sp>
        <p:nvSpPr>
          <p:cNvPr id="4" name="Text 2"/>
          <p:cNvSpPr/>
          <p:nvPr/>
        </p:nvSpPr>
        <p:spPr>
          <a:xfrm>
            <a:off x="365760" y="201168"/>
            <a:ext cx="8412480" cy="50292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Objectives</a:t>
            </a:r>
            <a:endParaRPr lang="en-US" sz="3000" dirty="0"/>
          </a:p>
        </p:txBody>
      </p:sp>
      <p:sp>
        <p:nvSpPr>
          <p:cNvPr id="5" name="Text 3"/>
          <p:cNvSpPr/>
          <p:nvPr/>
        </p:nvSpPr>
        <p:spPr>
          <a:xfrm>
            <a:off x="365760" y="749808"/>
            <a:ext cx="8412480" cy="292608"/>
          </a:xfrm>
          <a:prstGeom prst="rect">
            <a:avLst/>
          </a:prstGeom>
          <a:noFill/>
          <a:ln/>
        </p:spPr>
        <p:txBody>
          <a:bodyPr wrap="square" lIns="0" tIns="0" rIns="0" bIns="0" rtlCol="0" anchor="ctr"/>
          <a:lstStyle/>
          <a:p>
            <a:pPr marL="0" indent="0">
              <a:buNone/>
            </a:pPr>
            <a:r>
              <a:rPr lang="en-US" sz="1300" dirty="0">
                <a:solidFill>
                  <a:srgbClr val="93C5FD"/>
                </a:solidFill>
                <a:latin typeface="Calibri" pitchFamily="34" charset="0"/>
                <a:ea typeface="Calibri" pitchFamily="34" charset="-122"/>
                <a:cs typeface="Calibri" pitchFamily="34" charset="-120"/>
              </a:rPr>
              <a:t>Goals this project aims to achieve</a:t>
            </a:r>
            <a:endParaRPr lang="en-US" sz="1300" dirty="0"/>
          </a:p>
        </p:txBody>
      </p:sp>
      <p:sp>
        <p:nvSpPr>
          <p:cNvPr id="6" name="Shape 4"/>
          <p:cNvSpPr/>
          <p:nvPr/>
        </p:nvSpPr>
        <p:spPr>
          <a:xfrm>
            <a:off x="320040" y="1097280"/>
            <a:ext cx="4251960" cy="1170432"/>
          </a:xfrm>
          <a:prstGeom prst="rect">
            <a:avLst/>
          </a:prstGeom>
          <a:solidFill>
            <a:srgbClr val="162050"/>
          </a:solidFill>
          <a:ln w="7620">
            <a:solidFill>
              <a:srgbClr val="1E3A8A"/>
            </a:solidFill>
            <a:prstDash val="solid"/>
          </a:ln>
          <a:effectLst>
            <a:outerShdw blurRad="76200" dist="25400" dir="8100000" algn="bl" rotWithShape="0">
              <a:srgbClr val="000000">
                <a:alpha val="10000"/>
              </a:srgbClr>
            </a:outerShdw>
          </a:effectLst>
        </p:spPr>
      </p:sp>
      <p:sp>
        <p:nvSpPr>
          <p:cNvPr id="7" name="Shape 5"/>
          <p:cNvSpPr/>
          <p:nvPr/>
        </p:nvSpPr>
        <p:spPr>
          <a:xfrm>
            <a:off x="320040" y="1097280"/>
            <a:ext cx="54864" cy="1170432"/>
          </a:xfrm>
          <a:prstGeom prst="rect">
            <a:avLst/>
          </a:prstGeom>
          <a:solidFill>
            <a:srgbClr val="0EA5E9"/>
          </a:solidFill>
          <a:ln w="12700">
            <a:solidFill>
              <a:srgbClr val="0EA5E9"/>
            </a:solidFill>
            <a:prstDash val="solid"/>
          </a:ln>
        </p:spPr>
      </p:sp>
      <p:sp>
        <p:nvSpPr>
          <p:cNvPr id="8" name="Text 6"/>
          <p:cNvSpPr/>
          <p:nvPr/>
        </p:nvSpPr>
        <p:spPr>
          <a:xfrm>
            <a:off x="448056" y="1170432"/>
            <a:ext cx="4005072" cy="27432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 Real-World Booking Flow</a:t>
            </a:r>
            <a:endParaRPr lang="en-US" sz="1200" dirty="0"/>
          </a:p>
        </p:txBody>
      </p:sp>
      <p:sp>
        <p:nvSpPr>
          <p:cNvPr id="9" name="Text 7"/>
          <p:cNvSpPr/>
          <p:nvPr/>
        </p:nvSpPr>
        <p:spPr>
          <a:xfrm>
            <a:off x="448056" y="1481328"/>
            <a:ext cx="4005072" cy="713232"/>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Simulate end-to-end flight booking: search → seat → meal → pay → ticket — exactly like production airline portals.</a:t>
            </a:r>
            <a:endParaRPr lang="en-US" sz="1000" dirty="0"/>
          </a:p>
        </p:txBody>
      </p:sp>
      <p:sp>
        <p:nvSpPr>
          <p:cNvPr id="10" name="Shape 8"/>
          <p:cNvSpPr/>
          <p:nvPr/>
        </p:nvSpPr>
        <p:spPr>
          <a:xfrm>
            <a:off x="4818888" y="1097280"/>
            <a:ext cx="4251960" cy="1170432"/>
          </a:xfrm>
          <a:prstGeom prst="rect">
            <a:avLst/>
          </a:prstGeom>
          <a:solidFill>
            <a:srgbClr val="162050"/>
          </a:solidFill>
          <a:ln w="7620">
            <a:solidFill>
              <a:srgbClr val="1E3A8A"/>
            </a:solidFill>
            <a:prstDash val="solid"/>
          </a:ln>
          <a:effectLst>
            <a:outerShdw blurRad="76200" dist="25400" dir="8100000" algn="bl" rotWithShape="0">
              <a:srgbClr val="000000">
                <a:alpha val="10000"/>
              </a:srgbClr>
            </a:outerShdw>
          </a:effectLst>
        </p:spPr>
      </p:sp>
      <p:sp>
        <p:nvSpPr>
          <p:cNvPr id="11" name="Shape 9"/>
          <p:cNvSpPr/>
          <p:nvPr/>
        </p:nvSpPr>
        <p:spPr>
          <a:xfrm>
            <a:off x="4818888" y="1097280"/>
            <a:ext cx="54864" cy="1170432"/>
          </a:xfrm>
          <a:prstGeom prst="rect">
            <a:avLst/>
          </a:prstGeom>
          <a:solidFill>
            <a:srgbClr val="0EA5E9"/>
          </a:solidFill>
          <a:ln w="12700">
            <a:solidFill>
              <a:srgbClr val="0EA5E9"/>
            </a:solidFill>
            <a:prstDash val="solid"/>
          </a:ln>
        </p:spPr>
      </p:sp>
      <p:sp>
        <p:nvSpPr>
          <p:cNvPr id="12" name="Text 10"/>
          <p:cNvSpPr/>
          <p:nvPr/>
        </p:nvSpPr>
        <p:spPr>
          <a:xfrm>
            <a:off x="4946904" y="1170432"/>
            <a:ext cx="4005072" cy="27432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 Secure Authentication</a:t>
            </a:r>
            <a:endParaRPr lang="en-US" sz="1200" dirty="0"/>
          </a:p>
        </p:txBody>
      </p:sp>
      <p:sp>
        <p:nvSpPr>
          <p:cNvPr id="13" name="Text 11"/>
          <p:cNvSpPr/>
          <p:nvPr/>
        </p:nvSpPr>
        <p:spPr>
          <a:xfrm>
            <a:off x="4946904" y="1481328"/>
            <a:ext cx="4005072" cy="713232"/>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Implement email+password login, 6-digit OTP verification, and Google OAuth 2.0 sign-in with session cookies.</a:t>
            </a:r>
            <a:endParaRPr lang="en-US" sz="1000" dirty="0"/>
          </a:p>
        </p:txBody>
      </p:sp>
      <p:sp>
        <p:nvSpPr>
          <p:cNvPr id="14" name="Shape 12"/>
          <p:cNvSpPr/>
          <p:nvPr/>
        </p:nvSpPr>
        <p:spPr>
          <a:xfrm>
            <a:off x="320040" y="2395728"/>
            <a:ext cx="4251960" cy="1170432"/>
          </a:xfrm>
          <a:prstGeom prst="rect">
            <a:avLst/>
          </a:prstGeom>
          <a:solidFill>
            <a:srgbClr val="162050"/>
          </a:solidFill>
          <a:ln w="7620">
            <a:solidFill>
              <a:srgbClr val="1E3A8A"/>
            </a:solidFill>
            <a:prstDash val="solid"/>
          </a:ln>
          <a:effectLst>
            <a:outerShdw blurRad="76200" dist="25400" dir="8100000" algn="bl" rotWithShape="0">
              <a:srgbClr val="000000">
                <a:alpha val="10000"/>
              </a:srgbClr>
            </a:outerShdw>
          </a:effectLst>
        </p:spPr>
      </p:sp>
      <p:sp>
        <p:nvSpPr>
          <p:cNvPr id="15" name="Shape 13"/>
          <p:cNvSpPr/>
          <p:nvPr/>
        </p:nvSpPr>
        <p:spPr>
          <a:xfrm>
            <a:off x="320040" y="2395728"/>
            <a:ext cx="54864" cy="1170432"/>
          </a:xfrm>
          <a:prstGeom prst="rect">
            <a:avLst/>
          </a:prstGeom>
          <a:solidFill>
            <a:srgbClr val="0EA5E9"/>
          </a:solidFill>
          <a:ln w="12700">
            <a:solidFill>
              <a:srgbClr val="0EA5E9"/>
            </a:solidFill>
            <a:prstDash val="solid"/>
          </a:ln>
        </p:spPr>
      </p:sp>
      <p:sp>
        <p:nvSpPr>
          <p:cNvPr id="16" name="Text 14"/>
          <p:cNvSpPr/>
          <p:nvPr/>
        </p:nvSpPr>
        <p:spPr>
          <a:xfrm>
            <a:off x="448056" y="2468880"/>
            <a:ext cx="4005072" cy="27432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 AI-Assisted Development</a:t>
            </a:r>
            <a:endParaRPr lang="en-US" sz="1200" dirty="0"/>
          </a:p>
        </p:txBody>
      </p:sp>
      <p:sp>
        <p:nvSpPr>
          <p:cNvPr id="17" name="Text 15"/>
          <p:cNvSpPr/>
          <p:nvPr/>
        </p:nvSpPr>
        <p:spPr>
          <a:xfrm>
            <a:off x="448056" y="2779776"/>
            <a:ext cx="4005072" cy="713232"/>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Leverage GitHub Copilot prompts embedded in every file to generate, extend, and document code intelligently.</a:t>
            </a:r>
            <a:endParaRPr lang="en-US" sz="1000" dirty="0"/>
          </a:p>
        </p:txBody>
      </p:sp>
      <p:sp>
        <p:nvSpPr>
          <p:cNvPr id="18" name="Shape 16"/>
          <p:cNvSpPr/>
          <p:nvPr/>
        </p:nvSpPr>
        <p:spPr>
          <a:xfrm>
            <a:off x="4818888" y="2395728"/>
            <a:ext cx="4251960" cy="1170432"/>
          </a:xfrm>
          <a:prstGeom prst="rect">
            <a:avLst/>
          </a:prstGeom>
          <a:solidFill>
            <a:srgbClr val="162050"/>
          </a:solidFill>
          <a:ln w="7620">
            <a:solidFill>
              <a:srgbClr val="1E3A8A"/>
            </a:solidFill>
            <a:prstDash val="solid"/>
          </a:ln>
          <a:effectLst>
            <a:outerShdw blurRad="76200" dist="25400" dir="8100000" algn="bl" rotWithShape="0">
              <a:srgbClr val="000000">
                <a:alpha val="10000"/>
              </a:srgbClr>
            </a:outerShdw>
          </a:effectLst>
        </p:spPr>
      </p:sp>
      <p:sp>
        <p:nvSpPr>
          <p:cNvPr id="19" name="Shape 17"/>
          <p:cNvSpPr/>
          <p:nvPr/>
        </p:nvSpPr>
        <p:spPr>
          <a:xfrm>
            <a:off x="4818888" y="2395728"/>
            <a:ext cx="54864" cy="1170432"/>
          </a:xfrm>
          <a:prstGeom prst="rect">
            <a:avLst/>
          </a:prstGeom>
          <a:solidFill>
            <a:srgbClr val="0EA5E9"/>
          </a:solidFill>
          <a:ln w="12700">
            <a:solidFill>
              <a:srgbClr val="0EA5E9"/>
            </a:solidFill>
            <a:prstDash val="solid"/>
          </a:ln>
        </p:spPr>
      </p:sp>
      <p:sp>
        <p:nvSpPr>
          <p:cNvPr id="20" name="Text 18"/>
          <p:cNvSpPr/>
          <p:nvPr/>
        </p:nvSpPr>
        <p:spPr>
          <a:xfrm>
            <a:off x="4946904" y="2468880"/>
            <a:ext cx="4005072" cy="27432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 Server-Side Business Rules</a:t>
            </a:r>
            <a:endParaRPr lang="en-US" sz="1200" dirty="0"/>
          </a:p>
        </p:txBody>
      </p:sp>
      <p:sp>
        <p:nvSpPr>
          <p:cNvPr id="21" name="Text 19"/>
          <p:cNvSpPr/>
          <p:nvPr/>
        </p:nvSpPr>
        <p:spPr>
          <a:xfrm>
            <a:off x="4946904" y="2779776"/>
            <a:ext cx="4005072" cy="713232"/>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Enforce cancellation windows (&lt;2h blocked, 10%/50%/90% refund tiers), check-in windows, and reschedule restrictions.</a:t>
            </a:r>
            <a:endParaRPr lang="en-US" sz="1000" dirty="0"/>
          </a:p>
        </p:txBody>
      </p:sp>
      <p:sp>
        <p:nvSpPr>
          <p:cNvPr id="22" name="Shape 20"/>
          <p:cNvSpPr/>
          <p:nvPr/>
        </p:nvSpPr>
        <p:spPr>
          <a:xfrm>
            <a:off x="320040" y="3694176"/>
            <a:ext cx="4251960" cy="1170432"/>
          </a:xfrm>
          <a:prstGeom prst="rect">
            <a:avLst/>
          </a:prstGeom>
          <a:solidFill>
            <a:srgbClr val="162050"/>
          </a:solidFill>
          <a:ln w="7620">
            <a:solidFill>
              <a:srgbClr val="1E3A8A"/>
            </a:solidFill>
            <a:prstDash val="solid"/>
          </a:ln>
          <a:effectLst>
            <a:outerShdw blurRad="76200" dist="25400" dir="8100000" algn="bl" rotWithShape="0">
              <a:srgbClr val="000000">
                <a:alpha val="10000"/>
              </a:srgbClr>
            </a:outerShdw>
          </a:effectLst>
        </p:spPr>
      </p:sp>
      <p:sp>
        <p:nvSpPr>
          <p:cNvPr id="23" name="Shape 21"/>
          <p:cNvSpPr/>
          <p:nvPr/>
        </p:nvSpPr>
        <p:spPr>
          <a:xfrm>
            <a:off x="320040" y="3694176"/>
            <a:ext cx="54864" cy="1170432"/>
          </a:xfrm>
          <a:prstGeom prst="rect">
            <a:avLst/>
          </a:prstGeom>
          <a:solidFill>
            <a:srgbClr val="0EA5E9"/>
          </a:solidFill>
          <a:ln w="12700">
            <a:solidFill>
              <a:srgbClr val="0EA5E9"/>
            </a:solidFill>
            <a:prstDash val="solid"/>
          </a:ln>
        </p:spPr>
      </p:sp>
      <p:sp>
        <p:nvSpPr>
          <p:cNvPr id="24" name="Text 22"/>
          <p:cNvSpPr/>
          <p:nvPr/>
        </p:nvSpPr>
        <p:spPr>
          <a:xfrm>
            <a:off x="448056" y="3767328"/>
            <a:ext cx="4005072" cy="27432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 Mock Payment Gateway</a:t>
            </a:r>
            <a:endParaRPr lang="en-US" sz="1200" dirty="0"/>
          </a:p>
        </p:txBody>
      </p:sp>
      <p:sp>
        <p:nvSpPr>
          <p:cNvPr id="25" name="Text 23"/>
          <p:cNvSpPr/>
          <p:nvPr/>
        </p:nvSpPr>
        <p:spPr>
          <a:xfrm>
            <a:off x="448056" y="4078224"/>
            <a:ext cx="4005072" cy="713232"/>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Support Card (CVV/expiry), UPI QR, Netbanking, and Wallet flows with validation — ready to swap for Razorpay/Stripe.</a:t>
            </a:r>
            <a:endParaRPr lang="en-US" sz="1000" dirty="0"/>
          </a:p>
        </p:txBody>
      </p:sp>
      <p:sp>
        <p:nvSpPr>
          <p:cNvPr id="26" name="Shape 24"/>
          <p:cNvSpPr/>
          <p:nvPr/>
        </p:nvSpPr>
        <p:spPr>
          <a:xfrm>
            <a:off x="4818888" y="3694176"/>
            <a:ext cx="4251960" cy="1170432"/>
          </a:xfrm>
          <a:prstGeom prst="rect">
            <a:avLst/>
          </a:prstGeom>
          <a:solidFill>
            <a:srgbClr val="162050"/>
          </a:solidFill>
          <a:ln w="7620">
            <a:solidFill>
              <a:srgbClr val="1E3A8A"/>
            </a:solidFill>
            <a:prstDash val="solid"/>
          </a:ln>
          <a:effectLst>
            <a:outerShdw blurRad="76200" dist="25400" dir="8100000" algn="bl" rotWithShape="0">
              <a:srgbClr val="000000">
                <a:alpha val="10000"/>
              </a:srgbClr>
            </a:outerShdw>
          </a:effectLst>
        </p:spPr>
      </p:sp>
      <p:sp>
        <p:nvSpPr>
          <p:cNvPr id="27" name="Shape 25"/>
          <p:cNvSpPr/>
          <p:nvPr/>
        </p:nvSpPr>
        <p:spPr>
          <a:xfrm>
            <a:off x="4818888" y="3694176"/>
            <a:ext cx="54864" cy="1170432"/>
          </a:xfrm>
          <a:prstGeom prst="rect">
            <a:avLst/>
          </a:prstGeom>
          <a:solidFill>
            <a:srgbClr val="0EA5E9"/>
          </a:solidFill>
          <a:ln w="12700">
            <a:solidFill>
              <a:srgbClr val="0EA5E9"/>
            </a:solidFill>
            <a:prstDash val="solid"/>
          </a:ln>
        </p:spPr>
      </p:sp>
      <p:sp>
        <p:nvSpPr>
          <p:cNvPr id="28" name="Text 26"/>
          <p:cNvSpPr/>
          <p:nvPr/>
        </p:nvSpPr>
        <p:spPr>
          <a:xfrm>
            <a:off x="4946904" y="3767328"/>
            <a:ext cx="4005072" cy="27432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 Admin Operations Panel</a:t>
            </a:r>
            <a:endParaRPr lang="en-US" sz="1200" dirty="0"/>
          </a:p>
        </p:txBody>
      </p:sp>
      <p:sp>
        <p:nvSpPr>
          <p:cNvPr id="29" name="Text 27"/>
          <p:cNvSpPr/>
          <p:nvPr/>
        </p:nvSpPr>
        <p:spPr>
          <a:xfrm>
            <a:off x="4946904" y="4078224"/>
            <a:ext cx="4005072" cy="713232"/>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Let airline staff declare delays, cancellations, gate changes, view revenue, user profiles, and seat occupancy maps.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Text 1"/>
          <p:cNvSpPr/>
          <p:nvPr/>
        </p:nvSpPr>
        <p:spPr>
          <a:xfrm>
            <a:off x="365760" y="201168"/>
            <a:ext cx="8412480" cy="502920"/>
          </a:xfrm>
          <a:prstGeom prst="rect">
            <a:avLst/>
          </a:prstGeom>
          <a:noFill/>
          <a:ln/>
        </p:spPr>
        <p:txBody>
          <a:bodyPr wrap="square" lIns="0" tIns="0" rIns="0" bIns="0" rtlCol="0" anchor="ctr"/>
          <a:lstStyle/>
          <a:p>
            <a:pPr marL="0" indent="0">
              <a:buNone/>
            </a:pPr>
            <a:r>
              <a:rPr lang="en-US" sz="3000" b="1" dirty="0">
                <a:solidFill>
                  <a:srgbClr val="0B1437"/>
                </a:solidFill>
                <a:latin typeface="Trebuchet MS" pitchFamily="34" charset="0"/>
                <a:ea typeface="Trebuchet MS" pitchFamily="34" charset="-122"/>
                <a:cs typeface="Trebuchet MS" pitchFamily="34" charset="-120"/>
              </a:rPr>
              <a:t>Stakeholders</a:t>
            </a:r>
            <a:endParaRPr lang="en-US" sz="3000" dirty="0"/>
          </a:p>
        </p:txBody>
      </p:sp>
      <p:sp>
        <p:nvSpPr>
          <p:cNvPr id="4" name="Text 2"/>
          <p:cNvSpPr/>
          <p:nvPr/>
        </p:nvSpPr>
        <p:spPr>
          <a:xfrm>
            <a:off x="365760" y="731520"/>
            <a:ext cx="8412480" cy="256032"/>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Who interacts with SkyWay and what do they need?</a:t>
            </a:r>
            <a:endParaRPr lang="en-US" sz="1300" dirty="0"/>
          </a:p>
        </p:txBody>
      </p:sp>
      <p:sp>
        <p:nvSpPr>
          <p:cNvPr id="5" name="Shape 3"/>
          <p:cNvSpPr/>
          <p:nvPr/>
        </p:nvSpPr>
        <p:spPr>
          <a:xfrm>
            <a:off x="320040" y="1078992"/>
            <a:ext cx="2029968" cy="3886200"/>
          </a:xfrm>
          <a:prstGeom prst="rect">
            <a:avLst/>
          </a:prstGeom>
          <a:solidFill>
            <a:srgbClr val="FFFFFF"/>
          </a:solidFill>
          <a:ln w="7620">
            <a:solidFill>
              <a:srgbClr val="E2EAF8"/>
            </a:solidFill>
            <a:prstDash val="solid"/>
          </a:ln>
          <a:effectLst>
            <a:outerShdw blurRad="76200" dist="25400" dir="8100000" algn="bl" rotWithShape="0">
              <a:srgbClr val="000000">
                <a:alpha val="10000"/>
              </a:srgbClr>
            </a:outerShdw>
          </a:effectLst>
        </p:spPr>
      </p:sp>
      <p:sp>
        <p:nvSpPr>
          <p:cNvPr id="6" name="Shape 4"/>
          <p:cNvSpPr/>
          <p:nvPr/>
        </p:nvSpPr>
        <p:spPr>
          <a:xfrm>
            <a:off x="320040" y="1078992"/>
            <a:ext cx="2029968" cy="402336"/>
          </a:xfrm>
          <a:prstGeom prst="rect">
            <a:avLst/>
          </a:prstGeom>
          <a:solidFill>
            <a:srgbClr val="0EA5E9"/>
          </a:solidFill>
          <a:ln w="12700">
            <a:solidFill>
              <a:srgbClr val="0EA5E9"/>
            </a:solidFill>
            <a:prstDash val="solid"/>
          </a:ln>
        </p:spPr>
      </p:sp>
      <p:sp>
        <p:nvSpPr>
          <p:cNvPr id="7" name="Text 5"/>
          <p:cNvSpPr/>
          <p:nvPr/>
        </p:nvSpPr>
        <p:spPr>
          <a:xfrm>
            <a:off x="411480" y="1097280"/>
            <a:ext cx="1847088"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Trebuchet MS" pitchFamily="34" charset="0"/>
                <a:ea typeface="Trebuchet MS" pitchFamily="34" charset="-122"/>
                <a:cs typeface="Trebuchet MS" pitchFamily="34" charset="-120"/>
              </a:rPr>
              <a:t>✈ Passenger / User</a:t>
            </a:r>
            <a:endParaRPr lang="en-US" sz="1050" dirty="0"/>
          </a:p>
        </p:txBody>
      </p:sp>
      <p:sp>
        <p:nvSpPr>
          <p:cNvPr id="8" name="Text 6"/>
          <p:cNvSpPr/>
          <p:nvPr/>
        </p:nvSpPr>
        <p:spPr>
          <a:xfrm>
            <a:off x="411480" y="1554480"/>
            <a:ext cx="1874520" cy="33375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Search &amp; compare flights</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Book, reschedule, cancel</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Web check-in</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Download PDF ticket</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Track booking status</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OTP / Google sign-in</a:t>
            </a:r>
            <a:endParaRPr lang="en-US" sz="1050" dirty="0"/>
          </a:p>
        </p:txBody>
      </p:sp>
      <p:sp>
        <p:nvSpPr>
          <p:cNvPr id="9" name="Shape 7"/>
          <p:cNvSpPr/>
          <p:nvPr/>
        </p:nvSpPr>
        <p:spPr>
          <a:xfrm>
            <a:off x="2468880" y="1078992"/>
            <a:ext cx="2029968" cy="3886200"/>
          </a:xfrm>
          <a:prstGeom prst="rect">
            <a:avLst/>
          </a:prstGeom>
          <a:solidFill>
            <a:srgbClr val="FFFFFF"/>
          </a:solidFill>
          <a:ln w="7620">
            <a:solidFill>
              <a:srgbClr val="E2EAF8"/>
            </a:solidFill>
            <a:prstDash val="solid"/>
          </a:ln>
          <a:effectLst>
            <a:outerShdw blurRad="76200" dist="25400" dir="8100000" algn="bl" rotWithShape="0">
              <a:srgbClr val="000000">
                <a:alpha val="10000"/>
              </a:srgbClr>
            </a:outerShdw>
          </a:effectLst>
        </p:spPr>
      </p:sp>
      <p:sp>
        <p:nvSpPr>
          <p:cNvPr id="10" name="Shape 8"/>
          <p:cNvSpPr/>
          <p:nvPr/>
        </p:nvSpPr>
        <p:spPr>
          <a:xfrm>
            <a:off x="2468880" y="1078992"/>
            <a:ext cx="2029968" cy="402336"/>
          </a:xfrm>
          <a:prstGeom prst="rect">
            <a:avLst/>
          </a:prstGeom>
          <a:solidFill>
            <a:srgbClr val="10B981"/>
          </a:solidFill>
          <a:ln w="12700">
            <a:solidFill>
              <a:srgbClr val="10B981"/>
            </a:solidFill>
            <a:prstDash val="solid"/>
          </a:ln>
        </p:spPr>
      </p:sp>
      <p:sp>
        <p:nvSpPr>
          <p:cNvPr id="11" name="Text 9"/>
          <p:cNvSpPr/>
          <p:nvPr/>
        </p:nvSpPr>
        <p:spPr>
          <a:xfrm>
            <a:off x="2560320" y="1097280"/>
            <a:ext cx="1847088"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Trebuchet MS" pitchFamily="34" charset="0"/>
                <a:ea typeface="Trebuchet MS" pitchFamily="34" charset="-122"/>
                <a:cs typeface="Trebuchet MS" pitchFamily="34" charset="-120"/>
              </a:rPr>
              <a:t>⚙️ Airline Admin</a:t>
            </a:r>
            <a:endParaRPr lang="en-US" sz="1050" dirty="0"/>
          </a:p>
        </p:txBody>
      </p:sp>
      <p:sp>
        <p:nvSpPr>
          <p:cNvPr id="12" name="Text 10"/>
          <p:cNvSpPr/>
          <p:nvPr/>
        </p:nvSpPr>
        <p:spPr>
          <a:xfrm>
            <a:off x="2560320" y="1554480"/>
            <a:ext cx="1874520" cy="33375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View all bookings &amp; revenue</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Declare delays &amp; cancellations</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Send passenger notifications</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View seat occupancy maps</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Manage user accounts</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Monitor payment transactions</a:t>
            </a:r>
            <a:endParaRPr lang="en-US" sz="1050" dirty="0"/>
          </a:p>
        </p:txBody>
      </p:sp>
      <p:sp>
        <p:nvSpPr>
          <p:cNvPr id="13" name="Shape 11"/>
          <p:cNvSpPr/>
          <p:nvPr/>
        </p:nvSpPr>
        <p:spPr>
          <a:xfrm>
            <a:off x="4617720" y="1078992"/>
            <a:ext cx="2029968" cy="3886200"/>
          </a:xfrm>
          <a:prstGeom prst="rect">
            <a:avLst/>
          </a:prstGeom>
          <a:solidFill>
            <a:srgbClr val="FFFFFF"/>
          </a:solidFill>
          <a:ln w="7620">
            <a:solidFill>
              <a:srgbClr val="E2EAF8"/>
            </a:solidFill>
            <a:prstDash val="solid"/>
          </a:ln>
          <a:effectLst>
            <a:outerShdw blurRad="76200" dist="25400" dir="8100000" algn="bl" rotWithShape="0">
              <a:srgbClr val="000000">
                <a:alpha val="10000"/>
              </a:srgbClr>
            </a:outerShdw>
          </a:effectLst>
        </p:spPr>
      </p:sp>
      <p:sp>
        <p:nvSpPr>
          <p:cNvPr id="14" name="Shape 12"/>
          <p:cNvSpPr/>
          <p:nvPr/>
        </p:nvSpPr>
        <p:spPr>
          <a:xfrm>
            <a:off x="4617720" y="1078992"/>
            <a:ext cx="2029968" cy="402336"/>
          </a:xfrm>
          <a:prstGeom prst="rect">
            <a:avLst/>
          </a:prstGeom>
          <a:solidFill>
            <a:srgbClr val="F59E0B"/>
          </a:solidFill>
          <a:ln w="12700">
            <a:solidFill>
              <a:srgbClr val="F59E0B"/>
            </a:solidFill>
            <a:prstDash val="solid"/>
          </a:ln>
        </p:spPr>
      </p:sp>
      <p:sp>
        <p:nvSpPr>
          <p:cNvPr id="15" name="Text 13"/>
          <p:cNvSpPr/>
          <p:nvPr/>
        </p:nvSpPr>
        <p:spPr>
          <a:xfrm>
            <a:off x="4709160" y="1097280"/>
            <a:ext cx="1847088"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Trebuchet MS" pitchFamily="34" charset="0"/>
                <a:ea typeface="Trebuchet MS" pitchFamily="34" charset="-122"/>
                <a:cs typeface="Trebuchet MS" pitchFamily="34" charset="-120"/>
              </a:rPr>
              <a:t>💻 Developer</a:t>
            </a:r>
            <a:endParaRPr lang="en-US" sz="1050" dirty="0"/>
          </a:p>
        </p:txBody>
      </p:sp>
      <p:sp>
        <p:nvSpPr>
          <p:cNvPr id="16" name="Text 14"/>
          <p:cNvSpPr/>
          <p:nvPr/>
        </p:nvSpPr>
        <p:spPr>
          <a:xfrm>
            <a:off x="4709160" y="1554480"/>
            <a:ext cx="1874520" cy="33375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Copilot prompts in every file</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JSON file-based DB</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Pure stdlib Python backend</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SPA frontend </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PDF tickets via ReportLab</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Extend via clear API routes</a:t>
            </a:r>
            <a:endParaRPr lang="en-US" sz="1050" dirty="0"/>
          </a:p>
        </p:txBody>
      </p:sp>
      <p:sp>
        <p:nvSpPr>
          <p:cNvPr id="17" name="Shape 15"/>
          <p:cNvSpPr/>
          <p:nvPr/>
        </p:nvSpPr>
        <p:spPr>
          <a:xfrm>
            <a:off x="6766560" y="1078992"/>
            <a:ext cx="2029968" cy="3886200"/>
          </a:xfrm>
          <a:prstGeom prst="rect">
            <a:avLst/>
          </a:prstGeom>
          <a:solidFill>
            <a:srgbClr val="FFFFFF"/>
          </a:solidFill>
          <a:ln w="7620">
            <a:solidFill>
              <a:srgbClr val="E2EAF8"/>
            </a:solidFill>
            <a:prstDash val="solid"/>
          </a:ln>
          <a:effectLst>
            <a:outerShdw blurRad="76200" dist="25400" dir="8100000" algn="bl" rotWithShape="0">
              <a:srgbClr val="000000">
                <a:alpha val="10000"/>
              </a:srgbClr>
            </a:outerShdw>
          </a:effectLst>
        </p:spPr>
      </p:sp>
      <p:sp>
        <p:nvSpPr>
          <p:cNvPr id="18" name="Shape 16"/>
          <p:cNvSpPr/>
          <p:nvPr/>
        </p:nvSpPr>
        <p:spPr>
          <a:xfrm>
            <a:off x="6766560" y="1078992"/>
            <a:ext cx="2029968" cy="402336"/>
          </a:xfrm>
          <a:prstGeom prst="rect">
            <a:avLst/>
          </a:prstGeom>
          <a:solidFill>
            <a:srgbClr val="EF4444"/>
          </a:solidFill>
          <a:ln w="12700">
            <a:solidFill>
              <a:srgbClr val="EF4444"/>
            </a:solidFill>
            <a:prstDash val="solid"/>
          </a:ln>
        </p:spPr>
      </p:sp>
      <p:sp>
        <p:nvSpPr>
          <p:cNvPr id="19" name="Text 17"/>
          <p:cNvSpPr/>
          <p:nvPr/>
        </p:nvSpPr>
        <p:spPr>
          <a:xfrm>
            <a:off x="6858000" y="1097280"/>
            <a:ext cx="1847088"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Trebuchet MS" pitchFamily="34" charset="0"/>
                <a:ea typeface="Trebuchet MS" pitchFamily="34" charset="-122"/>
                <a:cs typeface="Trebuchet MS" pitchFamily="34" charset="-120"/>
              </a:rPr>
              <a:t>🏫 Evaluator</a:t>
            </a:r>
            <a:endParaRPr lang="en-US" sz="1050" dirty="0"/>
          </a:p>
        </p:txBody>
      </p:sp>
      <p:sp>
        <p:nvSpPr>
          <p:cNvPr id="20" name="Text 18"/>
          <p:cNvSpPr/>
          <p:nvPr/>
        </p:nvSpPr>
        <p:spPr>
          <a:xfrm>
            <a:off x="6858000" y="1554480"/>
            <a:ext cx="1874520" cy="33375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AI-generated code demonstrated</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Full prompt history included</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Live running demo</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10-slide structured PPT</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Source code with comments</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Functional end product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43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EA5E9"/>
          </a:solidFill>
          <a:ln w="12700">
            <a:solidFill>
              <a:srgbClr val="0EA5E9"/>
            </a:solidFill>
            <a:prstDash val="solid"/>
          </a:ln>
        </p:spPr>
      </p:sp>
      <p:sp>
        <p:nvSpPr>
          <p:cNvPr id="3" name="Shape 1"/>
          <p:cNvSpPr/>
          <p:nvPr/>
        </p:nvSpPr>
        <p:spPr>
          <a:xfrm>
            <a:off x="91440" y="0"/>
            <a:ext cx="22860" cy="5143500"/>
          </a:xfrm>
          <a:prstGeom prst="rect">
            <a:avLst/>
          </a:prstGeom>
          <a:solidFill>
            <a:srgbClr val="1E40AF"/>
          </a:solidFill>
          <a:ln w="12700">
            <a:solidFill>
              <a:srgbClr val="1E40AF"/>
            </a:solidFill>
            <a:prstDash val="solid"/>
          </a:ln>
        </p:spPr>
      </p:sp>
      <p:sp>
        <p:nvSpPr>
          <p:cNvPr id="4" name="Text 2"/>
          <p:cNvSpPr/>
          <p:nvPr/>
        </p:nvSpPr>
        <p:spPr>
          <a:xfrm>
            <a:off x="365760" y="201168"/>
            <a:ext cx="8412480" cy="50292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Technologies, Tools &amp; Software</a:t>
            </a:r>
            <a:endParaRPr lang="en-US" sz="3000" dirty="0"/>
          </a:p>
        </p:txBody>
      </p:sp>
      <p:sp>
        <p:nvSpPr>
          <p:cNvPr id="5" name="Text 3"/>
          <p:cNvSpPr/>
          <p:nvPr/>
        </p:nvSpPr>
        <p:spPr>
          <a:xfrm>
            <a:off x="365760" y="749808"/>
            <a:ext cx="8412480" cy="292608"/>
          </a:xfrm>
          <a:prstGeom prst="rect">
            <a:avLst/>
          </a:prstGeom>
          <a:noFill/>
          <a:ln/>
        </p:spPr>
        <p:txBody>
          <a:bodyPr wrap="square" lIns="0" tIns="0" rIns="0" bIns="0" rtlCol="0" anchor="ctr"/>
          <a:lstStyle/>
          <a:p>
            <a:pPr marL="0" indent="0">
              <a:buNone/>
            </a:pPr>
            <a:r>
              <a:rPr lang="en-US" sz="1300" dirty="0">
                <a:solidFill>
                  <a:srgbClr val="93C5FD"/>
                </a:solidFill>
                <a:latin typeface="Calibri" pitchFamily="34" charset="0"/>
                <a:ea typeface="Calibri" pitchFamily="34" charset="-122"/>
                <a:cs typeface="Calibri" pitchFamily="34" charset="-120"/>
              </a:rPr>
              <a:t>The full tech stack powering SkyWay</a:t>
            </a:r>
            <a:endParaRPr lang="en-US" sz="1300" dirty="0"/>
          </a:p>
        </p:txBody>
      </p:sp>
      <p:sp>
        <p:nvSpPr>
          <p:cNvPr id="6" name="Shape 4"/>
          <p:cNvSpPr/>
          <p:nvPr/>
        </p:nvSpPr>
        <p:spPr>
          <a:xfrm>
            <a:off x="320040" y="1078992"/>
            <a:ext cx="2788920" cy="3767328"/>
          </a:xfrm>
          <a:prstGeom prst="rect">
            <a:avLst/>
          </a:prstGeom>
          <a:solidFill>
            <a:srgbClr val="162050"/>
          </a:solidFill>
          <a:ln w="7620">
            <a:solidFill>
              <a:srgbClr val="1E3A8A"/>
            </a:solidFill>
            <a:prstDash val="solid"/>
          </a:ln>
          <a:effectLst>
            <a:outerShdw blurRad="76200" dist="25400" dir="8100000" algn="bl" rotWithShape="0">
              <a:srgbClr val="000000">
                <a:alpha val="10000"/>
              </a:srgbClr>
            </a:outerShdw>
          </a:effectLst>
        </p:spPr>
      </p:sp>
      <p:sp>
        <p:nvSpPr>
          <p:cNvPr id="7" name="Shape 5"/>
          <p:cNvSpPr/>
          <p:nvPr/>
        </p:nvSpPr>
        <p:spPr>
          <a:xfrm>
            <a:off x="320040" y="1078992"/>
            <a:ext cx="2788920" cy="347472"/>
          </a:xfrm>
          <a:prstGeom prst="rect">
            <a:avLst/>
          </a:prstGeom>
          <a:solidFill>
            <a:srgbClr val="0EA5E9"/>
          </a:solidFill>
          <a:ln w="12700">
            <a:solidFill>
              <a:srgbClr val="0EA5E9"/>
            </a:solidFill>
            <a:prstDash val="solid"/>
          </a:ln>
        </p:spPr>
      </p:sp>
      <p:sp>
        <p:nvSpPr>
          <p:cNvPr id="8" name="Text 6"/>
          <p:cNvSpPr/>
          <p:nvPr/>
        </p:nvSpPr>
        <p:spPr>
          <a:xfrm>
            <a:off x="411480" y="1097280"/>
            <a:ext cx="2606040" cy="310896"/>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 Backend</a:t>
            </a:r>
            <a:endParaRPr lang="en-US" sz="1200" dirty="0"/>
          </a:p>
        </p:txBody>
      </p:sp>
      <p:sp>
        <p:nvSpPr>
          <p:cNvPr id="9" name="Text 7"/>
          <p:cNvSpPr/>
          <p:nvPr/>
        </p:nvSpPr>
        <p:spPr>
          <a:xfrm>
            <a:off x="429768" y="1481328"/>
            <a:ext cx="2578608"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Python 3.11+</a:t>
            </a:r>
            <a:endParaRPr lang="en-US" sz="1050" dirty="0"/>
          </a:p>
        </p:txBody>
      </p:sp>
      <p:sp>
        <p:nvSpPr>
          <p:cNvPr id="10" name="Text 8"/>
          <p:cNvSpPr/>
          <p:nvPr/>
        </p:nvSpPr>
        <p:spPr>
          <a:xfrm>
            <a:off x="429768" y="1709928"/>
            <a:ext cx="2578608"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Core language — no framework</a:t>
            </a:r>
            <a:endParaRPr lang="en-US" sz="950" dirty="0"/>
          </a:p>
        </p:txBody>
      </p:sp>
      <p:sp>
        <p:nvSpPr>
          <p:cNvPr id="11" name="Text 9"/>
          <p:cNvSpPr/>
          <p:nvPr/>
        </p:nvSpPr>
        <p:spPr>
          <a:xfrm>
            <a:off x="429768" y="2011680"/>
            <a:ext cx="2578608"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http.server</a:t>
            </a:r>
            <a:endParaRPr lang="en-US" sz="1050" dirty="0"/>
          </a:p>
        </p:txBody>
      </p:sp>
      <p:sp>
        <p:nvSpPr>
          <p:cNvPr id="12" name="Text 10"/>
          <p:cNvSpPr/>
          <p:nvPr/>
        </p:nvSpPr>
        <p:spPr>
          <a:xfrm>
            <a:off x="429768" y="2240280"/>
            <a:ext cx="2578608"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Built-in HTTP server (stdlib)</a:t>
            </a:r>
            <a:endParaRPr lang="en-US" sz="950" dirty="0"/>
          </a:p>
        </p:txBody>
      </p:sp>
      <p:sp>
        <p:nvSpPr>
          <p:cNvPr id="13" name="Text 11"/>
          <p:cNvSpPr/>
          <p:nvPr/>
        </p:nvSpPr>
        <p:spPr>
          <a:xfrm>
            <a:off x="429768" y="2542032"/>
            <a:ext cx="2578608"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hashlib / hmac</a:t>
            </a:r>
            <a:endParaRPr lang="en-US" sz="1050" dirty="0"/>
          </a:p>
        </p:txBody>
      </p:sp>
      <p:sp>
        <p:nvSpPr>
          <p:cNvPr id="14" name="Text 12"/>
          <p:cNvSpPr/>
          <p:nvPr/>
        </p:nvSpPr>
        <p:spPr>
          <a:xfrm>
            <a:off x="429768" y="2770632"/>
            <a:ext cx="2578608"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SHA-256 auth + sessions</a:t>
            </a:r>
            <a:endParaRPr lang="en-US" sz="950" dirty="0"/>
          </a:p>
        </p:txBody>
      </p:sp>
      <p:sp>
        <p:nvSpPr>
          <p:cNvPr id="15" name="Text 13"/>
          <p:cNvSpPr/>
          <p:nvPr/>
        </p:nvSpPr>
        <p:spPr>
          <a:xfrm>
            <a:off x="429768" y="3072384"/>
            <a:ext cx="2578608"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ReportLab 4.x</a:t>
            </a:r>
            <a:endParaRPr lang="en-US" sz="1050" dirty="0"/>
          </a:p>
        </p:txBody>
      </p:sp>
      <p:sp>
        <p:nvSpPr>
          <p:cNvPr id="16" name="Text 14"/>
          <p:cNvSpPr/>
          <p:nvPr/>
        </p:nvSpPr>
        <p:spPr>
          <a:xfrm>
            <a:off x="429768" y="3300984"/>
            <a:ext cx="2578608"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PDF boarding-pass generation</a:t>
            </a:r>
            <a:endParaRPr lang="en-US" sz="950" dirty="0"/>
          </a:p>
        </p:txBody>
      </p:sp>
      <p:sp>
        <p:nvSpPr>
          <p:cNvPr id="17" name="Text 15"/>
          <p:cNvSpPr/>
          <p:nvPr/>
        </p:nvSpPr>
        <p:spPr>
          <a:xfrm>
            <a:off x="429768" y="3602736"/>
            <a:ext cx="2578608"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JSON flat-file</a:t>
            </a:r>
            <a:endParaRPr lang="en-US" sz="1050" dirty="0"/>
          </a:p>
        </p:txBody>
      </p:sp>
      <p:sp>
        <p:nvSpPr>
          <p:cNvPr id="18" name="Text 16"/>
          <p:cNvSpPr/>
          <p:nvPr/>
        </p:nvSpPr>
        <p:spPr>
          <a:xfrm>
            <a:off x="429768" y="3831336"/>
            <a:ext cx="2578608"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Zero-dependency database</a:t>
            </a:r>
            <a:endParaRPr lang="en-US" sz="950" dirty="0"/>
          </a:p>
        </p:txBody>
      </p:sp>
      <p:sp>
        <p:nvSpPr>
          <p:cNvPr id="19" name="Text 17"/>
          <p:cNvSpPr/>
          <p:nvPr/>
        </p:nvSpPr>
        <p:spPr>
          <a:xfrm>
            <a:off x="429768" y="4133088"/>
            <a:ext cx="2578608"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urllib.request</a:t>
            </a:r>
            <a:endParaRPr lang="en-US" sz="1050" dirty="0"/>
          </a:p>
        </p:txBody>
      </p:sp>
      <p:sp>
        <p:nvSpPr>
          <p:cNvPr id="20" name="Text 18"/>
          <p:cNvSpPr/>
          <p:nvPr/>
        </p:nvSpPr>
        <p:spPr>
          <a:xfrm>
            <a:off x="429768" y="4361688"/>
            <a:ext cx="2578608"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Google OAuth token exchange</a:t>
            </a:r>
            <a:endParaRPr lang="en-US" sz="950" dirty="0"/>
          </a:p>
        </p:txBody>
      </p:sp>
      <p:sp>
        <p:nvSpPr>
          <p:cNvPr id="21" name="Shape 19"/>
          <p:cNvSpPr/>
          <p:nvPr/>
        </p:nvSpPr>
        <p:spPr>
          <a:xfrm>
            <a:off x="3246120" y="1078992"/>
            <a:ext cx="2788920" cy="3767328"/>
          </a:xfrm>
          <a:prstGeom prst="rect">
            <a:avLst/>
          </a:prstGeom>
          <a:solidFill>
            <a:srgbClr val="162050"/>
          </a:solidFill>
          <a:ln w="7620">
            <a:solidFill>
              <a:srgbClr val="1E3A8A"/>
            </a:solidFill>
            <a:prstDash val="solid"/>
          </a:ln>
          <a:effectLst>
            <a:outerShdw blurRad="76200" dist="25400" dir="8100000" algn="bl" rotWithShape="0">
              <a:srgbClr val="000000">
                <a:alpha val="10000"/>
              </a:srgbClr>
            </a:outerShdw>
          </a:effectLst>
        </p:spPr>
      </p:sp>
      <p:sp>
        <p:nvSpPr>
          <p:cNvPr id="22" name="Shape 20"/>
          <p:cNvSpPr/>
          <p:nvPr/>
        </p:nvSpPr>
        <p:spPr>
          <a:xfrm>
            <a:off x="3246120" y="1078992"/>
            <a:ext cx="2788920" cy="347472"/>
          </a:xfrm>
          <a:prstGeom prst="rect">
            <a:avLst/>
          </a:prstGeom>
          <a:solidFill>
            <a:srgbClr val="0EA5E9"/>
          </a:solidFill>
          <a:ln w="12700">
            <a:solidFill>
              <a:srgbClr val="0EA5E9"/>
            </a:solidFill>
            <a:prstDash val="solid"/>
          </a:ln>
        </p:spPr>
      </p:sp>
      <p:sp>
        <p:nvSpPr>
          <p:cNvPr id="23" name="Text 21"/>
          <p:cNvSpPr/>
          <p:nvPr/>
        </p:nvSpPr>
        <p:spPr>
          <a:xfrm>
            <a:off x="3337560" y="1097280"/>
            <a:ext cx="2606040" cy="310896"/>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 Frontend</a:t>
            </a:r>
            <a:endParaRPr lang="en-US" sz="1200" dirty="0"/>
          </a:p>
        </p:txBody>
      </p:sp>
      <p:sp>
        <p:nvSpPr>
          <p:cNvPr id="24" name="Text 22"/>
          <p:cNvSpPr/>
          <p:nvPr/>
        </p:nvSpPr>
        <p:spPr>
          <a:xfrm>
            <a:off x="3355848" y="1481328"/>
            <a:ext cx="2578608"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Vanilla JS (ES6+)</a:t>
            </a:r>
            <a:endParaRPr lang="en-US" sz="1050" dirty="0"/>
          </a:p>
        </p:txBody>
      </p:sp>
      <p:sp>
        <p:nvSpPr>
          <p:cNvPr id="25" name="Text 23"/>
          <p:cNvSpPr/>
          <p:nvPr/>
        </p:nvSpPr>
        <p:spPr>
          <a:xfrm>
            <a:off x="3355848" y="1709928"/>
            <a:ext cx="2578608"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SPA — no React / Vue / Angular</a:t>
            </a:r>
            <a:endParaRPr lang="en-US" sz="950" dirty="0"/>
          </a:p>
        </p:txBody>
      </p:sp>
      <p:sp>
        <p:nvSpPr>
          <p:cNvPr id="26" name="Text 24"/>
          <p:cNvSpPr/>
          <p:nvPr/>
        </p:nvSpPr>
        <p:spPr>
          <a:xfrm>
            <a:off x="3355848" y="2011680"/>
            <a:ext cx="2578608"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CSS Custom Props</a:t>
            </a:r>
            <a:endParaRPr lang="en-US" sz="1050" dirty="0"/>
          </a:p>
        </p:txBody>
      </p:sp>
      <p:sp>
        <p:nvSpPr>
          <p:cNvPr id="27" name="Text 25"/>
          <p:cNvSpPr/>
          <p:nvPr/>
        </p:nvSpPr>
        <p:spPr>
          <a:xfrm>
            <a:off x="3355848" y="2240280"/>
            <a:ext cx="2578608"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Full design-token theme system</a:t>
            </a:r>
            <a:endParaRPr lang="en-US" sz="950" dirty="0"/>
          </a:p>
        </p:txBody>
      </p:sp>
      <p:sp>
        <p:nvSpPr>
          <p:cNvPr id="28" name="Text 26"/>
          <p:cNvSpPr/>
          <p:nvPr/>
        </p:nvSpPr>
        <p:spPr>
          <a:xfrm>
            <a:off x="3355848" y="2542032"/>
            <a:ext cx="2578608"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Google Fonts</a:t>
            </a:r>
            <a:endParaRPr lang="en-US" sz="1050" dirty="0"/>
          </a:p>
        </p:txBody>
      </p:sp>
      <p:sp>
        <p:nvSpPr>
          <p:cNvPr id="29" name="Text 27"/>
          <p:cNvSpPr/>
          <p:nvPr/>
        </p:nvSpPr>
        <p:spPr>
          <a:xfrm>
            <a:off x="3355848" y="2770632"/>
            <a:ext cx="2578608"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Sora + DM Sans + DM Mono</a:t>
            </a:r>
            <a:endParaRPr lang="en-US" sz="950" dirty="0"/>
          </a:p>
        </p:txBody>
      </p:sp>
      <p:sp>
        <p:nvSpPr>
          <p:cNvPr id="30" name="Text 28"/>
          <p:cNvSpPr/>
          <p:nvPr/>
        </p:nvSpPr>
        <p:spPr>
          <a:xfrm>
            <a:off x="3355848" y="3072384"/>
            <a:ext cx="2578608"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HTML5 Modals</a:t>
            </a:r>
            <a:endParaRPr lang="en-US" sz="1050" dirty="0"/>
          </a:p>
        </p:txBody>
      </p:sp>
      <p:sp>
        <p:nvSpPr>
          <p:cNvPr id="31" name="Text 29"/>
          <p:cNvSpPr/>
          <p:nvPr/>
        </p:nvSpPr>
        <p:spPr>
          <a:xfrm>
            <a:off x="3355848" y="3300984"/>
            <a:ext cx="2578608"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Cancel / Reschedule / Payment</a:t>
            </a:r>
            <a:endParaRPr lang="en-US" sz="950" dirty="0"/>
          </a:p>
        </p:txBody>
      </p:sp>
      <p:sp>
        <p:nvSpPr>
          <p:cNvPr id="32" name="Text 30"/>
          <p:cNvSpPr/>
          <p:nvPr/>
        </p:nvSpPr>
        <p:spPr>
          <a:xfrm>
            <a:off x="3355848" y="3602736"/>
            <a:ext cx="2578608"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Fetch API</a:t>
            </a:r>
            <a:endParaRPr lang="en-US" sz="1050" dirty="0"/>
          </a:p>
        </p:txBody>
      </p:sp>
      <p:sp>
        <p:nvSpPr>
          <p:cNvPr id="33" name="Text 31"/>
          <p:cNvSpPr/>
          <p:nvPr/>
        </p:nvSpPr>
        <p:spPr>
          <a:xfrm>
            <a:off x="3355848" y="3831336"/>
            <a:ext cx="2578608"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All async API communication</a:t>
            </a:r>
            <a:endParaRPr lang="en-US" sz="950" dirty="0"/>
          </a:p>
        </p:txBody>
      </p:sp>
      <p:sp>
        <p:nvSpPr>
          <p:cNvPr id="34" name="Text 32"/>
          <p:cNvSpPr/>
          <p:nvPr/>
        </p:nvSpPr>
        <p:spPr>
          <a:xfrm>
            <a:off x="3355848" y="4133088"/>
            <a:ext cx="2578608"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LocalStorage</a:t>
            </a:r>
            <a:endParaRPr lang="en-US" sz="1050" dirty="0"/>
          </a:p>
        </p:txBody>
      </p:sp>
      <p:sp>
        <p:nvSpPr>
          <p:cNvPr id="35" name="Text 33"/>
          <p:cNvSpPr/>
          <p:nvPr/>
        </p:nvSpPr>
        <p:spPr>
          <a:xfrm>
            <a:off x="3355848" y="4361688"/>
            <a:ext cx="2578608"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Client-side state (seat / meal)</a:t>
            </a:r>
            <a:endParaRPr lang="en-US" sz="950" dirty="0"/>
          </a:p>
        </p:txBody>
      </p:sp>
      <p:sp>
        <p:nvSpPr>
          <p:cNvPr id="36" name="Shape 34"/>
          <p:cNvSpPr/>
          <p:nvPr/>
        </p:nvSpPr>
        <p:spPr>
          <a:xfrm>
            <a:off x="6172200" y="1078992"/>
            <a:ext cx="2788920" cy="3767328"/>
          </a:xfrm>
          <a:prstGeom prst="rect">
            <a:avLst/>
          </a:prstGeom>
          <a:solidFill>
            <a:srgbClr val="162050"/>
          </a:solidFill>
          <a:ln w="7620">
            <a:solidFill>
              <a:srgbClr val="1E3A8A"/>
            </a:solidFill>
            <a:prstDash val="solid"/>
          </a:ln>
          <a:effectLst>
            <a:outerShdw blurRad="76200" dist="25400" dir="8100000" algn="bl" rotWithShape="0">
              <a:srgbClr val="000000">
                <a:alpha val="10000"/>
              </a:srgbClr>
            </a:outerShdw>
          </a:effectLst>
        </p:spPr>
      </p:sp>
      <p:sp>
        <p:nvSpPr>
          <p:cNvPr id="37" name="Shape 35"/>
          <p:cNvSpPr/>
          <p:nvPr/>
        </p:nvSpPr>
        <p:spPr>
          <a:xfrm>
            <a:off x="6172200" y="1078992"/>
            <a:ext cx="2788920" cy="347472"/>
          </a:xfrm>
          <a:prstGeom prst="rect">
            <a:avLst/>
          </a:prstGeom>
          <a:solidFill>
            <a:srgbClr val="0EA5E9"/>
          </a:solidFill>
          <a:ln w="12700">
            <a:solidFill>
              <a:srgbClr val="0EA5E9"/>
            </a:solidFill>
            <a:prstDash val="solid"/>
          </a:ln>
        </p:spPr>
      </p:sp>
      <p:sp>
        <p:nvSpPr>
          <p:cNvPr id="38" name="Text 36"/>
          <p:cNvSpPr/>
          <p:nvPr/>
        </p:nvSpPr>
        <p:spPr>
          <a:xfrm>
            <a:off x="6263640" y="1097280"/>
            <a:ext cx="2606040" cy="310896"/>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 AI &amp; Dev Tools</a:t>
            </a:r>
            <a:endParaRPr lang="en-US" sz="1200" dirty="0"/>
          </a:p>
        </p:txBody>
      </p:sp>
      <p:sp>
        <p:nvSpPr>
          <p:cNvPr id="39" name="Text 37"/>
          <p:cNvSpPr/>
          <p:nvPr/>
        </p:nvSpPr>
        <p:spPr>
          <a:xfrm>
            <a:off x="6281928" y="1481328"/>
            <a:ext cx="2578608"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GitHub Copilot</a:t>
            </a:r>
            <a:endParaRPr lang="en-US" sz="1050" dirty="0"/>
          </a:p>
        </p:txBody>
      </p:sp>
      <p:sp>
        <p:nvSpPr>
          <p:cNvPr id="40" name="Text 38"/>
          <p:cNvSpPr/>
          <p:nvPr/>
        </p:nvSpPr>
        <p:spPr>
          <a:xfrm>
            <a:off x="6281928" y="1709928"/>
            <a:ext cx="2578608"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Primary code generation</a:t>
            </a:r>
            <a:endParaRPr lang="en-US" sz="950" dirty="0"/>
          </a:p>
        </p:txBody>
      </p:sp>
      <p:sp>
        <p:nvSpPr>
          <p:cNvPr id="41" name="Text 39"/>
          <p:cNvSpPr/>
          <p:nvPr/>
        </p:nvSpPr>
        <p:spPr>
          <a:xfrm>
            <a:off x="6281928" y="2011680"/>
            <a:ext cx="2578608" cy="219456"/>
          </a:xfrm>
          <a:prstGeom prst="rect">
            <a:avLst/>
          </a:prstGeom>
          <a:noFill/>
          <a:ln/>
        </p:spPr>
        <p:txBody>
          <a:bodyPr wrap="square" lIns="0" tIns="0" rIns="0" bIns="0" rtlCol="0" anchor="ctr"/>
          <a:lstStyle/>
          <a:p>
            <a:pPr marL="0" indent="0">
              <a:buNone/>
            </a:pPr>
            <a:endParaRPr lang="en-US" sz="1050" dirty="0"/>
          </a:p>
        </p:txBody>
      </p:sp>
      <p:sp>
        <p:nvSpPr>
          <p:cNvPr id="42" name="Text 40"/>
          <p:cNvSpPr/>
          <p:nvPr/>
        </p:nvSpPr>
        <p:spPr>
          <a:xfrm>
            <a:off x="6281928" y="2240280"/>
            <a:ext cx="2578608" cy="219456"/>
          </a:xfrm>
          <a:prstGeom prst="rect">
            <a:avLst/>
          </a:prstGeom>
          <a:noFill/>
          <a:ln/>
        </p:spPr>
        <p:txBody>
          <a:bodyPr wrap="square" lIns="0" tIns="0" rIns="0" bIns="0" rtlCol="0" anchor="ctr"/>
          <a:lstStyle/>
          <a:p>
            <a:pPr marL="0" indent="0">
              <a:buNone/>
            </a:pPr>
            <a:endParaRPr lang="en-US" sz="950" dirty="0"/>
          </a:p>
        </p:txBody>
      </p:sp>
      <p:sp>
        <p:nvSpPr>
          <p:cNvPr id="43" name="Text 41"/>
          <p:cNvSpPr/>
          <p:nvPr/>
        </p:nvSpPr>
        <p:spPr>
          <a:xfrm>
            <a:off x="6291072" y="1980873"/>
            <a:ext cx="2578608"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VS Code</a:t>
            </a:r>
            <a:endParaRPr lang="en-US" sz="1050" dirty="0"/>
          </a:p>
        </p:txBody>
      </p:sp>
      <p:sp>
        <p:nvSpPr>
          <p:cNvPr id="44" name="Text 42"/>
          <p:cNvSpPr/>
          <p:nvPr/>
        </p:nvSpPr>
        <p:spPr>
          <a:xfrm>
            <a:off x="6291072" y="2163644"/>
            <a:ext cx="2578608"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IDE with Copilot extension</a:t>
            </a:r>
            <a:endParaRPr lang="en-US" sz="950" dirty="0"/>
          </a:p>
        </p:txBody>
      </p:sp>
      <p:sp>
        <p:nvSpPr>
          <p:cNvPr id="45" name="Text 43"/>
          <p:cNvSpPr/>
          <p:nvPr/>
        </p:nvSpPr>
        <p:spPr>
          <a:xfrm>
            <a:off x="6281928" y="3072384"/>
            <a:ext cx="2578608" cy="219456"/>
          </a:xfrm>
          <a:prstGeom prst="rect">
            <a:avLst/>
          </a:prstGeom>
          <a:noFill/>
          <a:ln/>
        </p:spPr>
        <p:txBody>
          <a:bodyPr wrap="square" lIns="0" tIns="0" rIns="0" bIns="0" rtlCol="0" anchor="ctr"/>
          <a:lstStyle/>
          <a:p>
            <a:pPr marL="0" indent="0">
              <a:buNone/>
            </a:pPr>
            <a:endParaRPr lang="en-US" sz="1050" dirty="0"/>
          </a:p>
        </p:txBody>
      </p:sp>
      <p:sp>
        <p:nvSpPr>
          <p:cNvPr id="46" name="Text 44"/>
          <p:cNvSpPr/>
          <p:nvPr/>
        </p:nvSpPr>
        <p:spPr>
          <a:xfrm>
            <a:off x="6281928" y="3300984"/>
            <a:ext cx="2578608" cy="219456"/>
          </a:xfrm>
          <a:prstGeom prst="rect">
            <a:avLst/>
          </a:prstGeom>
          <a:noFill/>
          <a:ln/>
        </p:spPr>
        <p:txBody>
          <a:bodyPr wrap="square" lIns="0" tIns="0" rIns="0" bIns="0" rtlCol="0" anchor="ctr"/>
          <a:lstStyle/>
          <a:p>
            <a:pPr marL="0" indent="0">
              <a:buNone/>
            </a:pPr>
            <a:endParaRPr lang="en-US" sz="950" dirty="0"/>
          </a:p>
        </p:txBody>
      </p:sp>
      <p:sp>
        <p:nvSpPr>
          <p:cNvPr id="47" name="Text 45"/>
          <p:cNvSpPr/>
          <p:nvPr/>
        </p:nvSpPr>
        <p:spPr>
          <a:xfrm>
            <a:off x="6281928" y="3602736"/>
            <a:ext cx="2578608" cy="219456"/>
          </a:xfrm>
          <a:prstGeom prst="rect">
            <a:avLst/>
          </a:prstGeom>
          <a:noFill/>
          <a:ln/>
        </p:spPr>
        <p:txBody>
          <a:bodyPr wrap="square" lIns="0" tIns="0" rIns="0" bIns="0" rtlCol="0" anchor="ctr"/>
          <a:lstStyle/>
          <a:p>
            <a:pPr marL="0" indent="0">
              <a:buNone/>
            </a:pPr>
            <a:endParaRPr lang="en-US" sz="1050" dirty="0"/>
          </a:p>
        </p:txBody>
      </p:sp>
      <p:sp>
        <p:nvSpPr>
          <p:cNvPr id="48" name="Text 46"/>
          <p:cNvSpPr/>
          <p:nvPr/>
        </p:nvSpPr>
        <p:spPr>
          <a:xfrm>
            <a:off x="6281928" y="3831336"/>
            <a:ext cx="2578608" cy="219456"/>
          </a:xfrm>
          <a:prstGeom prst="rect">
            <a:avLst/>
          </a:prstGeom>
          <a:noFill/>
          <a:ln/>
        </p:spPr>
        <p:txBody>
          <a:bodyPr wrap="square" lIns="0" tIns="0" rIns="0" bIns="0" rtlCol="0" anchor="ctr"/>
          <a:lstStyle/>
          <a:p>
            <a:pPr marL="0" indent="0">
              <a:buNone/>
            </a:pPr>
            <a:endParaRPr lang="en-US" sz="950" dirty="0"/>
          </a:p>
        </p:txBody>
      </p:sp>
      <p:sp>
        <p:nvSpPr>
          <p:cNvPr id="49" name="Text 47"/>
          <p:cNvSpPr/>
          <p:nvPr/>
        </p:nvSpPr>
        <p:spPr>
          <a:xfrm>
            <a:off x="6291072" y="2413907"/>
            <a:ext cx="2578608"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Google OAuth 2.0</a:t>
            </a:r>
            <a:endParaRPr lang="en-US" sz="1050" dirty="0"/>
          </a:p>
        </p:txBody>
      </p:sp>
      <p:sp>
        <p:nvSpPr>
          <p:cNvPr id="50" name="Text 48"/>
          <p:cNvSpPr/>
          <p:nvPr/>
        </p:nvSpPr>
        <p:spPr>
          <a:xfrm>
            <a:off x="6281928" y="2626070"/>
            <a:ext cx="2578608"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Social sign-in integration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Text 1"/>
          <p:cNvSpPr/>
          <p:nvPr/>
        </p:nvSpPr>
        <p:spPr>
          <a:xfrm>
            <a:off x="365760" y="201168"/>
            <a:ext cx="8412480" cy="192024"/>
          </a:xfrm>
          <a:prstGeom prst="rect">
            <a:avLst/>
          </a:prstGeom>
          <a:noFill/>
          <a:ln/>
        </p:spPr>
        <p:txBody>
          <a:bodyPr wrap="square" lIns="0" tIns="0" rIns="0" bIns="0" rtlCol="0" anchor="ctr"/>
          <a:lstStyle/>
          <a:p>
            <a:pPr marL="0" indent="0">
              <a:buNone/>
            </a:pPr>
            <a:r>
              <a:rPr lang="en-US" sz="3000" b="1" dirty="0">
                <a:solidFill>
                  <a:srgbClr val="0B1437"/>
                </a:solidFill>
                <a:latin typeface="Trebuchet MS" pitchFamily="34" charset="0"/>
                <a:ea typeface="Trebuchet MS" pitchFamily="34" charset="-122"/>
                <a:cs typeface="Trebuchet MS" pitchFamily="34" charset="-120"/>
              </a:rPr>
              <a:t>GitHub Copilot Prompts</a:t>
            </a:r>
            <a:endParaRPr lang="en-US" sz="3000" dirty="0"/>
          </a:p>
        </p:txBody>
      </p:sp>
      <p:sp>
        <p:nvSpPr>
          <p:cNvPr id="4" name="Text 2"/>
          <p:cNvSpPr/>
          <p:nvPr/>
        </p:nvSpPr>
        <p:spPr>
          <a:xfrm>
            <a:off x="374904" y="435574"/>
            <a:ext cx="8412480" cy="256032"/>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Prompts embedded in app.py </a:t>
            </a:r>
            <a:endParaRPr lang="en-US" sz="1300" dirty="0"/>
          </a:p>
        </p:txBody>
      </p:sp>
      <p:sp>
        <p:nvSpPr>
          <p:cNvPr id="5" name="Shape 3"/>
          <p:cNvSpPr/>
          <p:nvPr/>
        </p:nvSpPr>
        <p:spPr>
          <a:xfrm>
            <a:off x="320040" y="691606"/>
            <a:ext cx="8503920" cy="4388394"/>
          </a:xfrm>
          <a:prstGeom prst="rect">
            <a:avLst/>
          </a:prstGeom>
          <a:solidFill>
            <a:srgbClr val="FFFFFF"/>
          </a:solidFill>
          <a:ln w="7620">
            <a:solidFill>
              <a:srgbClr val="E2EAF8"/>
            </a:solidFill>
            <a:prstDash val="solid"/>
          </a:ln>
          <a:effectLst>
            <a:outerShdw blurRad="76200" dist="25400" dir="8100000" algn="bl" rotWithShape="0">
              <a:srgbClr val="000000">
                <a:alpha val="10000"/>
              </a:srgbClr>
            </a:outerShdw>
          </a:effectLst>
        </p:spPr>
      </p:sp>
      <p:sp>
        <p:nvSpPr>
          <p:cNvPr id="6" name="Shape 4"/>
          <p:cNvSpPr/>
          <p:nvPr/>
        </p:nvSpPr>
        <p:spPr>
          <a:xfrm>
            <a:off x="320040" y="873252"/>
            <a:ext cx="54864" cy="1207008"/>
          </a:xfrm>
          <a:prstGeom prst="rect">
            <a:avLst/>
          </a:prstGeom>
          <a:solidFill>
            <a:srgbClr val="0EA5E9"/>
          </a:solidFill>
          <a:ln w="12700">
            <a:solidFill>
              <a:srgbClr val="0EA5E9"/>
            </a:solidFill>
            <a:prstDash val="solid"/>
          </a:ln>
        </p:spPr>
      </p:sp>
      <p:sp>
        <p:nvSpPr>
          <p:cNvPr id="7" name="Shape 5"/>
          <p:cNvSpPr/>
          <p:nvPr/>
        </p:nvSpPr>
        <p:spPr>
          <a:xfrm>
            <a:off x="320040" y="685800"/>
            <a:ext cx="1005840" cy="274320"/>
          </a:xfrm>
          <a:prstGeom prst="rect">
            <a:avLst/>
          </a:prstGeom>
          <a:solidFill>
            <a:srgbClr val="EFF6FF"/>
          </a:solidFill>
          <a:ln w="3810">
            <a:solidFill>
              <a:srgbClr val="E2EAF8"/>
            </a:solidFill>
            <a:prstDash val="solid"/>
          </a:ln>
        </p:spPr>
      </p:sp>
      <p:sp>
        <p:nvSpPr>
          <p:cNvPr id="8" name="Text 6"/>
          <p:cNvSpPr/>
          <p:nvPr/>
        </p:nvSpPr>
        <p:spPr>
          <a:xfrm>
            <a:off x="434340" y="702419"/>
            <a:ext cx="896112" cy="201168"/>
          </a:xfrm>
          <a:prstGeom prst="rect">
            <a:avLst/>
          </a:prstGeom>
          <a:noFill/>
          <a:ln/>
        </p:spPr>
        <p:txBody>
          <a:bodyPr wrap="square" lIns="0" tIns="0" rIns="0" bIns="0" rtlCol="0" anchor="ctr"/>
          <a:lstStyle/>
          <a:p>
            <a:pPr marL="0" indent="0">
              <a:buNone/>
            </a:pPr>
            <a:r>
              <a:rPr lang="en-US" sz="900" b="1" dirty="0">
                <a:solidFill>
                  <a:srgbClr val="0369A1"/>
                </a:solidFill>
                <a:latin typeface="Consolas" pitchFamily="34" charset="0"/>
                <a:ea typeface="Consolas" pitchFamily="34" charset="-122"/>
                <a:cs typeface="Consolas" pitchFamily="34" charset="-120"/>
              </a:rPr>
              <a:t>app.py</a:t>
            </a:r>
            <a:endParaRPr lang="en-US" sz="900" dirty="0"/>
          </a:p>
        </p:txBody>
      </p:sp>
      <p:sp>
        <p:nvSpPr>
          <p:cNvPr id="9" name="Text 7"/>
          <p:cNvSpPr/>
          <p:nvPr/>
        </p:nvSpPr>
        <p:spPr>
          <a:xfrm>
            <a:off x="1389888" y="702419"/>
            <a:ext cx="7434072" cy="4239913"/>
          </a:xfrm>
          <a:prstGeom prst="rect">
            <a:avLst/>
          </a:prstGeom>
          <a:noFill/>
          <a:ln/>
        </p:spPr>
        <p:txBody>
          <a:bodyPr wrap="square" lIns="0" tIns="0" rIns="0" bIns="0" rtlCol="0" anchor="t"/>
          <a:lstStyle/>
          <a:p>
            <a:r>
              <a:rPr lang="en-US" sz="800" dirty="0"/>
              <a:t>#create a app.py for flight ticket booking system with below features:</a:t>
            </a:r>
          </a:p>
          <a:p>
            <a:r>
              <a:rPr lang="en-US" sz="800" dirty="0"/>
              <a:t># - Search flights between airports on specific dates and round trips with proper pricing with different classes (economy, business, first). take some static data for airports, airlines, route times, meal menus and special services. </a:t>
            </a:r>
          </a:p>
          <a:p>
            <a:r>
              <a:rPr lang="en-US" sz="800" dirty="0"/>
              <a:t># - View flight details, seat map, meal options, and special services </a:t>
            </a:r>
          </a:p>
          <a:p>
            <a:r>
              <a:rPr lang="en-US" sz="800" dirty="0"/>
              <a:t># - Book flights with passenger details, seat selection, meal preferences, and additional services of extra baggage, </a:t>
            </a:r>
            <a:r>
              <a:rPr lang="en-US" sz="800" dirty="0" err="1"/>
              <a:t>wheeelchair</a:t>
            </a:r>
            <a:r>
              <a:rPr lang="en-US" sz="800" dirty="0"/>
              <a:t> requirement ,veg </a:t>
            </a:r>
            <a:r>
              <a:rPr lang="en-US" sz="800" dirty="0" err="1"/>
              <a:t>meal,infant</a:t>
            </a:r>
            <a:r>
              <a:rPr lang="en-US" sz="800" dirty="0"/>
              <a:t> in lap, priority boarding, lounge access </a:t>
            </a:r>
          </a:p>
          <a:p>
            <a:r>
              <a:rPr lang="en-US" sz="800" dirty="0"/>
              <a:t># - Manage bookings: view, cancel (with refund rules), reschedule (with fee rules), and check-in (with time restrictions) and mock payment with card or </a:t>
            </a:r>
            <a:r>
              <a:rPr lang="en-US" sz="800" dirty="0" err="1"/>
              <a:t>upi</a:t>
            </a:r>
            <a:endParaRPr lang="en-US" sz="800" dirty="0"/>
          </a:p>
          <a:p>
            <a:r>
              <a:rPr lang="en-US" sz="800" dirty="0"/>
              <a:t># - Admin panel: view all bookings, manage flight status updates, send notifications to users, and view revenue reports.</a:t>
            </a:r>
          </a:p>
          <a:p>
            <a:r>
              <a:rPr lang="en-US" sz="800" dirty="0"/>
              <a:t>-------------------------</a:t>
            </a:r>
          </a:p>
          <a:p>
            <a:r>
              <a:rPr lang="en-US" sz="800" dirty="0"/>
              <a:t># implement booking flow with passenger details, seat selection, meal preferences, and additional services of extra baggage, wheelchair requirement, veg meal, infant in lap, priority boarding, lounge access etc. also implement manage bookings features like view, cancel (with refund rules), reschedule (with fee rules), and check-in (with time restrictions). and also for the admin panel, implement features to view all bookings, manage flight status updates, send notifications to users, and view revenue reports. ensure all business rules are enforced and edge cases handled properly.</a:t>
            </a:r>
          </a:p>
          <a:p>
            <a:r>
              <a:rPr lang="en-US" sz="800" dirty="0"/>
              <a:t>--------------------------</a:t>
            </a:r>
          </a:p>
          <a:p>
            <a:r>
              <a:rPr lang="en-US" sz="800" dirty="0"/>
              <a:t># Generate mock flight data based on origin, destination, and date with realistic departure times, durations, prices for different classes, seat availability, and other details while ensuring consistency for the same inputs and incorporating any admin-set status or delays.</a:t>
            </a:r>
          </a:p>
          <a:p>
            <a:r>
              <a:rPr lang="en-US" sz="800" dirty="0"/>
              <a:t># Generate a seat map for a given flight and cabin class with realistic occupancy rates, exit rows, window/aisle seats, and price additions while ensuring consistency for the same flight and cabin inputs.</a:t>
            </a:r>
          </a:p>
          <a:p>
            <a:r>
              <a:rPr lang="en-US" sz="800" dirty="0"/>
              <a:t>--------------------------</a:t>
            </a:r>
          </a:p>
          <a:p>
            <a:r>
              <a:rPr lang="en-US" sz="800" dirty="0"/>
              <a:t># Implement business rules for cancellation, rescheduling, and check-in based on booking status, time to departure, fare conditions, and other factors while providing appropriate messages and refund/fee percentages.</a:t>
            </a:r>
          </a:p>
          <a:p>
            <a:r>
              <a:rPr lang="en-US" sz="800" dirty="0"/>
              <a:t># Implement rules for rescheduling based on booking status, time to departure, fare conditions, and other factors while providing appropriate messages and fee percentages.</a:t>
            </a:r>
          </a:p>
          <a:p>
            <a:r>
              <a:rPr lang="en-US" sz="800" dirty="0"/>
              <a:t># Implement business rules for check-in based on booking status, time to departure, and other factors while providing appropriate messages about check-in availability and restrictions.</a:t>
            </a:r>
          </a:p>
          <a:p>
            <a:r>
              <a:rPr lang="en-US" sz="800" dirty="0"/>
              <a:t>--------------------------</a:t>
            </a:r>
          </a:p>
          <a:p>
            <a:r>
              <a:rPr lang="en-US" sz="800" dirty="0"/>
              <a:t># Implement user authentication with OTP login, secure password handling, session management with expiration, and input validation for registration and login while providing appropriate feedback messages for success and failure cases.</a:t>
            </a:r>
          </a:p>
          <a:p>
            <a:r>
              <a:rPr lang="en-US" sz="800" dirty="0"/>
              <a:t>--------------------------</a:t>
            </a:r>
          </a:p>
          <a:p>
            <a:r>
              <a:rPr lang="en-US" sz="800" dirty="0"/>
              <a:t>#add a download ticket and boarding pass button that generates a PDF with the booking details and a QR code for check-in.</a:t>
            </a:r>
          </a:p>
          <a:p>
            <a:r>
              <a:rPr lang="en-US" sz="800" dirty="0"/>
              <a:t># include proper </a:t>
            </a:r>
            <a:r>
              <a:rPr lang="en-US" sz="800" dirty="0" err="1"/>
              <a:t>api</a:t>
            </a:r>
            <a:r>
              <a:rPr lang="en-US" sz="800" dirty="0"/>
              <a:t> </a:t>
            </a:r>
            <a:r>
              <a:rPr lang="en-US" sz="800" dirty="0" err="1"/>
              <a:t>calls:get,post,put,delete</a:t>
            </a:r>
            <a:r>
              <a:rPr lang="en-US" sz="800" dirty="0"/>
              <a:t> for admin </a:t>
            </a:r>
            <a:r>
              <a:rPr lang="en-US" sz="800" dirty="0" err="1"/>
              <a:t>panel,revenue</a:t>
            </a:r>
            <a:r>
              <a:rPr lang="en-US" sz="800" dirty="0"/>
              <a:t> </a:t>
            </a:r>
            <a:r>
              <a:rPr lang="en-US" sz="800" dirty="0" err="1"/>
              <a:t>collection,delays,searching</a:t>
            </a:r>
            <a:r>
              <a:rPr lang="en-US" sz="800" dirty="0"/>
              <a:t> flights, viewing details, booking, managing bookings, and generating tickets. ensure all business rules are enforced and edge cases handled..</a:t>
            </a:r>
          </a:p>
          <a:p>
            <a:r>
              <a:rPr lang="en-US" sz="800" dirty="0"/>
              <a:t>#include </a:t>
            </a:r>
            <a:r>
              <a:rPr lang="en-US" sz="800" dirty="0" err="1"/>
              <a:t>otp</a:t>
            </a:r>
            <a:r>
              <a:rPr lang="en-US" sz="800" dirty="0"/>
              <a:t> login for user authentication and session management. implement secure password handling and session expiration. also add input validation and error handling for all API endpoints.</a:t>
            </a:r>
          </a:p>
          <a:p>
            <a:r>
              <a:rPr lang="en-US" sz="800" dirty="0"/>
              <a:t>#include profile details of user and allow them to update their information and view their booking history.</a:t>
            </a:r>
          </a:p>
          <a:p>
            <a:endParaRPr lang="en-US" sz="800" dirty="0"/>
          </a:p>
          <a:p>
            <a:endParaRPr lang="en-US" sz="800" dirty="0"/>
          </a:p>
          <a:p>
            <a:endParaRPr lang="en-US" sz="800" dirty="0"/>
          </a:p>
          <a:p>
            <a:endParaRPr lang="en-US" sz="800" dirty="0"/>
          </a:p>
          <a:p>
            <a:endParaRPr lang="en-US" sz="800" dirty="0"/>
          </a:p>
          <a:p>
            <a:endParaRPr lang="en-US" sz="800" dirty="0"/>
          </a:p>
          <a:p>
            <a:endParaRPr lang="en-US" sz="800" dirty="0"/>
          </a:p>
        </p:txBody>
      </p:sp>
      <p:sp>
        <p:nvSpPr>
          <p:cNvPr id="10" name="Text 8"/>
          <p:cNvSpPr/>
          <p:nvPr/>
        </p:nvSpPr>
        <p:spPr>
          <a:xfrm>
            <a:off x="6748272" y="1115568"/>
            <a:ext cx="1965960" cy="1097280"/>
          </a:xfrm>
          <a:prstGeom prst="rect">
            <a:avLst/>
          </a:prstGeom>
          <a:noFill/>
          <a:ln/>
        </p:spPr>
        <p:txBody>
          <a:bodyPr wrap="square" lIns="0" tIns="0" rIns="0" bIns="0" rtlCol="0" anchor="t"/>
          <a:lstStyle/>
          <a:p>
            <a:pPr marL="0" indent="0">
              <a:buNone/>
            </a:pPr>
            <a:endParaRPr lang="en-US" sz="900" dirty="0"/>
          </a:p>
        </p:txBody>
      </p:sp>
      <p:sp>
        <p:nvSpPr>
          <p:cNvPr id="14" name="Text 12"/>
          <p:cNvSpPr/>
          <p:nvPr/>
        </p:nvSpPr>
        <p:spPr>
          <a:xfrm>
            <a:off x="374904" y="2450592"/>
            <a:ext cx="896112" cy="201168"/>
          </a:xfrm>
          <a:prstGeom prst="rect">
            <a:avLst/>
          </a:prstGeom>
          <a:noFill/>
          <a:ln/>
        </p:spPr>
        <p:txBody>
          <a:bodyPr wrap="square" lIns="0" tIns="0" rIns="0" bIns="0" rtlCol="0" anchor="ctr"/>
          <a:lstStyle/>
          <a:p>
            <a:pPr marL="0" indent="0">
              <a:buNone/>
            </a:pPr>
            <a:endParaRPr lang="en-US" sz="900" dirty="0"/>
          </a:p>
        </p:txBody>
      </p:sp>
      <p:sp>
        <p:nvSpPr>
          <p:cNvPr id="15" name="Text 13"/>
          <p:cNvSpPr/>
          <p:nvPr/>
        </p:nvSpPr>
        <p:spPr>
          <a:xfrm>
            <a:off x="1389888" y="2450592"/>
            <a:ext cx="5303520" cy="1097280"/>
          </a:xfrm>
          <a:prstGeom prst="rect">
            <a:avLst/>
          </a:prstGeom>
          <a:noFill/>
          <a:ln/>
        </p:spPr>
        <p:txBody>
          <a:bodyPr wrap="square" lIns="0" tIns="0" rIns="0" bIns="0" rtlCol="0" anchor="t"/>
          <a:lstStyle/>
          <a:p>
            <a:pPr marL="0" indent="0">
              <a:buNone/>
            </a:pPr>
            <a:endParaRPr lang="en-US" sz="800" dirty="0"/>
          </a:p>
        </p:txBody>
      </p:sp>
      <p:sp>
        <p:nvSpPr>
          <p:cNvPr id="16" name="Text 14"/>
          <p:cNvSpPr/>
          <p:nvPr/>
        </p:nvSpPr>
        <p:spPr>
          <a:xfrm>
            <a:off x="6748272" y="2450592"/>
            <a:ext cx="1965960" cy="1097280"/>
          </a:xfrm>
          <a:prstGeom prst="rect">
            <a:avLst/>
          </a:prstGeom>
          <a:noFill/>
          <a:ln/>
        </p:spPr>
        <p:txBody>
          <a:bodyPr wrap="square" lIns="0" tIns="0" rIns="0" bIns="0" rtlCol="0" anchor="t"/>
          <a:lstStyle/>
          <a:p>
            <a:pPr marL="0" indent="0">
              <a:buNone/>
            </a:pPr>
            <a:endParaRPr lang="en-US" sz="900" dirty="0"/>
          </a:p>
        </p:txBody>
      </p:sp>
      <p:sp>
        <p:nvSpPr>
          <p:cNvPr id="20" name="Text 18"/>
          <p:cNvSpPr/>
          <p:nvPr/>
        </p:nvSpPr>
        <p:spPr>
          <a:xfrm>
            <a:off x="374904" y="3785616"/>
            <a:ext cx="896112" cy="201168"/>
          </a:xfrm>
          <a:prstGeom prst="rect">
            <a:avLst/>
          </a:prstGeom>
          <a:noFill/>
          <a:ln/>
        </p:spPr>
        <p:txBody>
          <a:bodyPr wrap="square" lIns="0" tIns="0" rIns="0" bIns="0" rtlCol="0" anchor="ctr"/>
          <a:lstStyle/>
          <a:p>
            <a:pPr marL="0" indent="0">
              <a:buNone/>
            </a:pPr>
            <a:endParaRPr lang="en-US" sz="900" dirty="0"/>
          </a:p>
        </p:txBody>
      </p:sp>
      <p:sp>
        <p:nvSpPr>
          <p:cNvPr id="21" name="Text 19"/>
          <p:cNvSpPr/>
          <p:nvPr/>
        </p:nvSpPr>
        <p:spPr>
          <a:xfrm>
            <a:off x="1389888" y="3785616"/>
            <a:ext cx="5303520" cy="1097280"/>
          </a:xfrm>
          <a:prstGeom prst="rect">
            <a:avLst/>
          </a:prstGeom>
          <a:noFill/>
          <a:ln/>
        </p:spPr>
        <p:txBody>
          <a:bodyPr wrap="square" lIns="0" tIns="0" rIns="0" bIns="0" rtlCol="0" anchor="t"/>
          <a:lstStyle/>
          <a:p>
            <a:pPr marL="0" indent="0">
              <a:buNone/>
            </a:pPr>
            <a:endParaRPr lang="en-US" sz="800" dirty="0"/>
          </a:p>
        </p:txBody>
      </p:sp>
      <p:sp>
        <p:nvSpPr>
          <p:cNvPr id="22" name="Text 20"/>
          <p:cNvSpPr/>
          <p:nvPr/>
        </p:nvSpPr>
        <p:spPr>
          <a:xfrm>
            <a:off x="6748272" y="3785616"/>
            <a:ext cx="1965960" cy="1097280"/>
          </a:xfrm>
          <a:prstGeom prst="rect">
            <a:avLst/>
          </a:prstGeom>
          <a:noFill/>
          <a:ln/>
        </p:spPr>
        <p:txBody>
          <a:bodyPr wrap="square" lIns="0" tIns="0" rIns="0" bIns="0" rtlCol="0" anchor="t"/>
          <a:lstStyle/>
          <a:p>
            <a:pPr marL="0" indent="0">
              <a:buNone/>
            </a:pP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4FF"/>
        </a:solidFill>
        <a:effectLst/>
      </p:bgPr>
    </p:bg>
    <p:spTree>
      <p:nvGrpSpPr>
        <p:cNvPr id="1" name=""/>
        <p:cNvGrpSpPr/>
        <p:nvPr/>
      </p:nvGrpSpPr>
      <p:grpSpPr>
        <a:xfrm>
          <a:off x="0" y="0"/>
          <a:ext cx="0" cy="0"/>
          <a:chOff x="0" y="0"/>
          <a:chExt cx="0" cy="0"/>
        </a:xfrm>
      </p:grpSpPr>
      <p:sp>
        <p:nvSpPr>
          <p:cNvPr id="29" name="Shape 0"/>
          <p:cNvSpPr/>
          <p:nvPr/>
        </p:nvSpPr>
        <p:spPr>
          <a:xfrm>
            <a:off x="0" y="0"/>
            <a:ext cx="9144000" cy="64008"/>
          </a:xfrm>
          <a:prstGeom prst="rect">
            <a:avLst/>
          </a:prstGeom>
          <a:solidFill>
            <a:srgbClr val="0EA5E9"/>
          </a:solidFill>
          <a:ln w="12700">
            <a:solidFill>
              <a:srgbClr val="0EA5E9"/>
            </a:solidFill>
            <a:prstDash val="solid"/>
          </a:ln>
        </p:spPr>
      </p:sp>
      <p:sp>
        <p:nvSpPr>
          <p:cNvPr id="30" name="Text 1"/>
          <p:cNvSpPr/>
          <p:nvPr/>
        </p:nvSpPr>
        <p:spPr>
          <a:xfrm>
            <a:off x="365760" y="201168"/>
            <a:ext cx="8412480" cy="502920"/>
          </a:xfrm>
          <a:prstGeom prst="rect">
            <a:avLst/>
          </a:prstGeom>
          <a:noFill/>
          <a:ln/>
        </p:spPr>
        <p:txBody>
          <a:bodyPr wrap="square" lIns="0" tIns="0" rIns="0" bIns="0" rtlCol="0" anchor="ctr"/>
          <a:lstStyle/>
          <a:p>
            <a:pPr marL="0" indent="0">
              <a:buNone/>
            </a:pPr>
            <a:endParaRPr lang="en-US" sz="3000" dirty="0"/>
          </a:p>
        </p:txBody>
      </p:sp>
      <p:sp>
        <p:nvSpPr>
          <p:cNvPr id="31" name="Text 2"/>
          <p:cNvSpPr/>
          <p:nvPr/>
        </p:nvSpPr>
        <p:spPr>
          <a:xfrm>
            <a:off x="332087" y="85416"/>
            <a:ext cx="8412480" cy="256032"/>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Prompts embedded in app.js</a:t>
            </a:r>
            <a:endParaRPr lang="en-US" sz="1300" dirty="0"/>
          </a:p>
        </p:txBody>
      </p:sp>
      <p:sp>
        <p:nvSpPr>
          <p:cNvPr id="32" name="Shape 3"/>
          <p:cNvSpPr/>
          <p:nvPr/>
        </p:nvSpPr>
        <p:spPr>
          <a:xfrm>
            <a:off x="309445" y="318044"/>
            <a:ext cx="8751389" cy="4181386"/>
          </a:xfrm>
          <a:prstGeom prst="rect">
            <a:avLst/>
          </a:prstGeom>
          <a:solidFill>
            <a:srgbClr val="FFFFFF"/>
          </a:solidFill>
          <a:ln w="6350">
            <a:solidFill>
              <a:srgbClr val="E2EAF8"/>
            </a:solidFill>
            <a:prstDash val="solid"/>
          </a:ln>
          <a:effectLst>
            <a:outerShdw blurRad="101600" dist="38100" dir="8100000" algn="bl" rotWithShape="0">
              <a:srgbClr val="000000">
                <a:alpha val="12000"/>
              </a:srgbClr>
            </a:outerShdw>
          </a:effectLst>
        </p:spPr>
      </p:sp>
      <p:sp>
        <p:nvSpPr>
          <p:cNvPr id="33" name="Shape 5"/>
          <p:cNvSpPr/>
          <p:nvPr/>
        </p:nvSpPr>
        <p:spPr>
          <a:xfrm>
            <a:off x="320040" y="318043"/>
            <a:ext cx="1005840" cy="237744"/>
          </a:xfrm>
          <a:prstGeom prst="rect">
            <a:avLst/>
          </a:prstGeom>
          <a:solidFill>
            <a:srgbClr val="F8FAFF"/>
          </a:solidFill>
          <a:ln w="3810">
            <a:solidFill>
              <a:srgbClr val="E2EAF8"/>
            </a:solidFill>
            <a:prstDash val="solid"/>
          </a:ln>
        </p:spPr>
      </p:sp>
      <p:sp>
        <p:nvSpPr>
          <p:cNvPr id="34" name="Text 6"/>
          <p:cNvSpPr/>
          <p:nvPr/>
        </p:nvSpPr>
        <p:spPr>
          <a:xfrm>
            <a:off x="440363" y="357177"/>
            <a:ext cx="896112" cy="182880"/>
          </a:xfrm>
          <a:prstGeom prst="rect">
            <a:avLst/>
          </a:prstGeom>
          <a:noFill/>
          <a:ln/>
        </p:spPr>
        <p:txBody>
          <a:bodyPr wrap="square" lIns="0" tIns="0" rIns="0" bIns="0" rtlCol="0" anchor="ctr"/>
          <a:lstStyle/>
          <a:p>
            <a:pPr marL="0" indent="0">
              <a:buNone/>
            </a:pPr>
            <a:r>
              <a:rPr lang="en-US" sz="850" b="1" dirty="0">
                <a:solidFill>
                  <a:srgbClr val="0B1437"/>
                </a:solidFill>
                <a:latin typeface="Consolas" pitchFamily="34" charset="0"/>
                <a:ea typeface="Consolas" pitchFamily="34" charset="-122"/>
                <a:cs typeface="Consolas" pitchFamily="34" charset="-120"/>
              </a:rPr>
              <a:t>app.js</a:t>
            </a:r>
            <a:endParaRPr lang="en-US" sz="850" dirty="0"/>
          </a:p>
        </p:txBody>
      </p:sp>
      <p:sp>
        <p:nvSpPr>
          <p:cNvPr id="35" name="Text 7"/>
          <p:cNvSpPr/>
          <p:nvPr/>
        </p:nvSpPr>
        <p:spPr>
          <a:xfrm>
            <a:off x="1271016" y="341448"/>
            <a:ext cx="7626676" cy="4043244"/>
          </a:xfrm>
          <a:prstGeom prst="rect">
            <a:avLst/>
          </a:prstGeom>
          <a:noFill/>
          <a:ln/>
        </p:spPr>
        <p:txBody>
          <a:bodyPr wrap="square" lIns="0" tIns="0" rIns="0" bIns="0" rtlCol="0" anchor="t"/>
          <a:lstStyle/>
          <a:p>
            <a:r>
              <a:rPr lang="en-US" sz="800" dirty="0"/>
              <a:t>//Generate a complete frontend JavaScript code for a flight booking management system called "</a:t>
            </a:r>
            <a:r>
              <a:rPr lang="en-US" sz="800" dirty="0" err="1"/>
              <a:t>SkyWay</a:t>
            </a:r>
            <a:r>
              <a:rPr lang="en-US" sz="800" dirty="0"/>
              <a:t>". The code should include the following features:</a:t>
            </a:r>
          </a:p>
          <a:p>
            <a:r>
              <a:rPr lang="en-US" sz="800" dirty="0"/>
              <a:t>//1. booking details page that displays comprehensive information about a specific flight booking, including route details, passenger information, fare breakdown, and booking status.</a:t>
            </a:r>
          </a:p>
          <a:p>
            <a:r>
              <a:rPr lang="en-US" sz="800" dirty="0"/>
              <a:t>//2. web check-in page that allows users to check in for their flight online, providing necessary details and generating a boarding pass upon successful check-in and also mock payment with </a:t>
            </a:r>
            <a:r>
              <a:rPr lang="en-US" sz="800" dirty="0" err="1"/>
              <a:t>upi</a:t>
            </a:r>
            <a:r>
              <a:rPr lang="en-US" sz="800" dirty="0"/>
              <a:t> or card.</a:t>
            </a:r>
          </a:p>
          <a:p>
            <a:r>
              <a:rPr lang="en-US" sz="800" dirty="0"/>
              <a:t>//3. user profile page where users can view and update their personal information, change their password, and access quick links to their bookings and the home page.</a:t>
            </a:r>
          </a:p>
          <a:p>
            <a:r>
              <a:rPr lang="en-US" sz="800" dirty="0"/>
              <a:t>//4. Authentication functionality with login and registration pages, including OTP-based login and registration options.</a:t>
            </a:r>
          </a:p>
          <a:p>
            <a:r>
              <a:rPr lang="en-US" sz="800" dirty="0"/>
              <a:t>//5. dialogs for confirming booking cancellations and rescheduling, with appropriate messages and actions.</a:t>
            </a:r>
          </a:p>
          <a:p>
            <a:r>
              <a:rPr lang="en-US" sz="800" dirty="0"/>
              <a:t>// 6. Admin panel with features to view all bookings, manage flight status updates, send notifications to users, and view revenue reports.</a:t>
            </a:r>
          </a:p>
          <a:p>
            <a:r>
              <a:rPr lang="en-US" sz="800" dirty="0"/>
              <a:t>---</a:t>
            </a:r>
          </a:p>
          <a:p>
            <a:r>
              <a:rPr lang="en-US" sz="800" dirty="0"/>
              <a:t>// Display list of available flights with pricing, duration, and cabin selection options. Also handles flight selection and navigation to booking page.</a:t>
            </a:r>
          </a:p>
          <a:p>
            <a:r>
              <a:rPr lang="en-US" sz="800" dirty="0"/>
              <a:t>----</a:t>
            </a:r>
          </a:p>
          <a:p>
            <a:r>
              <a:rPr lang="en-US" sz="800" dirty="0"/>
              <a:t>//Render booking page with passenger details, seat selection, meals, and price summary</a:t>
            </a:r>
          </a:p>
          <a:p>
            <a:r>
              <a:rPr lang="en-US" sz="800" dirty="0"/>
              <a:t>//Handle meal selection and update total price accordingly by recalculating the price breakdown based on selected meal and service options, and update the UI to reflect the current selections and total price.</a:t>
            </a:r>
          </a:p>
          <a:p>
            <a:r>
              <a:rPr lang="en-US" sz="800" dirty="0"/>
              <a:t>//Handle special service selection and update pricing based on the selected service, also visually indicate the selected service in the UI and recalculate the total price to reflect any additional fees associated with the chosen service.</a:t>
            </a:r>
          </a:p>
          <a:p>
            <a:r>
              <a:rPr lang="en-US" sz="800" dirty="0"/>
              <a:t>//Calculate total booking cost including base fare, taxes, seat, meal, and services, and update the price breakdown display in the UI to show the current total price based on user selections.</a:t>
            </a:r>
          </a:p>
          <a:p>
            <a:r>
              <a:rPr lang="en-US" sz="800" dirty="0"/>
              <a:t>//Initiate payment process by creating a payment order, displaying payment modal with options, and handling user interactions for payment method selection and submission.</a:t>
            </a:r>
          </a:p>
          <a:p>
            <a:r>
              <a:rPr lang="en-US" sz="800" dirty="0"/>
              <a:t>//Fetch and display detailed information for a specific booking, including flight details, passenger info, timeline, fare breakdown, and payment status, with options to cancel or reschedule if applicable.</a:t>
            </a:r>
          </a:p>
          <a:p>
            <a:r>
              <a:rPr lang="en-US" sz="800" dirty="0"/>
              <a:t>//Handle web check-in process by validating booking eligibility, displaying flight and passenger details, allowing users to declare baggage and accept terms, and submitting check-in information to the server.</a:t>
            </a:r>
          </a:p>
          <a:p>
            <a:r>
              <a:rPr lang="en-US" sz="800" dirty="0"/>
              <a:t>----</a:t>
            </a:r>
          </a:p>
          <a:p>
            <a:r>
              <a:rPr lang="en-US" sz="800" dirty="0"/>
              <a:t>//Handle booking cancellation by confirming user intent, sending cancellation request to the server, and updating the UI based on the response, including refund information if applicable.</a:t>
            </a:r>
          </a:p>
          <a:p>
            <a:r>
              <a:rPr lang="en-US" sz="800" dirty="0"/>
              <a:t>//Fetch and display admin dashboard with key statistics, charts, and tables for managing flights, bookings, users, notifications, and revenue, with tabbed navigation for different sections.</a:t>
            </a:r>
          </a:p>
          <a:p>
            <a:r>
              <a:rPr lang="en-US" sz="800" dirty="0"/>
              <a:t>// Filter admin bookings table based on search input, matching against PNR, passenger names, route, and airline, and update the display of rows accordingly.</a:t>
            </a:r>
          </a:p>
          <a:p>
            <a:r>
              <a:rPr lang="en-US" sz="800" dirty="0"/>
              <a:t>// Fetch and display all admin notifications, allowing admins to view details of each notification, including type, message, affected flight (if any), creation time, and providing the ability to delete notifications or create new ones.</a:t>
            </a:r>
          </a:p>
          <a:p>
            <a:r>
              <a:rPr lang="en-US" sz="800" dirty="0"/>
              <a:t>// Handle user login by collecting email and password input values, sending them to the server for authentication, and providing feedback on success or failure while also updating the UI and navigating to the appropriate page based on user role . </a:t>
            </a:r>
            <a:r>
              <a:rPr lang="en-US" sz="800" dirty="0" err="1"/>
              <a:t>SingUP</a:t>
            </a:r>
            <a:r>
              <a:rPr lang="en-US" sz="800" dirty="0"/>
              <a:t> page and login with </a:t>
            </a:r>
            <a:r>
              <a:rPr lang="en-US" sz="800" dirty="0" err="1"/>
              <a:t>otp</a:t>
            </a:r>
            <a:r>
              <a:rPr lang="en-US" sz="800" dirty="0"/>
              <a:t> and google </a:t>
            </a:r>
            <a:r>
              <a:rPr lang="en-US" sz="800" dirty="0" err="1"/>
              <a:t>signin</a:t>
            </a:r>
            <a:endParaRPr lang="en-US" sz="800" dirty="0"/>
          </a:p>
          <a:p>
            <a:endParaRPr lang="en-US" sz="800" dirty="0"/>
          </a:p>
          <a:p>
            <a:endParaRPr lang="en-US" sz="800" dirty="0"/>
          </a:p>
          <a:p>
            <a:endParaRPr lang="en-US" sz="800" dirty="0"/>
          </a:p>
          <a:p>
            <a:endParaRPr lang="en-US" sz="800" dirty="0"/>
          </a:p>
        </p:txBody>
      </p:sp>
      <p:sp>
        <p:nvSpPr>
          <p:cNvPr id="36" name="Text 8"/>
          <p:cNvSpPr/>
          <p:nvPr/>
        </p:nvSpPr>
        <p:spPr>
          <a:xfrm>
            <a:off x="6702552" y="1115568"/>
            <a:ext cx="2011680" cy="786384"/>
          </a:xfrm>
          <a:prstGeom prst="rect">
            <a:avLst/>
          </a:prstGeom>
          <a:noFill/>
          <a:ln/>
        </p:spPr>
        <p:txBody>
          <a:bodyPr wrap="square" lIns="0" tIns="0" rIns="0" bIns="0" rtlCol="0" anchor="t"/>
          <a:lstStyle/>
          <a:p>
            <a:pPr marL="0" indent="0">
              <a:buNone/>
            </a:pPr>
            <a:endParaRPr lang="en-US" sz="850" dirty="0"/>
          </a:p>
        </p:txBody>
      </p:sp>
      <p:sp>
        <p:nvSpPr>
          <p:cNvPr id="37" name="Shape 10"/>
          <p:cNvSpPr/>
          <p:nvPr/>
        </p:nvSpPr>
        <p:spPr>
          <a:xfrm>
            <a:off x="326064" y="574075"/>
            <a:ext cx="45719" cy="3925355"/>
          </a:xfrm>
          <a:prstGeom prst="rect">
            <a:avLst/>
          </a:prstGeom>
          <a:solidFill>
            <a:srgbClr val="10B981"/>
          </a:solidFill>
          <a:ln w="12700">
            <a:solidFill>
              <a:srgbClr val="10B981"/>
            </a:solidFill>
            <a:prstDash val="solid"/>
          </a:ln>
        </p:spPr>
      </p:sp>
      <p:sp>
        <p:nvSpPr>
          <p:cNvPr id="38" name="Text 12"/>
          <p:cNvSpPr/>
          <p:nvPr/>
        </p:nvSpPr>
        <p:spPr>
          <a:xfrm>
            <a:off x="374904" y="2093976"/>
            <a:ext cx="896112" cy="182880"/>
          </a:xfrm>
          <a:prstGeom prst="rect">
            <a:avLst/>
          </a:prstGeom>
          <a:noFill/>
          <a:ln/>
        </p:spPr>
        <p:txBody>
          <a:bodyPr wrap="square" lIns="0" tIns="0" rIns="0" bIns="0" rtlCol="0" anchor="ctr"/>
          <a:lstStyle/>
          <a:p>
            <a:pPr marL="0" indent="0">
              <a:buNone/>
            </a:pPr>
            <a:endParaRPr lang="en-US" sz="850" dirty="0"/>
          </a:p>
        </p:txBody>
      </p:sp>
      <p:sp>
        <p:nvSpPr>
          <p:cNvPr id="39" name="Text 13"/>
          <p:cNvSpPr/>
          <p:nvPr/>
        </p:nvSpPr>
        <p:spPr>
          <a:xfrm>
            <a:off x="1389888" y="2103120"/>
            <a:ext cx="5257800" cy="786384"/>
          </a:xfrm>
          <a:prstGeom prst="rect">
            <a:avLst/>
          </a:prstGeom>
          <a:noFill/>
          <a:ln/>
        </p:spPr>
        <p:txBody>
          <a:bodyPr wrap="square" lIns="0" tIns="0" rIns="0" bIns="0" rtlCol="0" anchor="t"/>
          <a:lstStyle/>
          <a:p>
            <a:pPr marL="0" indent="0">
              <a:buNone/>
            </a:pPr>
            <a:endParaRPr lang="en-US" sz="750" dirty="0"/>
          </a:p>
        </p:txBody>
      </p:sp>
      <p:sp>
        <p:nvSpPr>
          <p:cNvPr id="40" name="Text 14"/>
          <p:cNvSpPr/>
          <p:nvPr/>
        </p:nvSpPr>
        <p:spPr>
          <a:xfrm>
            <a:off x="6702552" y="2103120"/>
            <a:ext cx="2011680" cy="786384"/>
          </a:xfrm>
          <a:prstGeom prst="rect">
            <a:avLst/>
          </a:prstGeom>
          <a:noFill/>
          <a:ln/>
        </p:spPr>
        <p:txBody>
          <a:bodyPr wrap="square" lIns="0" tIns="0" rIns="0" bIns="0" rtlCol="0" anchor="t"/>
          <a:lstStyle/>
          <a:p>
            <a:pPr marL="0" indent="0">
              <a:buNone/>
            </a:pPr>
            <a:endParaRPr lang="en-US" sz="850" dirty="0"/>
          </a:p>
        </p:txBody>
      </p:sp>
      <p:sp>
        <p:nvSpPr>
          <p:cNvPr id="41" name="Text 18"/>
          <p:cNvSpPr/>
          <p:nvPr/>
        </p:nvSpPr>
        <p:spPr>
          <a:xfrm>
            <a:off x="374904" y="3081528"/>
            <a:ext cx="896112" cy="182880"/>
          </a:xfrm>
          <a:prstGeom prst="rect">
            <a:avLst/>
          </a:prstGeom>
          <a:noFill/>
          <a:ln/>
        </p:spPr>
        <p:txBody>
          <a:bodyPr wrap="square" lIns="0" tIns="0" rIns="0" bIns="0" rtlCol="0" anchor="ctr"/>
          <a:lstStyle/>
          <a:p>
            <a:pPr marL="0" indent="0">
              <a:buNone/>
            </a:pPr>
            <a:endParaRPr lang="en-US" sz="850" dirty="0"/>
          </a:p>
        </p:txBody>
      </p:sp>
      <p:sp>
        <p:nvSpPr>
          <p:cNvPr id="42" name="Text 19"/>
          <p:cNvSpPr/>
          <p:nvPr/>
        </p:nvSpPr>
        <p:spPr>
          <a:xfrm>
            <a:off x="1389888" y="3090672"/>
            <a:ext cx="5257800" cy="786384"/>
          </a:xfrm>
          <a:prstGeom prst="rect">
            <a:avLst/>
          </a:prstGeom>
          <a:noFill/>
          <a:ln/>
        </p:spPr>
        <p:txBody>
          <a:bodyPr wrap="square" lIns="0" tIns="0" rIns="0" bIns="0" rtlCol="0" anchor="t"/>
          <a:lstStyle/>
          <a:p>
            <a:pPr marL="0" indent="0">
              <a:buNone/>
            </a:pPr>
            <a:endParaRPr lang="en-US" sz="750" dirty="0"/>
          </a:p>
        </p:txBody>
      </p:sp>
      <p:sp>
        <p:nvSpPr>
          <p:cNvPr id="43" name="Text 20"/>
          <p:cNvSpPr/>
          <p:nvPr/>
        </p:nvSpPr>
        <p:spPr>
          <a:xfrm>
            <a:off x="6702552" y="3090672"/>
            <a:ext cx="2011680" cy="786384"/>
          </a:xfrm>
          <a:prstGeom prst="rect">
            <a:avLst/>
          </a:prstGeom>
          <a:noFill/>
          <a:ln/>
        </p:spPr>
        <p:txBody>
          <a:bodyPr wrap="square" lIns="0" tIns="0" rIns="0" bIns="0" rtlCol="0" anchor="t"/>
          <a:lstStyle/>
          <a:p>
            <a:pPr marL="0" indent="0">
              <a:buNone/>
            </a:pPr>
            <a:endParaRPr lang="en-US" sz="850" dirty="0"/>
          </a:p>
        </p:txBody>
      </p:sp>
      <p:sp>
        <p:nvSpPr>
          <p:cNvPr id="44" name="Text 24"/>
          <p:cNvSpPr/>
          <p:nvPr/>
        </p:nvSpPr>
        <p:spPr>
          <a:xfrm>
            <a:off x="374904" y="4069080"/>
            <a:ext cx="896112" cy="182880"/>
          </a:xfrm>
          <a:prstGeom prst="rect">
            <a:avLst/>
          </a:prstGeom>
          <a:noFill/>
          <a:ln/>
        </p:spPr>
        <p:txBody>
          <a:bodyPr wrap="square" lIns="0" tIns="0" rIns="0" bIns="0" rtlCol="0" anchor="ctr"/>
          <a:lstStyle/>
          <a:p>
            <a:pPr marL="0" indent="0">
              <a:buNone/>
            </a:pPr>
            <a:endParaRPr lang="en-US" sz="850" dirty="0"/>
          </a:p>
        </p:txBody>
      </p:sp>
      <p:sp>
        <p:nvSpPr>
          <p:cNvPr id="45" name="Text 25"/>
          <p:cNvSpPr/>
          <p:nvPr/>
        </p:nvSpPr>
        <p:spPr>
          <a:xfrm>
            <a:off x="1389888" y="4078224"/>
            <a:ext cx="5257800" cy="786384"/>
          </a:xfrm>
          <a:prstGeom prst="rect">
            <a:avLst/>
          </a:prstGeom>
          <a:noFill/>
          <a:ln/>
        </p:spPr>
        <p:txBody>
          <a:bodyPr wrap="square" lIns="0" tIns="0" rIns="0" bIns="0" rtlCol="0" anchor="t"/>
          <a:lstStyle/>
          <a:p>
            <a:pPr marL="0" indent="0">
              <a:buNone/>
            </a:pPr>
            <a:endParaRPr lang="en-US" sz="750" dirty="0"/>
          </a:p>
        </p:txBody>
      </p:sp>
      <p:sp>
        <p:nvSpPr>
          <p:cNvPr id="46" name="Text 26"/>
          <p:cNvSpPr/>
          <p:nvPr/>
        </p:nvSpPr>
        <p:spPr>
          <a:xfrm>
            <a:off x="6702552" y="4078224"/>
            <a:ext cx="2011680" cy="786384"/>
          </a:xfrm>
          <a:prstGeom prst="rect">
            <a:avLst/>
          </a:prstGeom>
          <a:noFill/>
          <a:ln/>
        </p:spPr>
        <p:txBody>
          <a:bodyPr wrap="square" lIns="0" tIns="0" rIns="0" bIns="0" rtlCol="0" anchor="t"/>
          <a:lstStyle/>
          <a:p>
            <a:pPr marL="0" indent="0">
              <a:buNone/>
            </a:pP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43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EA5E9"/>
          </a:solidFill>
          <a:ln w="12700">
            <a:solidFill>
              <a:srgbClr val="0EA5E9"/>
            </a:solidFill>
            <a:prstDash val="solid"/>
          </a:ln>
        </p:spPr>
      </p:sp>
      <p:sp>
        <p:nvSpPr>
          <p:cNvPr id="3" name="Shape 1"/>
          <p:cNvSpPr/>
          <p:nvPr/>
        </p:nvSpPr>
        <p:spPr>
          <a:xfrm>
            <a:off x="91440" y="0"/>
            <a:ext cx="22860" cy="5143500"/>
          </a:xfrm>
          <a:prstGeom prst="rect">
            <a:avLst/>
          </a:prstGeom>
          <a:solidFill>
            <a:srgbClr val="1E40AF"/>
          </a:solidFill>
          <a:ln w="12700">
            <a:solidFill>
              <a:srgbClr val="1E40AF"/>
            </a:solidFill>
            <a:prstDash val="solid"/>
          </a:ln>
        </p:spPr>
      </p:sp>
      <p:sp>
        <p:nvSpPr>
          <p:cNvPr id="4" name="Text 2"/>
          <p:cNvSpPr/>
          <p:nvPr/>
        </p:nvSpPr>
        <p:spPr>
          <a:xfrm>
            <a:off x="365760" y="201168"/>
            <a:ext cx="8412480" cy="50292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System Workflow</a:t>
            </a:r>
            <a:endParaRPr lang="en-US" sz="3000" dirty="0"/>
          </a:p>
        </p:txBody>
      </p:sp>
      <p:sp>
        <p:nvSpPr>
          <p:cNvPr id="5" name="Text 3"/>
          <p:cNvSpPr/>
          <p:nvPr/>
        </p:nvSpPr>
        <p:spPr>
          <a:xfrm>
            <a:off x="365760" y="749808"/>
            <a:ext cx="8412480" cy="292608"/>
          </a:xfrm>
          <a:prstGeom prst="rect">
            <a:avLst/>
          </a:prstGeom>
          <a:noFill/>
          <a:ln/>
        </p:spPr>
        <p:txBody>
          <a:bodyPr wrap="square" lIns="0" tIns="0" rIns="0" bIns="0" rtlCol="0" anchor="ctr"/>
          <a:lstStyle/>
          <a:p>
            <a:pPr marL="0" indent="0">
              <a:buNone/>
            </a:pPr>
            <a:r>
              <a:rPr lang="en-US" sz="1300" dirty="0">
                <a:solidFill>
                  <a:srgbClr val="93C5FD"/>
                </a:solidFill>
                <a:latin typeface="Calibri" pitchFamily="34" charset="0"/>
                <a:ea typeface="Calibri" pitchFamily="34" charset="-122"/>
                <a:cs typeface="Calibri" pitchFamily="34" charset="-120"/>
              </a:rPr>
              <a:t>End-to-end flow from landing page to boarded flight</a:t>
            </a:r>
            <a:endParaRPr lang="en-US" sz="1300" dirty="0"/>
          </a:p>
        </p:txBody>
      </p:sp>
      <p:sp>
        <p:nvSpPr>
          <p:cNvPr id="6" name="Shape 4"/>
          <p:cNvSpPr/>
          <p:nvPr/>
        </p:nvSpPr>
        <p:spPr>
          <a:xfrm>
            <a:off x="256032" y="1143000"/>
            <a:ext cx="1536192" cy="658368"/>
          </a:xfrm>
          <a:prstGeom prst="rect">
            <a:avLst/>
          </a:prstGeom>
          <a:solidFill>
            <a:srgbClr val="0EA5E9"/>
          </a:solidFill>
          <a:ln w="12700">
            <a:solidFill>
              <a:srgbClr val="0EA5E9"/>
            </a:solidFill>
            <a:prstDash val="solid"/>
          </a:ln>
          <a:effectLst>
            <a:outerShdw blurRad="76200" dist="25400" dir="8100000" algn="bl" rotWithShape="0">
              <a:srgbClr val="000000">
                <a:alpha val="10000"/>
              </a:srgbClr>
            </a:outerShdw>
          </a:effectLst>
        </p:spPr>
      </p:sp>
      <p:sp>
        <p:nvSpPr>
          <p:cNvPr id="7" name="Text 5"/>
          <p:cNvSpPr/>
          <p:nvPr/>
        </p:nvSpPr>
        <p:spPr>
          <a:xfrm>
            <a:off x="256032" y="1143000"/>
            <a:ext cx="1536192" cy="65836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User Visits</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http://localhost:8765</a:t>
            </a:r>
            <a:endParaRPr lang="en-US" sz="950" dirty="0"/>
          </a:p>
        </p:txBody>
      </p:sp>
      <p:sp>
        <p:nvSpPr>
          <p:cNvPr id="8" name="Shape 6"/>
          <p:cNvSpPr/>
          <p:nvPr/>
        </p:nvSpPr>
        <p:spPr>
          <a:xfrm>
            <a:off x="1792224" y="1472184"/>
            <a:ext cx="548640" cy="0"/>
          </a:xfrm>
          <a:prstGeom prst="line">
            <a:avLst/>
          </a:prstGeom>
          <a:noFill/>
          <a:ln w="19050">
            <a:solidFill>
              <a:srgbClr val="FFFFFF"/>
            </a:solidFill>
            <a:prstDash val="solid"/>
          </a:ln>
        </p:spPr>
      </p:sp>
      <p:sp>
        <p:nvSpPr>
          <p:cNvPr id="9" name="Text 7"/>
          <p:cNvSpPr/>
          <p:nvPr/>
        </p:nvSpPr>
        <p:spPr>
          <a:xfrm>
            <a:off x="2112264" y="1344168"/>
            <a:ext cx="256032" cy="256032"/>
          </a:xfrm>
          <a:prstGeom prst="rect">
            <a:avLst/>
          </a:prstGeom>
          <a:noFill/>
          <a:ln/>
        </p:spPr>
        <p:txBody>
          <a:bodyPr wrap="square" lIns="0" tIns="0" rIns="0" bIns="0" rtlCol="0" anchor="ctr"/>
          <a:lstStyle/>
          <a:p>
            <a:pPr marL="0" indent="0">
              <a:buNone/>
            </a:pPr>
            <a:r>
              <a:rPr lang="en-US" sz="1000" dirty="0">
                <a:solidFill>
                  <a:srgbClr val="FFFFFF"/>
                </a:solidFill>
              </a:rPr>
              <a:t>▶</a:t>
            </a:r>
            <a:endParaRPr lang="en-US" sz="1000" dirty="0"/>
          </a:p>
        </p:txBody>
      </p:sp>
      <p:sp>
        <p:nvSpPr>
          <p:cNvPr id="10" name="Shape 8"/>
          <p:cNvSpPr/>
          <p:nvPr/>
        </p:nvSpPr>
        <p:spPr>
          <a:xfrm>
            <a:off x="2084832" y="1143000"/>
            <a:ext cx="1536192" cy="658368"/>
          </a:xfrm>
          <a:prstGeom prst="rect">
            <a:avLst/>
          </a:prstGeom>
          <a:solidFill>
            <a:srgbClr val="0EA5E9"/>
          </a:solidFill>
          <a:ln w="12700">
            <a:solidFill>
              <a:srgbClr val="0EA5E9"/>
            </a:solidFill>
            <a:prstDash val="solid"/>
          </a:ln>
          <a:effectLst>
            <a:outerShdw blurRad="76200" dist="25400" dir="8100000" algn="bl" rotWithShape="0">
              <a:srgbClr val="000000">
                <a:alpha val="10000"/>
              </a:srgbClr>
            </a:outerShdw>
          </a:effectLst>
        </p:spPr>
      </p:sp>
      <p:sp>
        <p:nvSpPr>
          <p:cNvPr id="11" name="Text 9"/>
          <p:cNvSpPr/>
          <p:nvPr/>
        </p:nvSpPr>
        <p:spPr>
          <a:xfrm>
            <a:off x="2084832" y="1143000"/>
            <a:ext cx="1536192" cy="65836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Login / Register</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(Email + OTP)</a:t>
            </a:r>
            <a:endParaRPr lang="en-US" sz="950" dirty="0"/>
          </a:p>
        </p:txBody>
      </p:sp>
      <p:sp>
        <p:nvSpPr>
          <p:cNvPr id="12" name="Shape 10"/>
          <p:cNvSpPr/>
          <p:nvPr/>
        </p:nvSpPr>
        <p:spPr>
          <a:xfrm>
            <a:off x="3621024" y="1472184"/>
            <a:ext cx="548640" cy="0"/>
          </a:xfrm>
          <a:prstGeom prst="line">
            <a:avLst/>
          </a:prstGeom>
          <a:noFill/>
          <a:ln w="19050">
            <a:solidFill>
              <a:srgbClr val="FFFFFF"/>
            </a:solidFill>
            <a:prstDash val="solid"/>
          </a:ln>
        </p:spPr>
      </p:sp>
      <p:sp>
        <p:nvSpPr>
          <p:cNvPr id="13" name="Text 11"/>
          <p:cNvSpPr/>
          <p:nvPr/>
        </p:nvSpPr>
        <p:spPr>
          <a:xfrm>
            <a:off x="3941064" y="1344168"/>
            <a:ext cx="256032" cy="256032"/>
          </a:xfrm>
          <a:prstGeom prst="rect">
            <a:avLst/>
          </a:prstGeom>
          <a:noFill/>
          <a:ln/>
        </p:spPr>
        <p:txBody>
          <a:bodyPr wrap="square" lIns="0" tIns="0" rIns="0" bIns="0" rtlCol="0" anchor="ctr"/>
          <a:lstStyle/>
          <a:p>
            <a:pPr marL="0" indent="0">
              <a:buNone/>
            </a:pPr>
            <a:r>
              <a:rPr lang="en-US" sz="1000" dirty="0">
                <a:solidFill>
                  <a:srgbClr val="FFFFFF"/>
                </a:solidFill>
              </a:rPr>
              <a:t>▶</a:t>
            </a:r>
            <a:endParaRPr lang="en-US" sz="1000" dirty="0"/>
          </a:p>
        </p:txBody>
      </p:sp>
      <p:sp>
        <p:nvSpPr>
          <p:cNvPr id="14" name="Shape 12"/>
          <p:cNvSpPr/>
          <p:nvPr/>
        </p:nvSpPr>
        <p:spPr>
          <a:xfrm>
            <a:off x="3913632" y="1143000"/>
            <a:ext cx="1536192" cy="658368"/>
          </a:xfrm>
          <a:prstGeom prst="rect">
            <a:avLst/>
          </a:prstGeom>
          <a:solidFill>
            <a:srgbClr val="0EA5E9"/>
          </a:solidFill>
          <a:ln w="12700">
            <a:solidFill>
              <a:srgbClr val="0EA5E9"/>
            </a:solidFill>
            <a:prstDash val="solid"/>
          </a:ln>
          <a:effectLst>
            <a:outerShdw blurRad="76200" dist="25400" dir="8100000" algn="bl" rotWithShape="0">
              <a:srgbClr val="000000">
                <a:alpha val="10000"/>
              </a:srgbClr>
            </a:outerShdw>
          </a:effectLst>
        </p:spPr>
      </p:sp>
      <p:sp>
        <p:nvSpPr>
          <p:cNvPr id="15" name="Text 13"/>
          <p:cNvSpPr/>
          <p:nvPr/>
        </p:nvSpPr>
        <p:spPr>
          <a:xfrm>
            <a:off x="3913632" y="1143000"/>
            <a:ext cx="1536192" cy="65836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Search Flights</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(Route + Date)</a:t>
            </a:r>
            <a:endParaRPr lang="en-US" sz="950" dirty="0"/>
          </a:p>
        </p:txBody>
      </p:sp>
      <p:sp>
        <p:nvSpPr>
          <p:cNvPr id="16" name="Shape 14"/>
          <p:cNvSpPr/>
          <p:nvPr/>
        </p:nvSpPr>
        <p:spPr>
          <a:xfrm>
            <a:off x="5449824" y="1472184"/>
            <a:ext cx="548640" cy="0"/>
          </a:xfrm>
          <a:prstGeom prst="line">
            <a:avLst/>
          </a:prstGeom>
          <a:noFill/>
          <a:ln w="19050">
            <a:solidFill>
              <a:srgbClr val="FFFFFF"/>
            </a:solidFill>
            <a:prstDash val="solid"/>
          </a:ln>
        </p:spPr>
      </p:sp>
      <p:sp>
        <p:nvSpPr>
          <p:cNvPr id="17" name="Text 15"/>
          <p:cNvSpPr/>
          <p:nvPr/>
        </p:nvSpPr>
        <p:spPr>
          <a:xfrm>
            <a:off x="5769864" y="1344168"/>
            <a:ext cx="256032" cy="256032"/>
          </a:xfrm>
          <a:prstGeom prst="rect">
            <a:avLst/>
          </a:prstGeom>
          <a:noFill/>
          <a:ln/>
        </p:spPr>
        <p:txBody>
          <a:bodyPr wrap="square" lIns="0" tIns="0" rIns="0" bIns="0" rtlCol="0" anchor="ctr"/>
          <a:lstStyle/>
          <a:p>
            <a:pPr marL="0" indent="0">
              <a:buNone/>
            </a:pPr>
            <a:r>
              <a:rPr lang="en-US" sz="1000" dirty="0">
                <a:solidFill>
                  <a:srgbClr val="FFFFFF"/>
                </a:solidFill>
              </a:rPr>
              <a:t>▶</a:t>
            </a:r>
            <a:endParaRPr lang="en-US" sz="1000" dirty="0"/>
          </a:p>
        </p:txBody>
      </p:sp>
      <p:sp>
        <p:nvSpPr>
          <p:cNvPr id="18" name="Shape 16"/>
          <p:cNvSpPr/>
          <p:nvPr/>
        </p:nvSpPr>
        <p:spPr>
          <a:xfrm>
            <a:off x="5742432" y="1143000"/>
            <a:ext cx="1536192" cy="658368"/>
          </a:xfrm>
          <a:prstGeom prst="rect">
            <a:avLst/>
          </a:prstGeom>
          <a:solidFill>
            <a:srgbClr val="0EA5E9"/>
          </a:solidFill>
          <a:ln w="12700">
            <a:solidFill>
              <a:srgbClr val="0EA5E9"/>
            </a:solidFill>
            <a:prstDash val="solid"/>
          </a:ln>
          <a:effectLst>
            <a:outerShdw blurRad="76200" dist="25400" dir="8100000" algn="bl" rotWithShape="0">
              <a:srgbClr val="000000">
                <a:alpha val="10000"/>
              </a:srgbClr>
            </a:outerShdw>
          </a:effectLst>
        </p:spPr>
      </p:sp>
      <p:sp>
        <p:nvSpPr>
          <p:cNvPr id="19" name="Text 17"/>
          <p:cNvSpPr/>
          <p:nvPr/>
        </p:nvSpPr>
        <p:spPr>
          <a:xfrm>
            <a:off x="5742432" y="1143000"/>
            <a:ext cx="1536192" cy="65836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Select Flight</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 Cabin</a:t>
            </a:r>
            <a:endParaRPr lang="en-US" sz="950" dirty="0"/>
          </a:p>
        </p:txBody>
      </p:sp>
      <p:sp>
        <p:nvSpPr>
          <p:cNvPr id="20" name="Shape 18"/>
          <p:cNvSpPr/>
          <p:nvPr/>
        </p:nvSpPr>
        <p:spPr>
          <a:xfrm>
            <a:off x="7278624" y="1472184"/>
            <a:ext cx="548640" cy="0"/>
          </a:xfrm>
          <a:prstGeom prst="line">
            <a:avLst/>
          </a:prstGeom>
          <a:noFill/>
          <a:ln w="19050">
            <a:solidFill>
              <a:srgbClr val="FFFFFF"/>
            </a:solidFill>
            <a:prstDash val="solid"/>
          </a:ln>
        </p:spPr>
      </p:sp>
      <p:sp>
        <p:nvSpPr>
          <p:cNvPr id="21" name="Text 19"/>
          <p:cNvSpPr/>
          <p:nvPr/>
        </p:nvSpPr>
        <p:spPr>
          <a:xfrm>
            <a:off x="7598664" y="1344168"/>
            <a:ext cx="256032" cy="256032"/>
          </a:xfrm>
          <a:prstGeom prst="rect">
            <a:avLst/>
          </a:prstGeom>
          <a:noFill/>
          <a:ln/>
        </p:spPr>
        <p:txBody>
          <a:bodyPr wrap="square" lIns="0" tIns="0" rIns="0" bIns="0" rtlCol="0" anchor="ctr"/>
          <a:lstStyle/>
          <a:p>
            <a:pPr marL="0" indent="0">
              <a:buNone/>
            </a:pPr>
            <a:r>
              <a:rPr lang="en-US" sz="1000" dirty="0">
                <a:solidFill>
                  <a:srgbClr val="FFFFFF"/>
                </a:solidFill>
              </a:rPr>
              <a:t>▶</a:t>
            </a:r>
            <a:endParaRPr lang="en-US" sz="1000" dirty="0"/>
          </a:p>
        </p:txBody>
      </p:sp>
      <p:sp>
        <p:nvSpPr>
          <p:cNvPr id="22" name="Shape 20"/>
          <p:cNvSpPr/>
          <p:nvPr/>
        </p:nvSpPr>
        <p:spPr>
          <a:xfrm>
            <a:off x="7571232" y="1143000"/>
            <a:ext cx="1536192" cy="658368"/>
          </a:xfrm>
          <a:prstGeom prst="rect">
            <a:avLst/>
          </a:prstGeom>
          <a:solidFill>
            <a:srgbClr val="F59E0B"/>
          </a:solidFill>
          <a:ln w="12700">
            <a:solidFill>
              <a:srgbClr val="F59E0B"/>
            </a:solidFill>
            <a:prstDash val="solid"/>
          </a:ln>
          <a:effectLst>
            <a:outerShdw blurRad="76200" dist="25400" dir="8100000" algn="bl" rotWithShape="0">
              <a:srgbClr val="000000">
                <a:alpha val="10000"/>
              </a:srgbClr>
            </a:outerShdw>
          </a:effectLst>
        </p:spPr>
      </p:sp>
      <p:sp>
        <p:nvSpPr>
          <p:cNvPr id="23" name="Text 21"/>
          <p:cNvSpPr/>
          <p:nvPr/>
        </p:nvSpPr>
        <p:spPr>
          <a:xfrm>
            <a:off x="7571232" y="1143000"/>
            <a:ext cx="1536192" cy="65836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Seat Map +</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Meal + Services</a:t>
            </a:r>
            <a:endParaRPr lang="en-US" sz="950" dirty="0"/>
          </a:p>
        </p:txBody>
      </p:sp>
      <p:sp>
        <p:nvSpPr>
          <p:cNvPr id="24" name="Shape 22"/>
          <p:cNvSpPr/>
          <p:nvPr/>
        </p:nvSpPr>
        <p:spPr>
          <a:xfrm>
            <a:off x="8339328" y="1801368"/>
            <a:ext cx="0" cy="649224"/>
          </a:xfrm>
          <a:prstGeom prst="line">
            <a:avLst/>
          </a:prstGeom>
          <a:noFill/>
          <a:ln w="19050">
            <a:solidFill>
              <a:srgbClr val="FFFFFF"/>
            </a:solidFill>
            <a:prstDash val="solid"/>
          </a:ln>
        </p:spPr>
      </p:sp>
      <p:sp>
        <p:nvSpPr>
          <p:cNvPr id="25" name="Text 23"/>
          <p:cNvSpPr/>
          <p:nvPr/>
        </p:nvSpPr>
        <p:spPr>
          <a:xfrm>
            <a:off x="8254130" y="2098474"/>
            <a:ext cx="571570" cy="553285"/>
          </a:xfrm>
          <a:prstGeom prst="rect">
            <a:avLst/>
          </a:prstGeom>
          <a:noFill/>
          <a:ln/>
        </p:spPr>
        <p:txBody>
          <a:bodyPr wrap="square" lIns="0" tIns="0" rIns="0" bIns="0" rtlCol="0" anchor="ctr"/>
          <a:lstStyle/>
          <a:p>
            <a:pPr marL="0" indent="0">
              <a:buNone/>
            </a:pPr>
            <a:r>
              <a:rPr lang="en-US" sz="1400" dirty="0">
                <a:solidFill>
                  <a:srgbClr val="FFFFFF"/>
                </a:solidFill>
              </a:rPr>
              <a:t>▼</a:t>
            </a:r>
            <a:endParaRPr lang="en-US" sz="1400" dirty="0"/>
          </a:p>
        </p:txBody>
      </p:sp>
      <p:sp>
        <p:nvSpPr>
          <p:cNvPr id="26" name="Shape 24"/>
          <p:cNvSpPr/>
          <p:nvPr/>
        </p:nvSpPr>
        <p:spPr>
          <a:xfrm>
            <a:off x="7571232" y="2450592"/>
            <a:ext cx="1536192" cy="658368"/>
          </a:xfrm>
          <a:prstGeom prst="rect">
            <a:avLst/>
          </a:prstGeom>
          <a:solidFill>
            <a:srgbClr val="F59E0B"/>
          </a:solidFill>
          <a:ln w="12700">
            <a:solidFill>
              <a:srgbClr val="F59E0B"/>
            </a:solidFill>
            <a:prstDash val="solid"/>
          </a:ln>
          <a:effectLst>
            <a:outerShdw blurRad="76200" dist="25400" dir="8100000" algn="bl" rotWithShape="0">
              <a:srgbClr val="000000">
                <a:alpha val="10000"/>
              </a:srgbClr>
            </a:outerShdw>
          </a:effectLst>
        </p:spPr>
      </p:sp>
      <p:sp>
        <p:nvSpPr>
          <p:cNvPr id="27" name="Text 25"/>
          <p:cNvSpPr/>
          <p:nvPr/>
        </p:nvSpPr>
        <p:spPr>
          <a:xfrm>
            <a:off x="7571232" y="2450592"/>
            <a:ext cx="1536192" cy="65836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Payment</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(Card/UPI/QR)</a:t>
            </a:r>
            <a:endParaRPr lang="en-US" sz="950" dirty="0"/>
          </a:p>
        </p:txBody>
      </p:sp>
      <p:sp>
        <p:nvSpPr>
          <p:cNvPr id="28" name="Shape 26"/>
          <p:cNvSpPr/>
          <p:nvPr/>
        </p:nvSpPr>
        <p:spPr>
          <a:xfrm>
            <a:off x="7022592" y="2779776"/>
            <a:ext cx="548640" cy="0"/>
          </a:xfrm>
          <a:prstGeom prst="line">
            <a:avLst/>
          </a:prstGeom>
          <a:noFill/>
          <a:ln w="19050">
            <a:solidFill>
              <a:srgbClr val="FFFFFF"/>
            </a:solidFill>
            <a:prstDash val="solid"/>
          </a:ln>
        </p:spPr>
      </p:sp>
      <p:sp>
        <p:nvSpPr>
          <p:cNvPr id="29" name="Text 27"/>
          <p:cNvSpPr/>
          <p:nvPr/>
        </p:nvSpPr>
        <p:spPr>
          <a:xfrm>
            <a:off x="7022592" y="2651760"/>
            <a:ext cx="256032" cy="256032"/>
          </a:xfrm>
          <a:prstGeom prst="rect">
            <a:avLst/>
          </a:prstGeom>
          <a:noFill/>
          <a:ln/>
        </p:spPr>
        <p:txBody>
          <a:bodyPr wrap="square" lIns="0" tIns="0" rIns="0" bIns="0" rtlCol="0" anchor="ctr"/>
          <a:lstStyle/>
          <a:p>
            <a:pPr marL="0" indent="0">
              <a:buNone/>
            </a:pPr>
            <a:r>
              <a:rPr lang="en-US" sz="1000" dirty="0">
                <a:solidFill>
                  <a:srgbClr val="FFFFFF"/>
                </a:solidFill>
              </a:rPr>
              <a:t>◀</a:t>
            </a:r>
            <a:endParaRPr lang="en-US" sz="1000" dirty="0"/>
          </a:p>
        </p:txBody>
      </p:sp>
      <p:sp>
        <p:nvSpPr>
          <p:cNvPr id="30" name="Shape 28"/>
          <p:cNvSpPr/>
          <p:nvPr/>
        </p:nvSpPr>
        <p:spPr>
          <a:xfrm>
            <a:off x="5742432" y="2450592"/>
            <a:ext cx="1536192" cy="658368"/>
          </a:xfrm>
          <a:prstGeom prst="rect">
            <a:avLst/>
          </a:prstGeom>
          <a:solidFill>
            <a:srgbClr val="10B981"/>
          </a:solidFill>
          <a:ln w="12700">
            <a:solidFill>
              <a:srgbClr val="10B981"/>
            </a:solidFill>
            <a:prstDash val="solid"/>
          </a:ln>
          <a:effectLst>
            <a:outerShdw blurRad="76200" dist="25400" dir="8100000" algn="bl" rotWithShape="0">
              <a:srgbClr val="000000">
                <a:alpha val="10000"/>
              </a:srgbClr>
            </a:outerShdw>
          </a:effectLst>
        </p:spPr>
      </p:sp>
      <p:sp>
        <p:nvSpPr>
          <p:cNvPr id="31" name="Text 29"/>
          <p:cNvSpPr/>
          <p:nvPr/>
        </p:nvSpPr>
        <p:spPr>
          <a:xfrm>
            <a:off x="5742432" y="2450592"/>
            <a:ext cx="1536192" cy="65836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Booking</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Confirmed + PNR</a:t>
            </a:r>
            <a:endParaRPr lang="en-US" sz="950" dirty="0"/>
          </a:p>
        </p:txBody>
      </p:sp>
      <p:sp>
        <p:nvSpPr>
          <p:cNvPr id="32" name="Shape 30"/>
          <p:cNvSpPr/>
          <p:nvPr/>
        </p:nvSpPr>
        <p:spPr>
          <a:xfrm>
            <a:off x="5193792" y="2779776"/>
            <a:ext cx="548640" cy="0"/>
          </a:xfrm>
          <a:prstGeom prst="line">
            <a:avLst/>
          </a:prstGeom>
          <a:noFill/>
          <a:ln w="19050">
            <a:solidFill>
              <a:srgbClr val="FFFFFF"/>
            </a:solidFill>
            <a:prstDash val="solid"/>
          </a:ln>
        </p:spPr>
      </p:sp>
      <p:sp>
        <p:nvSpPr>
          <p:cNvPr id="33" name="Text 31"/>
          <p:cNvSpPr/>
          <p:nvPr/>
        </p:nvSpPr>
        <p:spPr>
          <a:xfrm>
            <a:off x="5193792" y="2651760"/>
            <a:ext cx="256032" cy="256032"/>
          </a:xfrm>
          <a:prstGeom prst="rect">
            <a:avLst/>
          </a:prstGeom>
          <a:noFill/>
          <a:ln/>
        </p:spPr>
        <p:txBody>
          <a:bodyPr wrap="square" lIns="0" tIns="0" rIns="0" bIns="0" rtlCol="0" anchor="ctr"/>
          <a:lstStyle/>
          <a:p>
            <a:pPr marL="0" indent="0">
              <a:buNone/>
            </a:pPr>
            <a:r>
              <a:rPr lang="en-US" sz="1000" dirty="0">
                <a:solidFill>
                  <a:srgbClr val="FFFFFF"/>
                </a:solidFill>
              </a:rPr>
              <a:t>◀</a:t>
            </a:r>
            <a:endParaRPr lang="en-US" sz="1000" dirty="0"/>
          </a:p>
        </p:txBody>
      </p:sp>
      <p:sp>
        <p:nvSpPr>
          <p:cNvPr id="34" name="Shape 32"/>
          <p:cNvSpPr/>
          <p:nvPr/>
        </p:nvSpPr>
        <p:spPr>
          <a:xfrm>
            <a:off x="3913632" y="2450592"/>
            <a:ext cx="1536192" cy="658368"/>
          </a:xfrm>
          <a:prstGeom prst="rect">
            <a:avLst/>
          </a:prstGeom>
          <a:solidFill>
            <a:srgbClr val="10B981"/>
          </a:solidFill>
          <a:ln w="12700">
            <a:solidFill>
              <a:srgbClr val="10B981"/>
            </a:solidFill>
            <a:prstDash val="solid"/>
          </a:ln>
          <a:effectLst>
            <a:outerShdw blurRad="76200" dist="25400" dir="8100000" algn="bl" rotWithShape="0">
              <a:srgbClr val="000000">
                <a:alpha val="10000"/>
              </a:srgbClr>
            </a:outerShdw>
          </a:effectLst>
        </p:spPr>
      </p:sp>
      <p:sp>
        <p:nvSpPr>
          <p:cNvPr id="35" name="Text 33"/>
          <p:cNvSpPr/>
          <p:nvPr/>
        </p:nvSpPr>
        <p:spPr>
          <a:xfrm>
            <a:off x="3913632" y="2450592"/>
            <a:ext cx="1536192" cy="65836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PDF Ticket</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Download</a:t>
            </a:r>
            <a:endParaRPr lang="en-US" sz="950" dirty="0"/>
          </a:p>
        </p:txBody>
      </p:sp>
      <p:sp>
        <p:nvSpPr>
          <p:cNvPr id="36" name="Shape 34"/>
          <p:cNvSpPr/>
          <p:nvPr/>
        </p:nvSpPr>
        <p:spPr>
          <a:xfrm>
            <a:off x="3364992" y="2779776"/>
            <a:ext cx="548640" cy="0"/>
          </a:xfrm>
          <a:prstGeom prst="line">
            <a:avLst/>
          </a:prstGeom>
          <a:noFill/>
          <a:ln w="19050">
            <a:solidFill>
              <a:srgbClr val="FFFFFF"/>
            </a:solidFill>
            <a:prstDash val="solid"/>
          </a:ln>
        </p:spPr>
      </p:sp>
      <p:sp>
        <p:nvSpPr>
          <p:cNvPr id="37" name="Text 35"/>
          <p:cNvSpPr/>
          <p:nvPr/>
        </p:nvSpPr>
        <p:spPr>
          <a:xfrm>
            <a:off x="3364992" y="2651760"/>
            <a:ext cx="256032" cy="256032"/>
          </a:xfrm>
          <a:prstGeom prst="rect">
            <a:avLst/>
          </a:prstGeom>
          <a:noFill/>
          <a:ln/>
        </p:spPr>
        <p:txBody>
          <a:bodyPr wrap="square" lIns="0" tIns="0" rIns="0" bIns="0" rtlCol="0" anchor="ctr"/>
          <a:lstStyle/>
          <a:p>
            <a:pPr marL="0" indent="0">
              <a:buNone/>
            </a:pPr>
            <a:r>
              <a:rPr lang="en-US" sz="1000" dirty="0">
                <a:solidFill>
                  <a:srgbClr val="FFFFFF"/>
                </a:solidFill>
              </a:rPr>
              <a:t>◀</a:t>
            </a:r>
            <a:endParaRPr lang="en-US" sz="1000" dirty="0"/>
          </a:p>
        </p:txBody>
      </p:sp>
      <p:sp>
        <p:nvSpPr>
          <p:cNvPr id="38" name="Shape 36"/>
          <p:cNvSpPr/>
          <p:nvPr/>
        </p:nvSpPr>
        <p:spPr>
          <a:xfrm>
            <a:off x="2084832" y="2450592"/>
            <a:ext cx="1536192" cy="658368"/>
          </a:xfrm>
          <a:prstGeom prst="rect">
            <a:avLst/>
          </a:prstGeom>
          <a:solidFill>
            <a:srgbClr val="10B981"/>
          </a:solidFill>
          <a:ln w="12700">
            <a:solidFill>
              <a:srgbClr val="10B981"/>
            </a:solidFill>
            <a:prstDash val="solid"/>
          </a:ln>
          <a:effectLst>
            <a:outerShdw blurRad="76200" dist="25400" dir="8100000" algn="bl" rotWithShape="0">
              <a:srgbClr val="000000">
                <a:alpha val="10000"/>
              </a:srgbClr>
            </a:outerShdw>
          </a:effectLst>
        </p:spPr>
      </p:sp>
      <p:sp>
        <p:nvSpPr>
          <p:cNvPr id="39" name="Text 37"/>
          <p:cNvSpPr/>
          <p:nvPr/>
        </p:nvSpPr>
        <p:spPr>
          <a:xfrm>
            <a:off x="2084832" y="2450592"/>
            <a:ext cx="1536192" cy="65836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Web Check-In</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(48h window)</a:t>
            </a:r>
            <a:endParaRPr lang="en-US" sz="950" dirty="0"/>
          </a:p>
        </p:txBody>
      </p:sp>
      <p:sp>
        <p:nvSpPr>
          <p:cNvPr id="40" name="Shape 38"/>
          <p:cNvSpPr/>
          <p:nvPr/>
        </p:nvSpPr>
        <p:spPr>
          <a:xfrm>
            <a:off x="1536192" y="2779776"/>
            <a:ext cx="548640" cy="0"/>
          </a:xfrm>
          <a:prstGeom prst="line">
            <a:avLst/>
          </a:prstGeom>
          <a:noFill/>
          <a:ln w="19050">
            <a:solidFill>
              <a:srgbClr val="FFFFFF"/>
            </a:solidFill>
            <a:prstDash val="solid"/>
          </a:ln>
        </p:spPr>
      </p:sp>
      <p:sp>
        <p:nvSpPr>
          <p:cNvPr id="41" name="Text 39"/>
          <p:cNvSpPr/>
          <p:nvPr/>
        </p:nvSpPr>
        <p:spPr>
          <a:xfrm>
            <a:off x="1536192" y="2651760"/>
            <a:ext cx="256032" cy="256032"/>
          </a:xfrm>
          <a:prstGeom prst="rect">
            <a:avLst/>
          </a:prstGeom>
          <a:noFill/>
          <a:ln/>
        </p:spPr>
        <p:txBody>
          <a:bodyPr wrap="square" lIns="0" tIns="0" rIns="0" bIns="0" rtlCol="0" anchor="ctr"/>
          <a:lstStyle/>
          <a:p>
            <a:pPr marL="0" indent="0">
              <a:buNone/>
            </a:pPr>
            <a:r>
              <a:rPr lang="en-US" sz="1000" dirty="0">
                <a:solidFill>
                  <a:srgbClr val="FFFFFF"/>
                </a:solidFill>
              </a:rPr>
              <a:t>◀</a:t>
            </a:r>
            <a:endParaRPr lang="en-US" sz="1000" dirty="0"/>
          </a:p>
        </p:txBody>
      </p:sp>
      <p:sp>
        <p:nvSpPr>
          <p:cNvPr id="42" name="Shape 40"/>
          <p:cNvSpPr/>
          <p:nvPr/>
        </p:nvSpPr>
        <p:spPr>
          <a:xfrm>
            <a:off x="256032" y="2450592"/>
            <a:ext cx="1536192" cy="658368"/>
          </a:xfrm>
          <a:prstGeom prst="rect">
            <a:avLst/>
          </a:prstGeom>
          <a:solidFill>
            <a:srgbClr val="8B5CF6"/>
          </a:solidFill>
          <a:ln w="12700">
            <a:solidFill>
              <a:srgbClr val="8B5CF6"/>
            </a:solidFill>
            <a:prstDash val="solid"/>
          </a:ln>
          <a:effectLst>
            <a:outerShdw blurRad="76200" dist="25400" dir="8100000" algn="bl" rotWithShape="0">
              <a:srgbClr val="000000">
                <a:alpha val="10000"/>
              </a:srgbClr>
            </a:outerShdw>
          </a:effectLst>
        </p:spPr>
      </p:sp>
      <p:sp>
        <p:nvSpPr>
          <p:cNvPr id="43" name="Text 41"/>
          <p:cNvSpPr/>
          <p:nvPr/>
        </p:nvSpPr>
        <p:spPr>
          <a:xfrm>
            <a:off x="256032" y="2450592"/>
            <a:ext cx="1536192" cy="65836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Admin: Notify /</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Delay / Revenue</a:t>
            </a:r>
            <a:endParaRPr lang="en-US" sz="950" dirty="0"/>
          </a:p>
        </p:txBody>
      </p:sp>
      <p:sp>
        <p:nvSpPr>
          <p:cNvPr id="44" name="Shape 42"/>
          <p:cNvSpPr/>
          <p:nvPr/>
        </p:nvSpPr>
        <p:spPr>
          <a:xfrm>
            <a:off x="256032" y="4407408"/>
            <a:ext cx="182880" cy="182880"/>
          </a:xfrm>
          <a:prstGeom prst="rect">
            <a:avLst/>
          </a:prstGeom>
          <a:solidFill>
            <a:srgbClr val="0EA5E9"/>
          </a:solidFill>
          <a:ln w="12700">
            <a:solidFill>
              <a:srgbClr val="0EA5E9"/>
            </a:solidFill>
            <a:prstDash val="solid"/>
          </a:ln>
        </p:spPr>
      </p:sp>
      <p:sp>
        <p:nvSpPr>
          <p:cNvPr id="45" name="Text 43"/>
          <p:cNvSpPr/>
          <p:nvPr/>
        </p:nvSpPr>
        <p:spPr>
          <a:xfrm>
            <a:off x="493776" y="4389120"/>
            <a:ext cx="1828800" cy="219456"/>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Unauthenticated</a:t>
            </a:r>
            <a:endParaRPr lang="en-US" sz="900" dirty="0"/>
          </a:p>
        </p:txBody>
      </p:sp>
      <p:sp>
        <p:nvSpPr>
          <p:cNvPr id="46" name="Shape 44"/>
          <p:cNvSpPr/>
          <p:nvPr/>
        </p:nvSpPr>
        <p:spPr>
          <a:xfrm>
            <a:off x="2450592" y="4407408"/>
            <a:ext cx="182880" cy="182880"/>
          </a:xfrm>
          <a:prstGeom prst="rect">
            <a:avLst/>
          </a:prstGeom>
          <a:solidFill>
            <a:srgbClr val="F59E0B"/>
          </a:solidFill>
          <a:ln w="12700">
            <a:solidFill>
              <a:srgbClr val="F59E0B"/>
            </a:solidFill>
            <a:prstDash val="solid"/>
          </a:ln>
        </p:spPr>
      </p:sp>
      <p:sp>
        <p:nvSpPr>
          <p:cNvPr id="47" name="Text 45"/>
          <p:cNvSpPr/>
          <p:nvPr/>
        </p:nvSpPr>
        <p:spPr>
          <a:xfrm>
            <a:off x="2688336" y="4389120"/>
            <a:ext cx="1828800" cy="219456"/>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Booking steps</a:t>
            </a:r>
            <a:endParaRPr lang="en-US" sz="900" dirty="0"/>
          </a:p>
        </p:txBody>
      </p:sp>
      <p:sp>
        <p:nvSpPr>
          <p:cNvPr id="48" name="Shape 46"/>
          <p:cNvSpPr/>
          <p:nvPr/>
        </p:nvSpPr>
        <p:spPr>
          <a:xfrm>
            <a:off x="4645152" y="4407408"/>
            <a:ext cx="182880" cy="182880"/>
          </a:xfrm>
          <a:prstGeom prst="rect">
            <a:avLst/>
          </a:prstGeom>
          <a:solidFill>
            <a:srgbClr val="10B981"/>
          </a:solidFill>
          <a:ln w="12700">
            <a:solidFill>
              <a:srgbClr val="10B981"/>
            </a:solidFill>
            <a:prstDash val="solid"/>
          </a:ln>
        </p:spPr>
      </p:sp>
      <p:sp>
        <p:nvSpPr>
          <p:cNvPr id="49" name="Text 47"/>
          <p:cNvSpPr/>
          <p:nvPr/>
        </p:nvSpPr>
        <p:spPr>
          <a:xfrm>
            <a:off x="4882896" y="4389120"/>
            <a:ext cx="1828800" cy="219456"/>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Post-payment</a:t>
            </a:r>
            <a:endParaRPr lang="en-US" sz="900" dirty="0"/>
          </a:p>
        </p:txBody>
      </p:sp>
      <p:sp>
        <p:nvSpPr>
          <p:cNvPr id="50" name="Shape 48"/>
          <p:cNvSpPr/>
          <p:nvPr/>
        </p:nvSpPr>
        <p:spPr>
          <a:xfrm>
            <a:off x="6839712" y="4407408"/>
            <a:ext cx="182880" cy="182880"/>
          </a:xfrm>
          <a:prstGeom prst="rect">
            <a:avLst/>
          </a:prstGeom>
          <a:solidFill>
            <a:srgbClr val="8B5CF6"/>
          </a:solidFill>
          <a:ln w="12700">
            <a:solidFill>
              <a:srgbClr val="8B5CF6"/>
            </a:solidFill>
            <a:prstDash val="solid"/>
          </a:ln>
        </p:spPr>
      </p:sp>
      <p:sp>
        <p:nvSpPr>
          <p:cNvPr id="51" name="Text 49"/>
          <p:cNvSpPr/>
          <p:nvPr/>
        </p:nvSpPr>
        <p:spPr>
          <a:xfrm>
            <a:off x="7077456" y="4389120"/>
            <a:ext cx="1828800" cy="219456"/>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Admin actions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w="12700">
            <a:solidFill>
              <a:srgbClr val="0EA5E9"/>
            </a:solidFill>
            <a:prstDash val="solid"/>
          </a:ln>
        </p:spPr>
      </p:sp>
      <p:sp>
        <p:nvSpPr>
          <p:cNvPr id="3" name="Text 1"/>
          <p:cNvSpPr/>
          <p:nvPr/>
        </p:nvSpPr>
        <p:spPr>
          <a:xfrm>
            <a:off x="256032" y="109728"/>
            <a:ext cx="3108960" cy="530352"/>
          </a:xfrm>
          <a:prstGeom prst="rect">
            <a:avLst/>
          </a:prstGeom>
          <a:noFill/>
          <a:ln/>
        </p:spPr>
        <p:txBody>
          <a:bodyPr wrap="square" lIns="0" tIns="0" rIns="0" bIns="0" rtlCol="0" anchor="ctr"/>
          <a:lstStyle/>
          <a:p>
            <a:pPr marL="0" indent="0">
              <a:buNone/>
            </a:pPr>
            <a:r>
              <a:rPr lang="en-US" sz="2700" b="1" dirty="0">
                <a:solidFill>
                  <a:srgbClr val="0B1437"/>
                </a:solidFill>
                <a:latin typeface="Trebuchet MS" pitchFamily="34" charset="0"/>
                <a:ea typeface="Trebuchet MS" pitchFamily="34" charset="-122"/>
                <a:cs typeface="Trebuchet MS" pitchFamily="34" charset="-120"/>
              </a:rPr>
              <a:t>Frontend Views</a:t>
            </a:r>
            <a:endParaRPr lang="en-US" sz="2700" dirty="0"/>
          </a:p>
        </p:txBody>
      </p:sp>
      <p:sp>
        <p:nvSpPr>
          <p:cNvPr id="4" name="Text 2"/>
          <p:cNvSpPr/>
          <p:nvPr/>
        </p:nvSpPr>
        <p:spPr>
          <a:xfrm>
            <a:off x="256032" y="658368"/>
            <a:ext cx="3108960" cy="219456"/>
          </a:xfrm>
          <a:prstGeom prst="rect">
            <a:avLst/>
          </a:prstGeom>
          <a:noFill/>
          <a:ln/>
        </p:spPr>
        <p:txBody>
          <a:bodyPr wrap="square" lIns="0" tIns="0" rIns="0" bIns="0" rtlCol="0" anchor="ctr"/>
          <a:lstStyle/>
          <a:p>
            <a:pPr marL="0" indent="0">
              <a:buNone/>
            </a:pPr>
            <a:r>
              <a:rPr lang="en-US" sz="1050" i="1" dirty="0">
                <a:solidFill>
                  <a:srgbClr val="334155"/>
                </a:solidFill>
                <a:latin typeface="Calibri" pitchFamily="34" charset="0"/>
                <a:ea typeface="Calibri" pitchFamily="34" charset="-122"/>
                <a:cs typeface="Calibri" pitchFamily="34" charset="-120"/>
              </a:rPr>
              <a:t>Key screens of the SkyWay web application</a:t>
            </a:r>
            <a:endParaRPr lang="en-US" sz="1050" dirty="0"/>
          </a:p>
        </p:txBody>
      </p:sp>
      <p:sp>
        <p:nvSpPr>
          <p:cNvPr id="5" name="Shape 3"/>
          <p:cNvSpPr/>
          <p:nvPr/>
        </p:nvSpPr>
        <p:spPr>
          <a:xfrm>
            <a:off x="228600" y="914400"/>
            <a:ext cx="3182112" cy="1920240"/>
          </a:xfrm>
          <a:prstGeom prst="rect">
            <a:avLst/>
          </a:prstGeom>
          <a:solidFill>
            <a:srgbClr val="FFFFFF"/>
          </a:solidFill>
          <a:ln w="7620">
            <a:solidFill>
              <a:srgbClr val="D1DAF0"/>
            </a:solidFill>
            <a:prstDash val="solid"/>
          </a:ln>
          <a:effectLst>
            <a:outerShdw blurRad="76200" dist="25400" dir="8100000" algn="bl" rotWithShape="0">
              <a:srgbClr val="000000">
                <a:alpha val="10000"/>
              </a:srgbClr>
            </a:outerShdw>
          </a:effectLst>
        </p:spPr>
      </p:sp>
      <p:sp>
        <p:nvSpPr>
          <p:cNvPr id="6" name="Shape 4"/>
          <p:cNvSpPr/>
          <p:nvPr/>
        </p:nvSpPr>
        <p:spPr>
          <a:xfrm>
            <a:off x="228600" y="914400"/>
            <a:ext cx="3182112" cy="402336"/>
          </a:xfrm>
          <a:prstGeom prst="rect">
            <a:avLst/>
          </a:prstGeom>
          <a:solidFill>
            <a:srgbClr val="0EA5E9"/>
          </a:solidFill>
          <a:ln w="12700">
            <a:solidFill>
              <a:srgbClr val="0EA5E9"/>
            </a:solidFill>
            <a:prstDash val="solid"/>
          </a:ln>
        </p:spPr>
      </p:sp>
      <p:sp>
        <p:nvSpPr>
          <p:cNvPr id="7" name="Text 5"/>
          <p:cNvSpPr/>
          <p:nvPr/>
        </p:nvSpPr>
        <p:spPr>
          <a:xfrm>
            <a:off x="329184" y="950976"/>
            <a:ext cx="2971800" cy="329184"/>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 Login / SignUp</a:t>
            </a:r>
            <a:endParaRPr lang="en-US" sz="1300" dirty="0"/>
          </a:p>
        </p:txBody>
      </p:sp>
      <p:sp>
        <p:nvSpPr>
          <p:cNvPr id="8" name="Text 6"/>
          <p:cNvSpPr/>
          <p:nvPr/>
        </p:nvSpPr>
        <p:spPr>
          <a:xfrm>
            <a:off x="329184" y="1389888"/>
            <a:ext cx="2980944" cy="135331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Login via email + password</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OTP login (phone or email)</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Register with name, phone, OTP</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Admin: admin@skyway.com / Admin@123</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Demo: demo@skyway.com / Demo@123</a:t>
            </a:r>
            <a:endParaRPr lang="en-US" sz="1050" dirty="0"/>
          </a:p>
        </p:txBody>
      </p:sp>
      <p:sp>
        <p:nvSpPr>
          <p:cNvPr id="9" name="Shape 7"/>
          <p:cNvSpPr/>
          <p:nvPr/>
        </p:nvSpPr>
        <p:spPr>
          <a:xfrm>
            <a:off x="228600" y="2926080"/>
            <a:ext cx="3182112" cy="1920240"/>
          </a:xfrm>
          <a:prstGeom prst="rect">
            <a:avLst/>
          </a:prstGeom>
          <a:solidFill>
            <a:srgbClr val="FFFFFF"/>
          </a:solidFill>
          <a:ln w="7620">
            <a:solidFill>
              <a:srgbClr val="D1DAF0"/>
            </a:solidFill>
            <a:prstDash val="solid"/>
          </a:ln>
          <a:effectLst>
            <a:outerShdw blurRad="76200" dist="25400" dir="8100000" algn="bl" rotWithShape="0">
              <a:srgbClr val="000000">
                <a:alpha val="10000"/>
              </a:srgbClr>
            </a:outerShdw>
          </a:effectLst>
        </p:spPr>
      </p:sp>
      <p:sp>
        <p:nvSpPr>
          <p:cNvPr id="10" name="Shape 8"/>
          <p:cNvSpPr/>
          <p:nvPr/>
        </p:nvSpPr>
        <p:spPr>
          <a:xfrm>
            <a:off x="228600" y="2926080"/>
            <a:ext cx="3182112" cy="402336"/>
          </a:xfrm>
          <a:prstGeom prst="rect">
            <a:avLst/>
          </a:prstGeom>
          <a:solidFill>
            <a:srgbClr val="0369A1"/>
          </a:solidFill>
          <a:ln w="12700">
            <a:solidFill>
              <a:srgbClr val="0369A1"/>
            </a:solidFill>
            <a:prstDash val="solid"/>
          </a:ln>
        </p:spPr>
      </p:sp>
      <p:sp>
        <p:nvSpPr>
          <p:cNvPr id="11" name="Text 9"/>
          <p:cNvSpPr/>
          <p:nvPr/>
        </p:nvSpPr>
        <p:spPr>
          <a:xfrm>
            <a:off x="329184" y="2962656"/>
            <a:ext cx="2971800" cy="329184"/>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 Home — Flight Search</a:t>
            </a:r>
            <a:endParaRPr lang="en-US" sz="1300" dirty="0"/>
          </a:p>
        </p:txBody>
      </p:sp>
      <p:sp>
        <p:nvSpPr>
          <p:cNvPr id="12" name="Text 10"/>
          <p:cNvSpPr/>
          <p:nvPr/>
        </p:nvSpPr>
        <p:spPr>
          <a:xfrm>
            <a:off x="329184" y="3401568"/>
            <a:ext cx="2980944" cy="135331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Hero banner with 6 airline cards</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One Way / Round Trip tabs</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12 airports · 6 airlines</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Search returns real flight results</a:t>
            </a:r>
            <a:endParaRPr lang="en-US" sz="1050" dirty="0"/>
          </a:p>
          <a:p>
            <a:pPr marL="342900" indent="-342900">
              <a:spcAft>
                <a:spcPts val="400"/>
              </a:spcAft>
              <a:buSzPct val="100000"/>
              <a:buChar char="•"/>
            </a:pPr>
            <a:r>
              <a:rPr lang="en-US" sz="1050" dirty="0">
                <a:solidFill>
                  <a:srgbClr val="334155"/>
                </a:solidFill>
                <a:latin typeface="Calibri" pitchFamily="34" charset="0"/>
                <a:ea typeface="Calibri" pitchFamily="34" charset="-122"/>
                <a:cs typeface="Calibri" pitchFamily="34" charset="-120"/>
              </a:rPr>
              <a:t>Economy / Business / First pricing</a:t>
            </a:r>
            <a:endParaRPr lang="en-US" sz="1050" dirty="0"/>
          </a:p>
        </p:txBody>
      </p:sp>
      <p:sp>
        <p:nvSpPr>
          <p:cNvPr id="13" name="Shape 11"/>
          <p:cNvSpPr/>
          <p:nvPr/>
        </p:nvSpPr>
        <p:spPr>
          <a:xfrm>
            <a:off x="3575304" y="137160"/>
            <a:ext cx="5449824" cy="4937760"/>
          </a:xfrm>
          <a:prstGeom prst="rect">
            <a:avLst/>
          </a:prstGeom>
          <a:solidFill>
            <a:srgbClr val="C7D9F5"/>
          </a:solidFill>
          <a:ln w="12700">
            <a:solidFill>
              <a:srgbClr val="C7D9F5"/>
            </a:solidFill>
            <a:prstDash val="solid"/>
          </a:ln>
        </p:spPr>
      </p:sp>
      <p:sp>
        <p:nvSpPr>
          <p:cNvPr id="14" name="Shape 12"/>
          <p:cNvSpPr/>
          <p:nvPr/>
        </p:nvSpPr>
        <p:spPr>
          <a:xfrm>
            <a:off x="3529584" y="91440"/>
            <a:ext cx="5449824" cy="4937760"/>
          </a:xfrm>
          <a:prstGeom prst="rect">
            <a:avLst/>
          </a:prstGeom>
          <a:solidFill>
            <a:srgbClr val="FFFFFF"/>
          </a:solidFill>
          <a:ln w="12700">
            <a:solidFill>
              <a:srgbClr val="C7D9F5"/>
            </a:solidFill>
            <a:prstDash val="solid"/>
          </a:ln>
        </p:spPr>
      </p:sp>
      <p:sp>
        <p:nvSpPr>
          <p:cNvPr id="15" name="Shape 13"/>
          <p:cNvSpPr/>
          <p:nvPr/>
        </p:nvSpPr>
        <p:spPr>
          <a:xfrm>
            <a:off x="3529584" y="91440"/>
            <a:ext cx="5449824" cy="256032"/>
          </a:xfrm>
          <a:prstGeom prst="rect">
            <a:avLst/>
          </a:prstGeom>
          <a:solidFill>
            <a:srgbClr val="E8EEF8"/>
          </a:solidFill>
          <a:ln w="6350">
            <a:solidFill>
              <a:srgbClr val="D1DAF0"/>
            </a:solidFill>
            <a:prstDash val="solid"/>
          </a:ln>
        </p:spPr>
      </p:sp>
      <p:sp>
        <p:nvSpPr>
          <p:cNvPr id="16" name="Shape 14"/>
          <p:cNvSpPr/>
          <p:nvPr/>
        </p:nvSpPr>
        <p:spPr>
          <a:xfrm>
            <a:off x="3639312" y="155448"/>
            <a:ext cx="118872" cy="118872"/>
          </a:xfrm>
          <a:prstGeom prst="ellipse">
            <a:avLst/>
          </a:prstGeom>
          <a:solidFill>
            <a:srgbClr val="EF4444"/>
          </a:solidFill>
          <a:ln w="12700">
            <a:solidFill>
              <a:srgbClr val="EF4444"/>
            </a:solidFill>
            <a:prstDash val="solid"/>
          </a:ln>
        </p:spPr>
      </p:sp>
      <p:sp>
        <p:nvSpPr>
          <p:cNvPr id="17" name="Shape 15"/>
          <p:cNvSpPr/>
          <p:nvPr/>
        </p:nvSpPr>
        <p:spPr>
          <a:xfrm>
            <a:off x="3776472" y="155448"/>
            <a:ext cx="118872" cy="118872"/>
          </a:xfrm>
          <a:prstGeom prst="ellipse">
            <a:avLst/>
          </a:prstGeom>
          <a:solidFill>
            <a:srgbClr val="F59E0B"/>
          </a:solidFill>
          <a:ln w="12700">
            <a:solidFill>
              <a:srgbClr val="F59E0B"/>
            </a:solidFill>
            <a:prstDash val="solid"/>
          </a:ln>
        </p:spPr>
      </p:sp>
      <p:sp>
        <p:nvSpPr>
          <p:cNvPr id="18" name="Shape 16"/>
          <p:cNvSpPr/>
          <p:nvPr/>
        </p:nvSpPr>
        <p:spPr>
          <a:xfrm>
            <a:off x="3913632" y="155448"/>
            <a:ext cx="118872" cy="118872"/>
          </a:xfrm>
          <a:prstGeom prst="ellipse">
            <a:avLst/>
          </a:prstGeom>
          <a:solidFill>
            <a:srgbClr val="10B981"/>
          </a:solidFill>
          <a:ln w="12700">
            <a:solidFill>
              <a:srgbClr val="10B981"/>
            </a:solidFill>
            <a:prstDash val="solid"/>
          </a:ln>
        </p:spPr>
      </p:sp>
      <p:sp>
        <p:nvSpPr>
          <p:cNvPr id="19" name="Shape 17"/>
          <p:cNvSpPr/>
          <p:nvPr/>
        </p:nvSpPr>
        <p:spPr>
          <a:xfrm>
            <a:off x="4123944" y="137160"/>
            <a:ext cx="3291840" cy="164592"/>
          </a:xfrm>
          <a:prstGeom prst="rect">
            <a:avLst/>
          </a:prstGeom>
          <a:solidFill>
            <a:srgbClr val="FFFFFF"/>
          </a:solidFill>
          <a:ln w="5080">
            <a:solidFill>
              <a:srgbClr val="C7D9F5"/>
            </a:solidFill>
            <a:prstDash val="solid"/>
          </a:ln>
        </p:spPr>
      </p:sp>
      <p:sp>
        <p:nvSpPr>
          <p:cNvPr id="20" name="Text 18"/>
          <p:cNvSpPr/>
          <p:nvPr/>
        </p:nvSpPr>
        <p:spPr>
          <a:xfrm>
            <a:off x="4151376" y="141732"/>
            <a:ext cx="3236976" cy="155448"/>
          </a:xfrm>
          <a:prstGeom prst="rect">
            <a:avLst/>
          </a:prstGeom>
          <a:noFill/>
          <a:ln/>
        </p:spPr>
        <p:txBody>
          <a:bodyPr wrap="square" lIns="0" tIns="0" rIns="0" bIns="0" rtlCol="0" anchor="ctr"/>
          <a:lstStyle/>
          <a:p>
            <a:pPr marL="0" indent="0">
              <a:buNone/>
            </a:pPr>
            <a:r>
              <a:rPr lang="en-US" sz="700" dirty="0">
                <a:solidFill>
                  <a:srgbClr val="6B7280"/>
                </a:solidFill>
                <a:latin typeface="Consolas" pitchFamily="34" charset="0"/>
                <a:ea typeface="Consolas" pitchFamily="34" charset="-122"/>
                <a:cs typeface="Consolas" pitchFamily="34" charset="-120"/>
              </a:rPr>
              <a:t>localhost:8765</a:t>
            </a:r>
            <a:endParaRPr lang="en-US" sz="700" dirty="0"/>
          </a:p>
        </p:txBody>
      </p:sp>
      <p:sp>
        <p:nvSpPr>
          <p:cNvPr id="21" name="Shape 19"/>
          <p:cNvSpPr/>
          <p:nvPr/>
        </p:nvSpPr>
        <p:spPr>
          <a:xfrm>
            <a:off x="3547872" y="365760"/>
            <a:ext cx="5413248" cy="4745736"/>
          </a:xfrm>
          <a:prstGeom prst="rect">
            <a:avLst/>
          </a:prstGeom>
          <a:solidFill>
            <a:srgbClr val="F0F6FF"/>
          </a:solidFill>
          <a:ln w="15240">
            <a:solidFill>
              <a:srgbClr val="BFDBFE"/>
            </a:solidFill>
            <a:prstDash val="dash"/>
          </a:ln>
        </p:spPr>
      </p:sp>
      <p:sp>
        <p:nvSpPr>
          <p:cNvPr id="22" name="Text 20"/>
          <p:cNvSpPr/>
          <p:nvPr/>
        </p:nvSpPr>
        <p:spPr>
          <a:xfrm>
            <a:off x="5358384" y="1737360"/>
            <a:ext cx="1828800" cy="548640"/>
          </a:xfrm>
          <a:prstGeom prst="rect">
            <a:avLst/>
          </a:prstGeom>
          <a:noFill/>
          <a:ln/>
        </p:spPr>
        <p:txBody>
          <a:bodyPr wrap="square" lIns="0" tIns="0" rIns="0" bIns="0" rtlCol="0" anchor="ctr"/>
          <a:lstStyle/>
          <a:p>
            <a:pPr marL="0" indent="0" algn="ctr">
              <a:buNone/>
            </a:pPr>
            <a:endParaRPr lang="en-US" sz="4800" dirty="0"/>
          </a:p>
        </p:txBody>
      </p:sp>
      <p:sp>
        <p:nvSpPr>
          <p:cNvPr id="23" name="Text 21"/>
          <p:cNvSpPr/>
          <p:nvPr/>
        </p:nvSpPr>
        <p:spPr>
          <a:xfrm>
            <a:off x="3803904" y="2423160"/>
            <a:ext cx="4901184" cy="347472"/>
          </a:xfrm>
          <a:prstGeom prst="rect">
            <a:avLst/>
          </a:prstGeom>
          <a:noFill/>
          <a:ln/>
        </p:spPr>
        <p:txBody>
          <a:bodyPr wrap="square" lIns="0" tIns="0" rIns="0" bIns="0" rtlCol="0" anchor="ctr"/>
          <a:lstStyle/>
          <a:p>
            <a:pPr marL="0" indent="0" algn="ctr">
              <a:buNone/>
            </a:pPr>
            <a:endParaRPr lang="en-US" sz="1400" dirty="0"/>
          </a:p>
        </p:txBody>
      </p:sp>
      <p:sp>
        <p:nvSpPr>
          <p:cNvPr id="24" name="Text 22"/>
          <p:cNvSpPr/>
          <p:nvPr/>
        </p:nvSpPr>
        <p:spPr>
          <a:xfrm>
            <a:off x="3803904" y="2834640"/>
            <a:ext cx="4901184" cy="256032"/>
          </a:xfrm>
          <a:prstGeom prst="rect">
            <a:avLst/>
          </a:prstGeom>
          <a:noFill/>
          <a:ln/>
        </p:spPr>
        <p:txBody>
          <a:bodyPr wrap="square" lIns="0" tIns="0" rIns="0" bIns="0" rtlCol="0" anchor="ctr"/>
          <a:lstStyle/>
          <a:p>
            <a:pPr marL="0" indent="0" algn="ctr">
              <a:buNone/>
            </a:pPr>
            <a:endParaRPr lang="en-US" sz="1000" dirty="0"/>
          </a:p>
        </p:txBody>
      </p:sp>
      <p:pic>
        <p:nvPicPr>
          <p:cNvPr id="25" name="Picture 24">
            <a:extLst>
              <a:ext uri="{FF2B5EF4-FFF2-40B4-BE49-F238E27FC236}">
                <a16:creationId xmlns:a16="http://schemas.microsoft.com/office/drawing/2014/main" id="{24ED1886-923E-F508-AE98-31B06538D956}"/>
              </a:ext>
            </a:extLst>
          </p:cNvPr>
          <p:cNvPicPr>
            <a:picLocks noChangeAspect="1"/>
          </p:cNvPicPr>
          <p:nvPr/>
        </p:nvPicPr>
        <p:blipFill>
          <a:blip r:embed="rId3"/>
          <a:srcRect l="35419" t="9504" r="35309"/>
          <a:stretch>
            <a:fillRect/>
          </a:stretch>
        </p:blipFill>
        <p:spPr>
          <a:xfrm>
            <a:off x="3538728" y="349939"/>
            <a:ext cx="1692402" cy="2394555"/>
          </a:xfrm>
          <a:prstGeom prst="rect">
            <a:avLst/>
          </a:prstGeom>
        </p:spPr>
      </p:pic>
      <p:pic>
        <p:nvPicPr>
          <p:cNvPr id="63" name="Picture 62">
            <a:extLst>
              <a:ext uri="{FF2B5EF4-FFF2-40B4-BE49-F238E27FC236}">
                <a16:creationId xmlns:a16="http://schemas.microsoft.com/office/drawing/2014/main" id="{427A10C7-22F7-9E4B-2BFD-47B32ED3D589}"/>
              </a:ext>
            </a:extLst>
          </p:cNvPr>
          <p:cNvPicPr>
            <a:picLocks noChangeAspect="1"/>
          </p:cNvPicPr>
          <p:nvPr/>
        </p:nvPicPr>
        <p:blipFill>
          <a:blip r:embed="rId4"/>
          <a:srcRect l="35401" t="21723" r="35399" b="13641"/>
          <a:stretch>
            <a:fillRect/>
          </a:stretch>
        </p:blipFill>
        <p:spPr>
          <a:xfrm>
            <a:off x="5249418" y="349939"/>
            <a:ext cx="1664970" cy="2394555"/>
          </a:xfrm>
          <a:prstGeom prst="rect">
            <a:avLst/>
          </a:prstGeom>
        </p:spPr>
      </p:pic>
      <p:pic>
        <p:nvPicPr>
          <p:cNvPr id="65" name="Picture 64">
            <a:extLst>
              <a:ext uri="{FF2B5EF4-FFF2-40B4-BE49-F238E27FC236}">
                <a16:creationId xmlns:a16="http://schemas.microsoft.com/office/drawing/2014/main" id="{DD2038C4-3A12-2FB4-EBC9-790A1E199077}"/>
              </a:ext>
            </a:extLst>
          </p:cNvPr>
          <p:cNvPicPr>
            <a:picLocks noChangeAspect="1"/>
          </p:cNvPicPr>
          <p:nvPr/>
        </p:nvPicPr>
        <p:blipFill>
          <a:blip r:embed="rId5"/>
          <a:srcRect l="35486" t="13181" r="36014" b="3989"/>
          <a:stretch>
            <a:fillRect/>
          </a:stretch>
        </p:blipFill>
        <p:spPr>
          <a:xfrm>
            <a:off x="6875526" y="349938"/>
            <a:ext cx="2072640" cy="2393261"/>
          </a:xfrm>
          <a:prstGeom prst="rect">
            <a:avLst/>
          </a:prstGeom>
        </p:spPr>
      </p:pic>
      <p:pic>
        <p:nvPicPr>
          <p:cNvPr id="79" name="Picture 78">
            <a:extLst>
              <a:ext uri="{FF2B5EF4-FFF2-40B4-BE49-F238E27FC236}">
                <a16:creationId xmlns:a16="http://schemas.microsoft.com/office/drawing/2014/main" id="{CB52A9FC-22C4-F838-CD99-EB37F35E0081}"/>
              </a:ext>
            </a:extLst>
          </p:cNvPr>
          <p:cNvPicPr>
            <a:picLocks noChangeAspect="1"/>
          </p:cNvPicPr>
          <p:nvPr/>
        </p:nvPicPr>
        <p:blipFill>
          <a:blip r:embed="rId6"/>
          <a:srcRect l="1142" t="1289"/>
          <a:stretch>
            <a:fillRect/>
          </a:stretch>
        </p:blipFill>
        <p:spPr>
          <a:xfrm>
            <a:off x="3142796" y="2674619"/>
            <a:ext cx="4165239" cy="2370402"/>
          </a:xfrm>
          <a:prstGeom prst="rect">
            <a:avLst/>
          </a:prstGeom>
        </p:spPr>
      </p:pic>
      <p:pic>
        <p:nvPicPr>
          <p:cNvPr id="80" name="Picture 79">
            <a:extLst>
              <a:ext uri="{FF2B5EF4-FFF2-40B4-BE49-F238E27FC236}">
                <a16:creationId xmlns:a16="http://schemas.microsoft.com/office/drawing/2014/main" id="{B1C54A90-C585-7058-EC2C-23FCFA34E99B}"/>
              </a:ext>
            </a:extLst>
          </p:cNvPr>
          <p:cNvPicPr>
            <a:picLocks noChangeAspect="1"/>
          </p:cNvPicPr>
          <p:nvPr/>
        </p:nvPicPr>
        <p:blipFill>
          <a:blip r:embed="rId7"/>
          <a:srcRect l="29918" r="24146" b="9936"/>
          <a:stretch>
            <a:fillRect/>
          </a:stretch>
        </p:blipFill>
        <p:spPr>
          <a:xfrm>
            <a:off x="6502110" y="2674619"/>
            <a:ext cx="2486442" cy="238658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w="12700">
            <a:solidFill>
              <a:srgbClr val="0EA5E9"/>
            </a:solidFill>
            <a:prstDash val="solid"/>
          </a:ln>
        </p:spPr>
      </p:sp>
      <p:sp>
        <p:nvSpPr>
          <p:cNvPr id="3" name="Text 1"/>
          <p:cNvSpPr/>
          <p:nvPr/>
        </p:nvSpPr>
        <p:spPr>
          <a:xfrm>
            <a:off x="256032" y="128016"/>
            <a:ext cx="3108960" cy="566928"/>
          </a:xfrm>
          <a:prstGeom prst="rect">
            <a:avLst/>
          </a:prstGeom>
          <a:noFill/>
          <a:ln/>
        </p:spPr>
        <p:txBody>
          <a:bodyPr wrap="square" lIns="0" tIns="0" rIns="0" bIns="0" rtlCol="0" anchor="ctr"/>
          <a:lstStyle/>
          <a:p>
            <a:pPr marL="0" indent="0">
              <a:buNone/>
            </a:pPr>
            <a:r>
              <a:rPr lang="en-US" sz="2700" b="1" dirty="0">
                <a:solidFill>
                  <a:srgbClr val="0B1437"/>
                </a:solidFill>
                <a:latin typeface="Trebuchet MS" pitchFamily="34" charset="0"/>
                <a:ea typeface="Trebuchet MS" pitchFamily="34" charset="-122"/>
                <a:cs typeface="Trebuchet MS" pitchFamily="34" charset="-120"/>
              </a:rPr>
              <a:t>Frontend Views</a:t>
            </a:r>
            <a:endParaRPr lang="en-US" sz="2700" dirty="0"/>
          </a:p>
        </p:txBody>
      </p:sp>
      <p:sp>
        <p:nvSpPr>
          <p:cNvPr id="4" name="Text 2"/>
          <p:cNvSpPr/>
          <p:nvPr/>
        </p:nvSpPr>
        <p:spPr>
          <a:xfrm>
            <a:off x="256032" y="713232"/>
            <a:ext cx="3108960" cy="237744"/>
          </a:xfrm>
          <a:prstGeom prst="rect">
            <a:avLst/>
          </a:prstGeom>
          <a:noFill/>
          <a:ln/>
        </p:spPr>
        <p:txBody>
          <a:bodyPr wrap="square" lIns="0" tIns="0" rIns="0" bIns="0" rtlCol="0" anchor="ctr"/>
          <a:lstStyle/>
          <a:p>
            <a:pPr marL="0" indent="0">
              <a:buNone/>
            </a:pPr>
            <a:r>
              <a:rPr lang="en-US" sz="1050" i="1" dirty="0">
                <a:solidFill>
                  <a:srgbClr val="334155"/>
                </a:solidFill>
                <a:latin typeface="Calibri" pitchFamily="34" charset="0"/>
                <a:ea typeface="Calibri" pitchFamily="34" charset="-122"/>
                <a:cs typeface="Calibri" pitchFamily="34" charset="-120"/>
              </a:rPr>
              <a:t>Key screens of the SkyWay web application</a:t>
            </a:r>
            <a:endParaRPr lang="en-US" sz="1050" dirty="0"/>
          </a:p>
        </p:txBody>
      </p:sp>
      <p:sp>
        <p:nvSpPr>
          <p:cNvPr id="5" name="Shape 3"/>
          <p:cNvSpPr/>
          <p:nvPr/>
        </p:nvSpPr>
        <p:spPr>
          <a:xfrm>
            <a:off x="228600" y="1042416"/>
            <a:ext cx="3182112" cy="4005072"/>
          </a:xfrm>
          <a:prstGeom prst="rect">
            <a:avLst/>
          </a:prstGeom>
          <a:solidFill>
            <a:srgbClr val="FFFFFF"/>
          </a:solidFill>
          <a:ln w="7620">
            <a:solidFill>
              <a:srgbClr val="D1DAF0"/>
            </a:solidFill>
            <a:prstDash val="solid"/>
          </a:ln>
          <a:effectLst>
            <a:outerShdw blurRad="76200" dist="25400" dir="8100000" algn="bl" rotWithShape="0">
              <a:srgbClr val="000000">
                <a:alpha val="10000"/>
              </a:srgbClr>
            </a:outerShdw>
          </a:effectLst>
        </p:spPr>
      </p:sp>
      <p:sp>
        <p:nvSpPr>
          <p:cNvPr id="6" name="Shape 4"/>
          <p:cNvSpPr/>
          <p:nvPr/>
        </p:nvSpPr>
        <p:spPr>
          <a:xfrm>
            <a:off x="228600" y="1042416"/>
            <a:ext cx="3182112" cy="438912"/>
          </a:xfrm>
          <a:prstGeom prst="rect">
            <a:avLst/>
          </a:prstGeom>
          <a:solidFill>
            <a:srgbClr val="10B981"/>
          </a:solidFill>
          <a:ln w="12700">
            <a:solidFill>
              <a:srgbClr val="10B981"/>
            </a:solidFill>
            <a:prstDash val="solid"/>
          </a:ln>
        </p:spPr>
      </p:sp>
      <p:sp>
        <p:nvSpPr>
          <p:cNvPr id="7" name="Text 5"/>
          <p:cNvSpPr/>
          <p:nvPr/>
        </p:nvSpPr>
        <p:spPr>
          <a:xfrm>
            <a:off x="329184" y="1078992"/>
            <a:ext cx="2971800" cy="365760"/>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 Passenger Details &amp; Seat Selection</a:t>
            </a:r>
            <a:endParaRPr lang="en-US" sz="1350" dirty="0"/>
          </a:p>
        </p:txBody>
      </p:sp>
      <p:sp>
        <p:nvSpPr>
          <p:cNvPr id="8" name="Text 6"/>
          <p:cNvSpPr/>
          <p:nvPr/>
        </p:nvSpPr>
        <p:spPr>
          <a:xfrm>
            <a:off x="329184" y="1572768"/>
            <a:ext cx="2980944" cy="33832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Fill passenger name, DOB, gender, Aadhaar</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Contact email and phone number</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Interactive 30-row seat map (A–F grid)</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Green border = Emergency Exit (+₹600)</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Yellow = Window seat (+₹250)</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Seat 3A selected — price updates live</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Confirm &amp; Pay button on sticky sidebar</a:t>
            </a:r>
            <a:endParaRPr lang="en-US" sz="1100" dirty="0"/>
          </a:p>
        </p:txBody>
      </p:sp>
      <p:sp>
        <p:nvSpPr>
          <p:cNvPr id="9" name="Shape 7"/>
          <p:cNvSpPr/>
          <p:nvPr/>
        </p:nvSpPr>
        <p:spPr>
          <a:xfrm>
            <a:off x="3575304" y="155448"/>
            <a:ext cx="5449824" cy="4919472"/>
          </a:xfrm>
          <a:prstGeom prst="rect">
            <a:avLst/>
          </a:prstGeom>
          <a:solidFill>
            <a:srgbClr val="C7D9F5"/>
          </a:solidFill>
          <a:ln w="12700">
            <a:solidFill>
              <a:srgbClr val="C7D9F5"/>
            </a:solidFill>
            <a:prstDash val="solid"/>
          </a:ln>
        </p:spPr>
      </p:sp>
      <p:sp>
        <p:nvSpPr>
          <p:cNvPr id="10" name="Shape 8"/>
          <p:cNvSpPr/>
          <p:nvPr/>
        </p:nvSpPr>
        <p:spPr>
          <a:xfrm>
            <a:off x="3529584" y="109728"/>
            <a:ext cx="5449824" cy="4919472"/>
          </a:xfrm>
          <a:prstGeom prst="rect">
            <a:avLst/>
          </a:prstGeom>
          <a:solidFill>
            <a:srgbClr val="FFFFFF"/>
          </a:solidFill>
          <a:ln w="12700">
            <a:solidFill>
              <a:srgbClr val="C7D9F5"/>
            </a:solidFill>
            <a:prstDash val="solid"/>
          </a:ln>
        </p:spPr>
      </p:sp>
      <p:sp>
        <p:nvSpPr>
          <p:cNvPr id="11" name="Shape 9"/>
          <p:cNvSpPr/>
          <p:nvPr/>
        </p:nvSpPr>
        <p:spPr>
          <a:xfrm>
            <a:off x="3529584" y="109728"/>
            <a:ext cx="5449824" cy="256032"/>
          </a:xfrm>
          <a:prstGeom prst="rect">
            <a:avLst/>
          </a:prstGeom>
          <a:solidFill>
            <a:srgbClr val="E8EEF8"/>
          </a:solidFill>
          <a:ln w="6350">
            <a:solidFill>
              <a:srgbClr val="D1DAF0"/>
            </a:solidFill>
            <a:prstDash val="solid"/>
          </a:ln>
        </p:spPr>
      </p:sp>
      <p:sp>
        <p:nvSpPr>
          <p:cNvPr id="12" name="Shape 10"/>
          <p:cNvSpPr/>
          <p:nvPr/>
        </p:nvSpPr>
        <p:spPr>
          <a:xfrm>
            <a:off x="3639312" y="173736"/>
            <a:ext cx="118872" cy="118872"/>
          </a:xfrm>
          <a:prstGeom prst="ellipse">
            <a:avLst/>
          </a:prstGeom>
          <a:solidFill>
            <a:srgbClr val="EF4444"/>
          </a:solidFill>
          <a:ln w="12700">
            <a:solidFill>
              <a:srgbClr val="EF4444"/>
            </a:solidFill>
            <a:prstDash val="solid"/>
          </a:ln>
        </p:spPr>
      </p:sp>
      <p:sp>
        <p:nvSpPr>
          <p:cNvPr id="13" name="Shape 11"/>
          <p:cNvSpPr/>
          <p:nvPr/>
        </p:nvSpPr>
        <p:spPr>
          <a:xfrm>
            <a:off x="3776472" y="173736"/>
            <a:ext cx="118872" cy="118872"/>
          </a:xfrm>
          <a:prstGeom prst="ellipse">
            <a:avLst/>
          </a:prstGeom>
          <a:solidFill>
            <a:srgbClr val="F59E0B"/>
          </a:solidFill>
          <a:ln w="12700">
            <a:solidFill>
              <a:srgbClr val="F59E0B"/>
            </a:solidFill>
            <a:prstDash val="solid"/>
          </a:ln>
        </p:spPr>
      </p:sp>
      <p:sp>
        <p:nvSpPr>
          <p:cNvPr id="14" name="Shape 12"/>
          <p:cNvSpPr/>
          <p:nvPr/>
        </p:nvSpPr>
        <p:spPr>
          <a:xfrm>
            <a:off x="3913632" y="173736"/>
            <a:ext cx="118872" cy="118872"/>
          </a:xfrm>
          <a:prstGeom prst="ellipse">
            <a:avLst/>
          </a:prstGeom>
          <a:solidFill>
            <a:srgbClr val="10B981"/>
          </a:solidFill>
          <a:ln w="12700">
            <a:solidFill>
              <a:srgbClr val="10B981"/>
            </a:solidFill>
            <a:prstDash val="solid"/>
          </a:ln>
        </p:spPr>
      </p:sp>
      <p:sp>
        <p:nvSpPr>
          <p:cNvPr id="15" name="Shape 13"/>
          <p:cNvSpPr/>
          <p:nvPr/>
        </p:nvSpPr>
        <p:spPr>
          <a:xfrm>
            <a:off x="4123944" y="155448"/>
            <a:ext cx="3291840" cy="164592"/>
          </a:xfrm>
          <a:prstGeom prst="rect">
            <a:avLst/>
          </a:prstGeom>
          <a:solidFill>
            <a:srgbClr val="FFFFFF"/>
          </a:solidFill>
          <a:ln w="5080">
            <a:solidFill>
              <a:srgbClr val="C7D9F5"/>
            </a:solidFill>
            <a:prstDash val="solid"/>
          </a:ln>
        </p:spPr>
      </p:sp>
      <p:sp>
        <p:nvSpPr>
          <p:cNvPr id="16" name="Text 14"/>
          <p:cNvSpPr/>
          <p:nvPr/>
        </p:nvSpPr>
        <p:spPr>
          <a:xfrm>
            <a:off x="4151376" y="160020"/>
            <a:ext cx="3236976" cy="155448"/>
          </a:xfrm>
          <a:prstGeom prst="rect">
            <a:avLst/>
          </a:prstGeom>
          <a:noFill/>
          <a:ln/>
        </p:spPr>
        <p:txBody>
          <a:bodyPr wrap="square" lIns="0" tIns="0" rIns="0" bIns="0" rtlCol="0" anchor="ctr"/>
          <a:lstStyle/>
          <a:p>
            <a:pPr marL="0" indent="0">
              <a:buNone/>
            </a:pPr>
            <a:r>
              <a:rPr lang="en-US" sz="700" dirty="0">
                <a:solidFill>
                  <a:srgbClr val="6B7280"/>
                </a:solidFill>
                <a:latin typeface="Consolas" pitchFamily="34" charset="0"/>
                <a:ea typeface="Consolas" pitchFamily="34" charset="-122"/>
                <a:cs typeface="Consolas" pitchFamily="34" charset="-120"/>
              </a:rPr>
              <a:t>localhost:8765</a:t>
            </a:r>
            <a:endParaRPr lang="en-US" sz="700" dirty="0"/>
          </a:p>
        </p:txBody>
      </p:sp>
      <p:pic>
        <p:nvPicPr>
          <p:cNvPr id="17" name="Image 0" descr="preencoded.png"/>
          <p:cNvPicPr>
            <a:picLocks noChangeAspect="1"/>
          </p:cNvPicPr>
          <p:nvPr/>
        </p:nvPicPr>
        <p:blipFill>
          <a:blip r:embed="rId3"/>
          <a:stretch>
            <a:fillRect/>
          </a:stretch>
        </p:blipFill>
        <p:spPr>
          <a:xfrm>
            <a:off x="3547872" y="384048"/>
            <a:ext cx="5413248" cy="4626864"/>
          </a:xfrm>
          <a:prstGeom prst="rect">
            <a:avLst/>
          </a:prstGeom>
        </p:spPr>
      </p:pic>
      <p:sp>
        <p:nvSpPr>
          <p:cNvPr id="18" name="Text 15"/>
          <p:cNvSpPr/>
          <p:nvPr/>
        </p:nvSpPr>
        <p:spPr>
          <a:xfrm>
            <a:off x="3529584" y="4956048"/>
            <a:ext cx="5449824" cy="164592"/>
          </a:xfrm>
          <a:prstGeom prst="rect">
            <a:avLst/>
          </a:prstGeom>
          <a:noFill/>
          <a:ln/>
        </p:spPr>
        <p:txBody>
          <a:bodyPr wrap="square" lIns="0" tIns="0" rIns="0" bIns="0" rtlCol="0" anchor="ctr"/>
          <a:lstStyle/>
          <a:p>
            <a:pPr marL="0" indent="0" algn="r">
              <a:buNone/>
            </a:pPr>
            <a:r>
              <a:rPr lang="en-US" sz="750" i="1" dirty="0">
                <a:solidFill>
                  <a:srgbClr val="94A3B8"/>
                </a:solidFill>
                <a:latin typeface="Calibri" pitchFamily="34" charset="0"/>
                <a:ea typeface="Calibri" pitchFamily="34" charset="-122"/>
                <a:cs typeface="Calibri" pitchFamily="34" charset="-120"/>
              </a:rPr>
              <a:t>Slide 9 · Passenger Details + Seat Map</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w="12700">
            <a:solidFill>
              <a:srgbClr val="0EA5E9"/>
            </a:solidFill>
            <a:prstDash val="solid"/>
          </a:ln>
        </p:spPr>
      </p:sp>
      <p:sp>
        <p:nvSpPr>
          <p:cNvPr id="3" name="Text 1"/>
          <p:cNvSpPr/>
          <p:nvPr/>
        </p:nvSpPr>
        <p:spPr>
          <a:xfrm>
            <a:off x="256032" y="128016"/>
            <a:ext cx="3108960" cy="566928"/>
          </a:xfrm>
          <a:prstGeom prst="rect">
            <a:avLst/>
          </a:prstGeom>
          <a:noFill/>
          <a:ln/>
        </p:spPr>
        <p:txBody>
          <a:bodyPr wrap="square" lIns="0" tIns="0" rIns="0" bIns="0" rtlCol="0" anchor="ctr"/>
          <a:lstStyle/>
          <a:p>
            <a:pPr marL="0" indent="0">
              <a:buNone/>
            </a:pPr>
            <a:r>
              <a:rPr lang="en-US" sz="2700" b="1" dirty="0">
                <a:solidFill>
                  <a:srgbClr val="0B1437"/>
                </a:solidFill>
                <a:latin typeface="Trebuchet MS" pitchFamily="34" charset="0"/>
                <a:ea typeface="Trebuchet MS" pitchFamily="34" charset="-122"/>
                <a:cs typeface="Trebuchet MS" pitchFamily="34" charset="-120"/>
              </a:rPr>
              <a:t>Frontend Views</a:t>
            </a:r>
            <a:endParaRPr lang="en-US" sz="2700" dirty="0"/>
          </a:p>
        </p:txBody>
      </p:sp>
      <p:sp>
        <p:nvSpPr>
          <p:cNvPr id="4" name="Text 2"/>
          <p:cNvSpPr/>
          <p:nvPr/>
        </p:nvSpPr>
        <p:spPr>
          <a:xfrm>
            <a:off x="256032" y="713232"/>
            <a:ext cx="3108960" cy="237744"/>
          </a:xfrm>
          <a:prstGeom prst="rect">
            <a:avLst/>
          </a:prstGeom>
          <a:noFill/>
          <a:ln/>
        </p:spPr>
        <p:txBody>
          <a:bodyPr wrap="square" lIns="0" tIns="0" rIns="0" bIns="0" rtlCol="0" anchor="ctr"/>
          <a:lstStyle/>
          <a:p>
            <a:pPr marL="0" indent="0">
              <a:buNone/>
            </a:pPr>
            <a:r>
              <a:rPr lang="en-US" sz="1050" i="1" dirty="0">
                <a:solidFill>
                  <a:srgbClr val="334155"/>
                </a:solidFill>
                <a:latin typeface="Calibri" pitchFamily="34" charset="0"/>
                <a:ea typeface="Calibri" pitchFamily="34" charset="-122"/>
                <a:cs typeface="Calibri" pitchFamily="34" charset="-120"/>
              </a:rPr>
              <a:t>Key screens of the SkyWay web application</a:t>
            </a:r>
            <a:endParaRPr lang="en-US" sz="1050" dirty="0"/>
          </a:p>
        </p:txBody>
      </p:sp>
      <p:sp>
        <p:nvSpPr>
          <p:cNvPr id="5" name="Shape 3"/>
          <p:cNvSpPr/>
          <p:nvPr/>
        </p:nvSpPr>
        <p:spPr>
          <a:xfrm>
            <a:off x="228600" y="1042416"/>
            <a:ext cx="3182112" cy="4005072"/>
          </a:xfrm>
          <a:prstGeom prst="rect">
            <a:avLst/>
          </a:prstGeom>
          <a:solidFill>
            <a:srgbClr val="FFFFFF"/>
          </a:solidFill>
          <a:ln w="7620">
            <a:solidFill>
              <a:srgbClr val="D1DAF0"/>
            </a:solidFill>
            <a:prstDash val="solid"/>
          </a:ln>
          <a:effectLst>
            <a:outerShdw blurRad="76200" dist="25400" dir="8100000" algn="bl" rotWithShape="0">
              <a:srgbClr val="000000">
                <a:alpha val="10000"/>
              </a:srgbClr>
            </a:outerShdw>
          </a:effectLst>
        </p:spPr>
      </p:sp>
      <p:sp>
        <p:nvSpPr>
          <p:cNvPr id="6" name="Shape 4"/>
          <p:cNvSpPr/>
          <p:nvPr/>
        </p:nvSpPr>
        <p:spPr>
          <a:xfrm>
            <a:off x="228600" y="1042416"/>
            <a:ext cx="3182112" cy="438912"/>
          </a:xfrm>
          <a:prstGeom prst="rect">
            <a:avLst/>
          </a:prstGeom>
          <a:solidFill>
            <a:srgbClr val="7C3AED"/>
          </a:solidFill>
          <a:ln w="12700">
            <a:solidFill>
              <a:srgbClr val="7C3AED"/>
            </a:solidFill>
            <a:prstDash val="solid"/>
          </a:ln>
        </p:spPr>
      </p:sp>
      <p:sp>
        <p:nvSpPr>
          <p:cNvPr id="7" name="Text 5"/>
          <p:cNvSpPr/>
          <p:nvPr/>
        </p:nvSpPr>
        <p:spPr>
          <a:xfrm>
            <a:off x="329184" y="1078992"/>
            <a:ext cx="2971800" cy="365760"/>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 Pre-book Meal &amp; Special Services</a:t>
            </a:r>
            <a:endParaRPr lang="en-US" sz="1350" dirty="0"/>
          </a:p>
        </p:txBody>
      </p:sp>
      <p:sp>
        <p:nvSpPr>
          <p:cNvPr id="8" name="Text 6"/>
          <p:cNvSpPr/>
          <p:nvPr/>
        </p:nvSpPr>
        <p:spPr>
          <a:xfrm>
            <a:off x="329184" y="1572768"/>
            <a:ext cx="2980944" cy="33832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Economy: 6 meal options (₹350–₹420)</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No Meal (free) · Vegetarian · Non-Veg</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Jain Meal · Diabetic · Vegan Meal</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Special Services grid below meals</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Wheelchair (Free) · Extra Baggage ₹1,500</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Sports Equipment ₹2,000 · Infant ₹500</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Priority Boarding ₹350 · Lounge ₹1,200</a:t>
            </a:r>
            <a:endParaRPr lang="en-US" sz="1100" dirty="0"/>
          </a:p>
        </p:txBody>
      </p:sp>
      <p:sp>
        <p:nvSpPr>
          <p:cNvPr id="9" name="Shape 7"/>
          <p:cNvSpPr/>
          <p:nvPr/>
        </p:nvSpPr>
        <p:spPr>
          <a:xfrm>
            <a:off x="3575304" y="155448"/>
            <a:ext cx="5449824" cy="4919472"/>
          </a:xfrm>
          <a:prstGeom prst="rect">
            <a:avLst/>
          </a:prstGeom>
          <a:solidFill>
            <a:srgbClr val="C7D9F5"/>
          </a:solidFill>
          <a:ln w="12700">
            <a:solidFill>
              <a:srgbClr val="C7D9F5"/>
            </a:solidFill>
            <a:prstDash val="solid"/>
          </a:ln>
        </p:spPr>
      </p:sp>
      <p:sp>
        <p:nvSpPr>
          <p:cNvPr id="10" name="Shape 8"/>
          <p:cNvSpPr/>
          <p:nvPr/>
        </p:nvSpPr>
        <p:spPr>
          <a:xfrm>
            <a:off x="3529584" y="109728"/>
            <a:ext cx="5449824" cy="4919472"/>
          </a:xfrm>
          <a:prstGeom prst="rect">
            <a:avLst/>
          </a:prstGeom>
          <a:solidFill>
            <a:srgbClr val="FFFFFF"/>
          </a:solidFill>
          <a:ln w="12700">
            <a:solidFill>
              <a:srgbClr val="C7D9F5"/>
            </a:solidFill>
            <a:prstDash val="solid"/>
          </a:ln>
        </p:spPr>
      </p:sp>
      <p:sp>
        <p:nvSpPr>
          <p:cNvPr id="11" name="Shape 9"/>
          <p:cNvSpPr/>
          <p:nvPr/>
        </p:nvSpPr>
        <p:spPr>
          <a:xfrm>
            <a:off x="3529584" y="109728"/>
            <a:ext cx="5449824" cy="256032"/>
          </a:xfrm>
          <a:prstGeom prst="rect">
            <a:avLst/>
          </a:prstGeom>
          <a:solidFill>
            <a:srgbClr val="E8EEF8"/>
          </a:solidFill>
          <a:ln w="6350">
            <a:solidFill>
              <a:srgbClr val="D1DAF0"/>
            </a:solidFill>
            <a:prstDash val="solid"/>
          </a:ln>
        </p:spPr>
      </p:sp>
      <p:sp>
        <p:nvSpPr>
          <p:cNvPr id="12" name="Shape 10"/>
          <p:cNvSpPr/>
          <p:nvPr/>
        </p:nvSpPr>
        <p:spPr>
          <a:xfrm>
            <a:off x="3639312" y="173736"/>
            <a:ext cx="118872" cy="118872"/>
          </a:xfrm>
          <a:prstGeom prst="ellipse">
            <a:avLst/>
          </a:prstGeom>
          <a:solidFill>
            <a:srgbClr val="EF4444"/>
          </a:solidFill>
          <a:ln w="12700">
            <a:solidFill>
              <a:srgbClr val="EF4444"/>
            </a:solidFill>
            <a:prstDash val="solid"/>
          </a:ln>
        </p:spPr>
      </p:sp>
      <p:sp>
        <p:nvSpPr>
          <p:cNvPr id="13" name="Shape 11"/>
          <p:cNvSpPr/>
          <p:nvPr/>
        </p:nvSpPr>
        <p:spPr>
          <a:xfrm>
            <a:off x="3776472" y="173736"/>
            <a:ext cx="118872" cy="118872"/>
          </a:xfrm>
          <a:prstGeom prst="ellipse">
            <a:avLst/>
          </a:prstGeom>
          <a:solidFill>
            <a:srgbClr val="F59E0B"/>
          </a:solidFill>
          <a:ln w="12700">
            <a:solidFill>
              <a:srgbClr val="F59E0B"/>
            </a:solidFill>
            <a:prstDash val="solid"/>
          </a:ln>
        </p:spPr>
      </p:sp>
      <p:sp>
        <p:nvSpPr>
          <p:cNvPr id="14" name="Shape 12"/>
          <p:cNvSpPr/>
          <p:nvPr/>
        </p:nvSpPr>
        <p:spPr>
          <a:xfrm>
            <a:off x="3913632" y="173736"/>
            <a:ext cx="118872" cy="118872"/>
          </a:xfrm>
          <a:prstGeom prst="ellipse">
            <a:avLst/>
          </a:prstGeom>
          <a:solidFill>
            <a:srgbClr val="10B981"/>
          </a:solidFill>
          <a:ln w="12700">
            <a:solidFill>
              <a:srgbClr val="10B981"/>
            </a:solidFill>
            <a:prstDash val="solid"/>
          </a:ln>
        </p:spPr>
      </p:sp>
      <p:sp>
        <p:nvSpPr>
          <p:cNvPr id="15" name="Shape 13"/>
          <p:cNvSpPr/>
          <p:nvPr/>
        </p:nvSpPr>
        <p:spPr>
          <a:xfrm>
            <a:off x="4123944" y="155448"/>
            <a:ext cx="3291840" cy="164592"/>
          </a:xfrm>
          <a:prstGeom prst="rect">
            <a:avLst/>
          </a:prstGeom>
          <a:solidFill>
            <a:srgbClr val="FFFFFF"/>
          </a:solidFill>
          <a:ln w="5080">
            <a:solidFill>
              <a:srgbClr val="C7D9F5"/>
            </a:solidFill>
            <a:prstDash val="solid"/>
          </a:ln>
        </p:spPr>
      </p:sp>
      <p:sp>
        <p:nvSpPr>
          <p:cNvPr id="16" name="Text 14"/>
          <p:cNvSpPr/>
          <p:nvPr/>
        </p:nvSpPr>
        <p:spPr>
          <a:xfrm>
            <a:off x="4151376" y="160020"/>
            <a:ext cx="3236976" cy="155448"/>
          </a:xfrm>
          <a:prstGeom prst="rect">
            <a:avLst/>
          </a:prstGeom>
          <a:noFill/>
          <a:ln/>
        </p:spPr>
        <p:txBody>
          <a:bodyPr wrap="square" lIns="0" tIns="0" rIns="0" bIns="0" rtlCol="0" anchor="ctr"/>
          <a:lstStyle/>
          <a:p>
            <a:pPr marL="0" indent="0">
              <a:buNone/>
            </a:pPr>
            <a:r>
              <a:rPr lang="en-US" sz="700" dirty="0">
                <a:solidFill>
                  <a:srgbClr val="6B7280"/>
                </a:solidFill>
                <a:latin typeface="Consolas" pitchFamily="34" charset="0"/>
                <a:ea typeface="Consolas" pitchFamily="34" charset="-122"/>
                <a:cs typeface="Consolas" pitchFamily="34" charset="-120"/>
              </a:rPr>
              <a:t>localhost:8765</a:t>
            </a:r>
            <a:endParaRPr lang="en-US" sz="700" dirty="0"/>
          </a:p>
        </p:txBody>
      </p:sp>
      <p:pic>
        <p:nvPicPr>
          <p:cNvPr id="17" name="Image 0" descr="preencoded.png"/>
          <p:cNvPicPr>
            <a:picLocks noChangeAspect="1"/>
          </p:cNvPicPr>
          <p:nvPr/>
        </p:nvPicPr>
        <p:blipFill>
          <a:blip r:embed="rId3"/>
          <a:stretch>
            <a:fillRect/>
          </a:stretch>
        </p:blipFill>
        <p:spPr>
          <a:xfrm>
            <a:off x="3547872" y="384048"/>
            <a:ext cx="5413248" cy="4626864"/>
          </a:xfrm>
          <a:prstGeom prst="rect">
            <a:avLst/>
          </a:prstGeom>
        </p:spPr>
      </p:pic>
      <p:sp>
        <p:nvSpPr>
          <p:cNvPr id="18" name="Text 15"/>
          <p:cNvSpPr/>
          <p:nvPr/>
        </p:nvSpPr>
        <p:spPr>
          <a:xfrm>
            <a:off x="3529584" y="4956048"/>
            <a:ext cx="5449824" cy="164592"/>
          </a:xfrm>
          <a:prstGeom prst="rect">
            <a:avLst/>
          </a:prstGeom>
          <a:noFill/>
          <a:ln/>
        </p:spPr>
        <p:txBody>
          <a:bodyPr wrap="square" lIns="0" tIns="0" rIns="0" bIns="0" rtlCol="0" anchor="ctr"/>
          <a:lstStyle/>
          <a:p>
            <a:pPr marL="0" indent="0" algn="r">
              <a:buNone/>
            </a:pPr>
            <a:r>
              <a:rPr lang="en-US" sz="750" i="1" dirty="0">
                <a:solidFill>
                  <a:srgbClr val="94A3B8"/>
                </a:solidFill>
                <a:latin typeface="Calibri" pitchFamily="34" charset="0"/>
                <a:ea typeface="Calibri" pitchFamily="34" charset="-122"/>
                <a:cs typeface="Calibri" pitchFamily="34" charset="-120"/>
              </a:rPr>
              <a:t>Slide 10 · Meal + Special Services</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w="12700">
            <a:solidFill>
              <a:srgbClr val="0EA5E9"/>
            </a:solidFill>
            <a:prstDash val="solid"/>
          </a:ln>
        </p:spPr>
      </p:sp>
      <p:sp>
        <p:nvSpPr>
          <p:cNvPr id="3" name="Text 1"/>
          <p:cNvSpPr/>
          <p:nvPr/>
        </p:nvSpPr>
        <p:spPr>
          <a:xfrm>
            <a:off x="256032" y="128016"/>
            <a:ext cx="3108960" cy="566928"/>
          </a:xfrm>
          <a:prstGeom prst="rect">
            <a:avLst/>
          </a:prstGeom>
          <a:noFill/>
          <a:ln/>
        </p:spPr>
        <p:txBody>
          <a:bodyPr wrap="square" lIns="0" tIns="0" rIns="0" bIns="0" rtlCol="0" anchor="ctr"/>
          <a:lstStyle/>
          <a:p>
            <a:pPr marL="0" indent="0">
              <a:buNone/>
            </a:pPr>
            <a:r>
              <a:rPr lang="en-US" sz="2700" b="1" dirty="0">
                <a:solidFill>
                  <a:srgbClr val="0B1437"/>
                </a:solidFill>
                <a:latin typeface="Trebuchet MS" pitchFamily="34" charset="0"/>
                <a:ea typeface="Trebuchet MS" pitchFamily="34" charset="-122"/>
                <a:cs typeface="Trebuchet MS" pitchFamily="34" charset="-120"/>
              </a:rPr>
              <a:t>Frontend Views</a:t>
            </a:r>
            <a:endParaRPr lang="en-US" sz="2700" dirty="0"/>
          </a:p>
        </p:txBody>
      </p:sp>
      <p:sp>
        <p:nvSpPr>
          <p:cNvPr id="4" name="Text 2"/>
          <p:cNvSpPr/>
          <p:nvPr/>
        </p:nvSpPr>
        <p:spPr>
          <a:xfrm>
            <a:off x="256032" y="713232"/>
            <a:ext cx="3108960" cy="237744"/>
          </a:xfrm>
          <a:prstGeom prst="rect">
            <a:avLst/>
          </a:prstGeom>
          <a:noFill/>
          <a:ln/>
        </p:spPr>
        <p:txBody>
          <a:bodyPr wrap="square" lIns="0" tIns="0" rIns="0" bIns="0" rtlCol="0" anchor="ctr"/>
          <a:lstStyle/>
          <a:p>
            <a:pPr marL="0" indent="0">
              <a:buNone/>
            </a:pPr>
            <a:r>
              <a:rPr lang="en-US" sz="1050" i="1" dirty="0">
                <a:solidFill>
                  <a:srgbClr val="334155"/>
                </a:solidFill>
                <a:latin typeface="Calibri" pitchFamily="34" charset="0"/>
                <a:ea typeface="Calibri" pitchFamily="34" charset="-122"/>
                <a:cs typeface="Calibri" pitchFamily="34" charset="-120"/>
              </a:rPr>
              <a:t>Key screens of the SkyWay web application</a:t>
            </a:r>
            <a:endParaRPr lang="en-US" sz="1050" dirty="0"/>
          </a:p>
        </p:txBody>
      </p:sp>
      <p:sp>
        <p:nvSpPr>
          <p:cNvPr id="5" name="Shape 3"/>
          <p:cNvSpPr/>
          <p:nvPr/>
        </p:nvSpPr>
        <p:spPr>
          <a:xfrm>
            <a:off x="228600" y="1042416"/>
            <a:ext cx="3182112" cy="4005072"/>
          </a:xfrm>
          <a:prstGeom prst="rect">
            <a:avLst/>
          </a:prstGeom>
          <a:solidFill>
            <a:srgbClr val="FFFFFF"/>
          </a:solidFill>
          <a:ln w="7620">
            <a:solidFill>
              <a:srgbClr val="D1DAF0"/>
            </a:solidFill>
            <a:prstDash val="solid"/>
          </a:ln>
          <a:effectLst>
            <a:outerShdw blurRad="76200" dist="25400" dir="8100000" algn="bl" rotWithShape="0">
              <a:srgbClr val="000000">
                <a:alpha val="10000"/>
              </a:srgbClr>
            </a:outerShdw>
          </a:effectLst>
        </p:spPr>
      </p:sp>
      <p:sp>
        <p:nvSpPr>
          <p:cNvPr id="6" name="Shape 4"/>
          <p:cNvSpPr/>
          <p:nvPr/>
        </p:nvSpPr>
        <p:spPr>
          <a:xfrm>
            <a:off x="228600" y="1042416"/>
            <a:ext cx="3182112" cy="438912"/>
          </a:xfrm>
          <a:prstGeom prst="rect">
            <a:avLst/>
          </a:prstGeom>
          <a:solidFill>
            <a:srgbClr val="7C3AED"/>
          </a:solidFill>
          <a:ln w="12700">
            <a:solidFill>
              <a:srgbClr val="7C3AED"/>
            </a:solidFill>
            <a:prstDash val="solid"/>
          </a:ln>
        </p:spPr>
      </p:sp>
      <p:sp>
        <p:nvSpPr>
          <p:cNvPr id="7" name="Text 5"/>
          <p:cNvSpPr/>
          <p:nvPr/>
        </p:nvSpPr>
        <p:spPr>
          <a:xfrm>
            <a:off x="329184" y="1078992"/>
            <a:ext cx="2971800" cy="365760"/>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 Complete Payment Modal</a:t>
            </a:r>
            <a:endParaRPr lang="en-US" sz="1350" dirty="0"/>
          </a:p>
        </p:txBody>
      </p:sp>
      <p:sp>
        <p:nvSpPr>
          <p:cNvPr id="8" name="Text 6"/>
          <p:cNvSpPr/>
          <p:nvPr/>
        </p:nvSpPr>
        <p:spPr>
          <a:xfrm>
            <a:off x="329184" y="1572768"/>
            <a:ext cx="2980944" cy="33832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4-tab payment interface in a modal</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Card tab: Card number, Expiry, CVV, Name</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Accepted: VISA · MasterCard · AMEX · RuPay</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QR / UPI tab: PhonePe, GPay, Paytm, BHIM</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Netbanking: 12 Indian banks listed</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Wallet: Paytm, Amazon Pay, Mobikwik, Ola</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PNR FNX6BN · Total ₹10,062 shown clearly</a:t>
            </a:r>
            <a:endParaRPr lang="en-US" sz="1100" dirty="0"/>
          </a:p>
        </p:txBody>
      </p:sp>
      <p:sp>
        <p:nvSpPr>
          <p:cNvPr id="9" name="Shape 7"/>
          <p:cNvSpPr/>
          <p:nvPr/>
        </p:nvSpPr>
        <p:spPr>
          <a:xfrm>
            <a:off x="3575304" y="155448"/>
            <a:ext cx="5449824" cy="4919472"/>
          </a:xfrm>
          <a:prstGeom prst="rect">
            <a:avLst/>
          </a:prstGeom>
          <a:solidFill>
            <a:srgbClr val="C7D9F5"/>
          </a:solidFill>
          <a:ln w="12700">
            <a:solidFill>
              <a:srgbClr val="C7D9F5"/>
            </a:solidFill>
            <a:prstDash val="solid"/>
          </a:ln>
        </p:spPr>
      </p:sp>
      <p:sp>
        <p:nvSpPr>
          <p:cNvPr id="10" name="Shape 8"/>
          <p:cNvSpPr/>
          <p:nvPr/>
        </p:nvSpPr>
        <p:spPr>
          <a:xfrm>
            <a:off x="3529584" y="109728"/>
            <a:ext cx="5449824" cy="4919472"/>
          </a:xfrm>
          <a:prstGeom prst="rect">
            <a:avLst/>
          </a:prstGeom>
          <a:solidFill>
            <a:srgbClr val="FFFFFF"/>
          </a:solidFill>
          <a:ln w="12700">
            <a:solidFill>
              <a:srgbClr val="C7D9F5"/>
            </a:solidFill>
            <a:prstDash val="solid"/>
          </a:ln>
        </p:spPr>
      </p:sp>
      <p:sp>
        <p:nvSpPr>
          <p:cNvPr id="11" name="Shape 9"/>
          <p:cNvSpPr/>
          <p:nvPr/>
        </p:nvSpPr>
        <p:spPr>
          <a:xfrm>
            <a:off x="3529584" y="109728"/>
            <a:ext cx="5449824" cy="256032"/>
          </a:xfrm>
          <a:prstGeom prst="rect">
            <a:avLst/>
          </a:prstGeom>
          <a:solidFill>
            <a:srgbClr val="E8EEF8"/>
          </a:solidFill>
          <a:ln w="6350">
            <a:solidFill>
              <a:srgbClr val="D1DAF0"/>
            </a:solidFill>
            <a:prstDash val="solid"/>
          </a:ln>
        </p:spPr>
      </p:sp>
      <p:sp>
        <p:nvSpPr>
          <p:cNvPr id="12" name="Shape 10"/>
          <p:cNvSpPr/>
          <p:nvPr/>
        </p:nvSpPr>
        <p:spPr>
          <a:xfrm>
            <a:off x="3639312" y="173736"/>
            <a:ext cx="118872" cy="118872"/>
          </a:xfrm>
          <a:prstGeom prst="ellipse">
            <a:avLst/>
          </a:prstGeom>
          <a:solidFill>
            <a:srgbClr val="EF4444"/>
          </a:solidFill>
          <a:ln w="12700">
            <a:solidFill>
              <a:srgbClr val="EF4444"/>
            </a:solidFill>
            <a:prstDash val="solid"/>
          </a:ln>
        </p:spPr>
      </p:sp>
      <p:sp>
        <p:nvSpPr>
          <p:cNvPr id="13" name="Shape 11"/>
          <p:cNvSpPr/>
          <p:nvPr/>
        </p:nvSpPr>
        <p:spPr>
          <a:xfrm>
            <a:off x="3776472" y="173736"/>
            <a:ext cx="118872" cy="118872"/>
          </a:xfrm>
          <a:prstGeom prst="ellipse">
            <a:avLst/>
          </a:prstGeom>
          <a:solidFill>
            <a:srgbClr val="F59E0B"/>
          </a:solidFill>
          <a:ln w="12700">
            <a:solidFill>
              <a:srgbClr val="F59E0B"/>
            </a:solidFill>
            <a:prstDash val="solid"/>
          </a:ln>
        </p:spPr>
      </p:sp>
      <p:sp>
        <p:nvSpPr>
          <p:cNvPr id="14" name="Shape 12"/>
          <p:cNvSpPr/>
          <p:nvPr/>
        </p:nvSpPr>
        <p:spPr>
          <a:xfrm>
            <a:off x="3913632" y="173736"/>
            <a:ext cx="118872" cy="118872"/>
          </a:xfrm>
          <a:prstGeom prst="ellipse">
            <a:avLst/>
          </a:prstGeom>
          <a:solidFill>
            <a:srgbClr val="10B981"/>
          </a:solidFill>
          <a:ln w="12700">
            <a:solidFill>
              <a:srgbClr val="10B981"/>
            </a:solidFill>
            <a:prstDash val="solid"/>
          </a:ln>
        </p:spPr>
      </p:sp>
      <p:sp>
        <p:nvSpPr>
          <p:cNvPr id="15" name="Shape 13"/>
          <p:cNvSpPr/>
          <p:nvPr/>
        </p:nvSpPr>
        <p:spPr>
          <a:xfrm>
            <a:off x="4123944" y="155448"/>
            <a:ext cx="3291840" cy="164592"/>
          </a:xfrm>
          <a:prstGeom prst="rect">
            <a:avLst/>
          </a:prstGeom>
          <a:solidFill>
            <a:srgbClr val="FFFFFF"/>
          </a:solidFill>
          <a:ln w="5080">
            <a:solidFill>
              <a:srgbClr val="C7D9F5"/>
            </a:solidFill>
            <a:prstDash val="solid"/>
          </a:ln>
        </p:spPr>
      </p:sp>
      <p:sp>
        <p:nvSpPr>
          <p:cNvPr id="16" name="Text 14"/>
          <p:cNvSpPr/>
          <p:nvPr/>
        </p:nvSpPr>
        <p:spPr>
          <a:xfrm>
            <a:off x="4151376" y="160020"/>
            <a:ext cx="3236976" cy="155448"/>
          </a:xfrm>
          <a:prstGeom prst="rect">
            <a:avLst/>
          </a:prstGeom>
          <a:noFill/>
          <a:ln/>
        </p:spPr>
        <p:txBody>
          <a:bodyPr wrap="square" lIns="0" tIns="0" rIns="0" bIns="0" rtlCol="0" anchor="ctr"/>
          <a:lstStyle/>
          <a:p>
            <a:pPr marL="0" indent="0">
              <a:buNone/>
            </a:pPr>
            <a:r>
              <a:rPr lang="en-US" sz="700" dirty="0">
                <a:solidFill>
                  <a:srgbClr val="6B7280"/>
                </a:solidFill>
                <a:latin typeface="Consolas" pitchFamily="34" charset="0"/>
                <a:ea typeface="Consolas" pitchFamily="34" charset="-122"/>
                <a:cs typeface="Consolas" pitchFamily="34" charset="-120"/>
              </a:rPr>
              <a:t>localhost:8765</a:t>
            </a:r>
            <a:endParaRPr lang="en-US" sz="700" dirty="0"/>
          </a:p>
        </p:txBody>
      </p:sp>
      <p:pic>
        <p:nvPicPr>
          <p:cNvPr id="17" name="Image 0" descr="preencoded.png"/>
          <p:cNvPicPr>
            <a:picLocks noChangeAspect="1"/>
          </p:cNvPicPr>
          <p:nvPr/>
        </p:nvPicPr>
        <p:blipFill>
          <a:blip r:embed="rId3"/>
          <a:stretch>
            <a:fillRect/>
          </a:stretch>
        </p:blipFill>
        <p:spPr>
          <a:xfrm>
            <a:off x="3547872" y="384048"/>
            <a:ext cx="5413248" cy="4626864"/>
          </a:xfrm>
          <a:prstGeom prst="rect">
            <a:avLst/>
          </a:prstGeom>
        </p:spPr>
      </p:pic>
      <p:sp>
        <p:nvSpPr>
          <p:cNvPr id="18" name="Text 15"/>
          <p:cNvSpPr/>
          <p:nvPr/>
        </p:nvSpPr>
        <p:spPr>
          <a:xfrm>
            <a:off x="3529584" y="4956048"/>
            <a:ext cx="5449824" cy="164592"/>
          </a:xfrm>
          <a:prstGeom prst="rect">
            <a:avLst/>
          </a:prstGeom>
          <a:noFill/>
          <a:ln/>
        </p:spPr>
        <p:txBody>
          <a:bodyPr wrap="square" lIns="0" tIns="0" rIns="0" bIns="0" rtlCol="0" anchor="ctr"/>
          <a:lstStyle/>
          <a:p>
            <a:pPr marL="0" indent="0" algn="r">
              <a:buNone/>
            </a:pPr>
            <a:r>
              <a:rPr lang="en-US" sz="750" i="1" dirty="0">
                <a:solidFill>
                  <a:srgbClr val="94A3B8"/>
                </a:solidFill>
                <a:latin typeface="Calibri" pitchFamily="34" charset="0"/>
                <a:ea typeface="Calibri" pitchFamily="34" charset="-122"/>
                <a:cs typeface="Calibri" pitchFamily="34" charset="-120"/>
              </a:rPr>
              <a:t>Slide 11 · Payment Gateway</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w="12700">
            <a:solidFill>
              <a:srgbClr val="0EA5E9"/>
            </a:solidFill>
            <a:prstDash val="solid"/>
          </a:ln>
        </p:spPr>
      </p:sp>
      <p:sp>
        <p:nvSpPr>
          <p:cNvPr id="3" name="Text 1"/>
          <p:cNvSpPr/>
          <p:nvPr/>
        </p:nvSpPr>
        <p:spPr>
          <a:xfrm>
            <a:off x="256032" y="128016"/>
            <a:ext cx="3108960" cy="566928"/>
          </a:xfrm>
          <a:prstGeom prst="rect">
            <a:avLst/>
          </a:prstGeom>
          <a:noFill/>
          <a:ln/>
        </p:spPr>
        <p:txBody>
          <a:bodyPr wrap="square" lIns="0" tIns="0" rIns="0" bIns="0" rtlCol="0" anchor="ctr"/>
          <a:lstStyle/>
          <a:p>
            <a:pPr marL="0" indent="0">
              <a:buNone/>
            </a:pPr>
            <a:r>
              <a:rPr lang="en-US" sz="2700" b="1" dirty="0">
                <a:solidFill>
                  <a:srgbClr val="0B1437"/>
                </a:solidFill>
                <a:latin typeface="Trebuchet MS" pitchFamily="34" charset="0"/>
                <a:ea typeface="Trebuchet MS" pitchFamily="34" charset="-122"/>
                <a:cs typeface="Trebuchet MS" pitchFamily="34" charset="-120"/>
              </a:rPr>
              <a:t>Frontend Views</a:t>
            </a:r>
            <a:endParaRPr lang="en-US" sz="2700" dirty="0"/>
          </a:p>
        </p:txBody>
      </p:sp>
      <p:sp>
        <p:nvSpPr>
          <p:cNvPr id="4" name="Text 2"/>
          <p:cNvSpPr/>
          <p:nvPr/>
        </p:nvSpPr>
        <p:spPr>
          <a:xfrm>
            <a:off x="256032" y="713232"/>
            <a:ext cx="3108960" cy="237744"/>
          </a:xfrm>
          <a:prstGeom prst="rect">
            <a:avLst/>
          </a:prstGeom>
          <a:noFill/>
          <a:ln/>
        </p:spPr>
        <p:txBody>
          <a:bodyPr wrap="square" lIns="0" tIns="0" rIns="0" bIns="0" rtlCol="0" anchor="ctr"/>
          <a:lstStyle/>
          <a:p>
            <a:pPr marL="0" indent="0">
              <a:buNone/>
            </a:pPr>
            <a:r>
              <a:rPr lang="en-US" sz="1050" i="1" dirty="0">
                <a:solidFill>
                  <a:srgbClr val="334155"/>
                </a:solidFill>
                <a:latin typeface="Calibri" pitchFamily="34" charset="0"/>
                <a:ea typeface="Calibri" pitchFamily="34" charset="-122"/>
                <a:cs typeface="Calibri" pitchFamily="34" charset="-120"/>
              </a:rPr>
              <a:t>Key screens of the SkyWay web application</a:t>
            </a:r>
            <a:endParaRPr lang="en-US" sz="1050" dirty="0"/>
          </a:p>
        </p:txBody>
      </p:sp>
      <p:sp>
        <p:nvSpPr>
          <p:cNvPr id="5" name="Shape 3"/>
          <p:cNvSpPr/>
          <p:nvPr/>
        </p:nvSpPr>
        <p:spPr>
          <a:xfrm>
            <a:off x="228600" y="1042416"/>
            <a:ext cx="3182112" cy="4005072"/>
          </a:xfrm>
          <a:prstGeom prst="rect">
            <a:avLst/>
          </a:prstGeom>
          <a:solidFill>
            <a:srgbClr val="FFFFFF"/>
          </a:solidFill>
          <a:ln w="7620">
            <a:solidFill>
              <a:srgbClr val="D1DAF0"/>
            </a:solidFill>
            <a:prstDash val="solid"/>
          </a:ln>
          <a:effectLst>
            <a:outerShdw blurRad="76200" dist="25400" dir="8100000" algn="bl" rotWithShape="0">
              <a:srgbClr val="000000">
                <a:alpha val="10000"/>
              </a:srgbClr>
            </a:outerShdw>
          </a:effectLst>
        </p:spPr>
      </p:sp>
      <p:sp>
        <p:nvSpPr>
          <p:cNvPr id="6" name="Shape 4"/>
          <p:cNvSpPr/>
          <p:nvPr/>
        </p:nvSpPr>
        <p:spPr>
          <a:xfrm>
            <a:off x="228600" y="1042416"/>
            <a:ext cx="3182112" cy="438912"/>
          </a:xfrm>
          <a:prstGeom prst="rect">
            <a:avLst/>
          </a:prstGeom>
          <a:solidFill>
            <a:srgbClr val="0369A1"/>
          </a:solidFill>
          <a:ln w="12700">
            <a:solidFill>
              <a:srgbClr val="0369A1"/>
            </a:solidFill>
            <a:prstDash val="solid"/>
          </a:ln>
        </p:spPr>
      </p:sp>
      <p:sp>
        <p:nvSpPr>
          <p:cNvPr id="7" name="Text 5"/>
          <p:cNvSpPr/>
          <p:nvPr/>
        </p:nvSpPr>
        <p:spPr>
          <a:xfrm>
            <a:off x="329184" y="1078992"/>
            <a:ext cx="2971800" cy="365760"/>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 Booking Details Page</a:t>
            </a:r>
            <a:endParaRPr lang="en-US" sz="1350" dirty="0"/>
          </a:p>
        </p:txBody>
      </p:sp>
      <p:sp>
        <p:nvSpPr>
          <p:cNvPr id="8" name="Text 6"/>
          <p:cNvSpPr/>
          <p:nvPr/>
        </p:nvSpPr>
        <p:spPr>
          <a:xfrm>
            <a:off x="329184" y="1572768"/>
            <a:ext cx="2980944" cy="33832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PNR FNX6BN · Status: CONFIRMED badge</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DEL → BOM route hero card (navy bg)</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Vistara UK343 · 13:30 → 15:40</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Progress timeline: Confirmed → Check-in Open</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Payment confirmed: PAY_GB595M shown</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Passengers + Fare Breakdown cards</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Actions: Download Ticket · Check-In · Reschedule · Cancel</a:t>
            </a:r>
            <a:endParaRPr lang="en-US" sz="1100" dirty="0"/>
          </a:p>
        </p:txBody>
      </p:sp>
      <p:sp>
        <p:nvSpPr>
          <p:cNvPr id="9" name="Shape 7"/>
          <p:cNvSpPr/>
          <p:nvPr/>
        </p:nvSpPr>
        <p:spPr>
          <a:xfrm>
            <a:off x="3575304" y="155448"/>
            <a:ext cx="5449824" cy="4919472"/>
          </a:xfrm>
          <a:prstGeom prst="rect">
            <a:avLst/>
          </a:prstGeom>
          <a:solidFill>
            <a:srgbClr val="C7D9F5"/>
          </a:solidFill>
          <a:ln w="12700">
            <a:solidFill>
              <a:srgbClr val="C7D9F5"/>
            </a:solidFill>
            <a:prstDash val="solid"/>
          </a:ln>
        </p:spPr>
      </p:sp>
      <p:sp>
        <p:nvSpPr>
          <p:cNvPr id="10" name="Shape 8"/>
          <p:cNvSpPr/>
          <p:nvPr/>
        </p:nvSpPr>
        <p:spPr>
          <a:xfrm>
            <a:off x="3529584" y="109728"/>
            <a:ext cx="5449824" cy="4919472"/>
          </a:xfrm>
          <a:prstGeom prst="rect">
            <a:avLst/>
          </a:prstGeom>
          <a:solidFill>
            <a:srgbClr val="FFFFFF"/>
          </a:solidFill>
          <a:ln w="12700">
            <a:solidFill>
              <a:srgbClr val="C7D9F5"/>
            </a:solidFill>
            <a:prstDash val="solid"/>
          </a:ln>
        </p:spPr>
      </p:sp>
      <p:sp>
        <p:nvSpPr>
          <p:cNvPr id="11" name="Shape 9"/>
          <p:cNvSpPr/>
          <p:nvPr/>
        </p:nvSpPr>
        <p:spPr>
          <a:xfrm>
            <a:off x="3529584" y="109728"/>
            <a:ext cx="5449824" cy="256032"/>
          </a:xfrm>
          <a:prstGeom prst="rect">
            <a:avLst/>
          </a:prstGeom>
          <a:solidFill>
            <a:srgbClr val="E8EEF8"/>
          </a:solidFill>
          <a:ln w="6350">
            <a:solidFill>
              <a:srgbClr val="D1DAF0"/>
            </a:solidFill>
            <a:prstDash val="solid"/>
          </a:ln>
        </p:spPr>
      </p:sp>
      <p:sp>
        <p:nvSpPr>
          <p:cNvPr id="12" name="Shape 10"/>
          <p:cNvSpPr/>
          <p:nvPr/>
        </p:nvSpPr>
        <p:spPr>
          <a:xfrm>
            <a:off x="3639312" y="173736"/>
            <a:ext cx="118872" cy="118872"/>
          </a:xfrm>
          <a:prstGeom prst="ellipse">
            <a:avLst/>
          </a:prstGeom>
          <a:solidFill>
            <a:srgbClr val="EF4444"/>
          </a:solidFill>
          <a:ln w="12700">
            <a:solidFill>
              <a:srgbClr val="EF4444"/>
            </a:solidFill>
            <a:prstDash val="solid"/>
          </a:ln>
        </p:spPr>
      </p:sp>
      <p:sp>
        <p:nvSpPr>
          <p:cNvPr id="13" name="Shape 11"/>
          <p:cNvSpPr/>
          <p:nvPr/>
        </p:nvSpPr>
        <p:spPr>
          <a:xfrm>
            <a:off x="3776472" y="173736"/>
            <a:ext cx="118872" cy="118872"/>
          </a:xfrm>
          <a:prstGeom prst="ellipse">
            <a:avLst/>
          </a:prstGeom>
          <a:solidFill>
            <a:srgbClr val="F59E0B"/>
          </a:solidFill>
          <a:ln w="12700">
            <a:solidFill>
              <a:srgbClr val="F59E0B"/>
            </a:solidFill>
            <a:prstDash val="solid"/>
          </a:ln>
        </p:spPr>
      </p:sp>
      <p:sp>
        <p:nvSpPr>
          <p:cNvPr id="14" name="Shape 12"/>
          <p:cNvSpPr/>
          <p:nvPr/>
        </p:nvSpPr>
        <p:spPr>
          <a:xfrm>
            <a:off x="3913632" y="173736"/>
            <a:ext cx="118872" cy="118872"/>
          </a:xfrm>
          <a:prstGeom prst="ellipse">
            <a:avLst/>
          </a:prstGeom>
          <a:solidFill>
            <a:srgbClr val="10B981"/>
          </a:solidFill>
          <a:ln w="12700">
            <a:solidFill>
              <a:srgbClr val="10B981"/>
            </a:solidFill>
            <a:prstDash val="solid"/>
          </a:ln>
        </p:spPr>
      </p:sp>
      <p:sp>
        <p:nvSpPr>
          <p:cNvPr id="15" name="Shape 13"/>
          <p:cNvSpPr/>
          <p:nvPr/>
        </p:nvSpPr>
        <p:spPr>
          <a:xfrm>
            <a:off x="4123944" y="155448"/>
            <a:ext cx="3291840" cy="164592"/>
          </a:xfrm>
          <a:prstGeom prst="rect">
            <a:avLst/>
          </a:prstGeom>
          <a:solidFill>
            <a:srgbClr val="FFFFFF"/>
          </a:solidFill>
          <a:ln w="5080">
            <a:solidFill>
              <a:srgbClr val="C7D9F5"/>
            </a:solidFill>
            <a:prstDash val="solid"/>
          </a:ln>
        </p:spPr>
      </p:sp>
      <p:sp>
        <p:nvSpPr>
          <p:cNvPr id="16" name="Text 14"/>
          <p:cNvSpPr/>
          <p:nvPr/>
        </p:nvSpPr>
        <p:spPr>
          <a:xfrm>
            <a:off x="4151376" y="160020"/>
            <a:ext cx="3236976" cy="155448"/>
          </a:xfrm>
          <a:prstGeom prst="rect">
            <a:avLst/>
          </a:prstGeom>
          <a:noFill/>
          <a:ln/>
        </p:spPr>
        <p:txBody>
          <a:bodyPr wrap="square" lIns="0" tIns="0" rIns="0" bIns="0" rtlCol="0" anchor="ctr"/>
          <a:lstStyle/>
          <a:p>
            <a:pPr marL="0" indent="0">
              <a:buNone/>
            </a:pPr>
            <a:r>
              <a:rPr lang="en-US" sz="700" dirty="0">
                <a:solidFill>
                  <a:srgbClr val="6B7280"/>
                </a:solidFill>
                <a:latin typeface="Consolas" pitchFamily="34" charset="0"/>
                <a:ea typeface="Consolas" pitchFamily="34" charset="-122"/>
                <a:cs typeface="Consolas" pitchFamily="34" charset="-120"/>
              </a:rPr>
              <a:t>localhost:8765</a:t>
            </a:r>
            <a:endParaRPr lang="en-US" sz="700" dirty="0"/>
          </a:p>
        </p:txBody>
      </p:sp>
      <p:pic>
        <p:nvPicPr>
          <p:cNvPr id="17" name="Image 0" descr="preencoded.png"/>
          <p:cNvPicPr>
            <a:picLocks noChangeAspect="1"/>
          </p:cNvPicPr>
          <p:nvPr/>
        </p:nvPicPr>
        <p:blipFill>
          <a:blip r:embed="rId3"/>
          <a:stretch>
            <a:fillRect/>
          </a:stretch>
        </p:blipFill>
        <p:spPr>
          <a:xfrm>
            <a:off x="3547872" y="384048"/>
            <a:ext cx="5413248" cy="4626864"/>
          </a:xfrm>
          <a:prstGeom prst="rect">
            <a:avLst/>
          </a:prstGeom>
        </p:spPr>
      </p:pic>
      <p:sp>
        <p:nvSpPr>
          <p:cNvPr id="18" name="Text 15"/>
          <p:cNvSpPr/>
          <p:nvPr/>
        </p:nvSpPr>
        <p:spPr>
          <a:xfrm>
            <a:off x="3529584" y="4956048"/>
            <a:ext cx="5449824" cy="164592"/>
          </a:xfrm>
          <a:prstGeom prst="rect">
            <a:avLst/>
          </a:prstGeom>
          <a:noFill/>
          <a:ln/>
        </p:spPr>
        <p:txBody>
          <a:bodyPr wrap="square" lIns="0" tIns="0" rIns="0" bIns="0" rtlCol="0" anchor="ctr"/>
          <a:lstStyle/>
          <a:p>
            <a:pPr marL="0" indent="0" algn="r">
              <a:buNone/>
            </a:pPr>
            <a:r>
              <a:rPr lang="en-US" sz="750" i="1" dirty="0">
                <a:solidFill>
                  <a:srgbClr val="94A3B8"/>
                </a:solidFill>
                <a:latin typeface="Calibri" pitchFamily="34" charset="0"/>
                <a:ea typeface="Calibri" pitchFamily="34" charset="-122"/>
                <a:cs typeface="Calibri" pitchFamily="34" charset="-120"/>
              </a:rPr>
              <a:t>Slide 12 · Booking Details</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w="12700">
            <a:solidFill>
              <a:srgbClr val="0EA5E9"/>
            </a:solidFill>
            <a:prstDash val="solid"/>
          </a:ln>
        </p:spPr>
      </p:sp>
      <p:sp>
        <p:nvSpPr>
          <p:cNvPr id="3" name="Text 1"/>
          <p:cNvSpPr/>
          <p:nvPr/>
        </p:nvSpPr>
        <p:spPr>
          <a:xfrm>
            <a:off x="256032" y="128016"/>
            <a:ext cx="3108960" cy="566928"/>
          </a:xfrm>
          <a:prstGeom prst="rect">
            <a:avLst/>
          </a:prstGeom>
          <a:noFill/>
          <a:ln/>
        </p:spPr>
        <p:txBody>
          <a:bodyPr wrap="square" lIns="0" tIns="0" rIns="0" bIns="0" rtlCol="0" anchor="ctr"/>
          <a:lstStyle/>
          <a:p>
            <a:pPr marL="0" indent="0">
              <a:buNone/>
            </a:pPr>
            <a:r>
              <a:rPr lang="en-US" sz="2700" b="1" dirty="0">
                <a:solidFill>
                  <a:srgbClr val="0B1437"/>
                </a:solidFill>
                <a:latin typeface="Trebuchet MS" pitchFamily="34" charset="0"/>
                <a:ea typeface="Trebuchet MS" pitchFamily="34" charset="-122"/>
                <a:cs typeface="Trebuchet MS" pitchFamily="34" charset="-120"/>
              </a:rPr>
              <a:t>Frontend Views</a:t>
            </a:r>
            <a:endParaRPr lang="en-US" sz="2700" dirty="0"/>
          </a:p>
        </p:txBody>
      </p:sp>
      <p:sp>
        <p:nvSpPr>
          <p:cNvPr id="4" name="Text 2"/>
          <p:cNvSpPr/>
          <p:nvPr/>
        </p:nvSpPr>
        <p:spPr>
          <a:xfrm>
            <a:off x="256032" y="713232"/>
            <a:ext cx="3108960" cy="237744"/>
          </a:xfrm>
          <a:prstGeom prst="rect">
            <a:avLst/>
          </a:prstGeom>
          <a:noFill/>
          <a:ln/>
        </p:spPr>
        <p:txBody>
          <a:bodyPr wrap="square" lIns="0" tIns="0" rIns="0" bIns="0" rtlCol="0" anchor="ctr"/>
          <a:lstStyle/>
          <a:p>
            <a:pPr marL="0" indent="0">
              <a:buNone/>
            </a:pPr>
            <a:r>
              <a:rPr lang="en-US" sz="1050" i="1" dirty="0">
                <a:solidFill>
                  <a:srgbClr val="334155"/>
                </a:solidFill>
                <a:latin typeface="Calibri" pitchFamily="34" charset="0"/>
                <a:ea typeface="Calibri" pitchFamily="34" charset="-122"/>
                <a:cs typeface="Calibri" pitchFamily="34" charset="-120"/>
              </a:rPr>
              <a:t>Key screens of the SkyWay web application</a:t>
            </a:r>
            <a:endParaRPr lang="en-US" sz="1050" dirty="0"/>
          </a:p>
        </p:txBody>
      </p:sp>
      <p:sp>
        <p:nvSpPr>
          <p:cNvPr id="5" name="Shape 3"/>
          <p:cNvSpPr/>
          <p:nvPr/>
        </p:nvSpPr>
        <p:spPr>
          <a:xfrm>
            <a:off x="228600" y="1042416"/>
            <a:ext cx="3182112" cy="4005072"/>
          </a:xfrm>
          <a:prstGeom prst="rect">
            <a:avLst/>
          </a:prstGeom>
          <a:solidFill>
            <a:srgbClr val="FFFFFF"/>
          </a:solidFill>
          <a:ln w="7620">
            <a:solidFill>
              <a:srgbClr val="D1DAF0"/>
            </a:solidFill>
            <a:prstDash val="solid"/>
          </a:ln>
          <a:effectLst>
            <a:outerShdw blurRad="76200" dist="25400" dir="8100000" algn="bl" rotWithShape="0">
              <a:srgbClr val="000000">
                <a:alpha val="10000"/>
              </a:srgbClr>
            </a:outerShdw>
          </a:effectLst>
        </p:spPr>
      </p:sp>
      <p:sp>
        <p:nvSpPr>
          <p:cNvPr id="6" name="Shape 4"/>
          <p:cNvSpPr/>
          <p:nvPr/>
        </p:nvSpPr>
        <p:spPr>
          <a:xfrm>
            <a:off x="228600" y="1042416"/>
            <a:ext cx="3182112" cy="438912"/>
          </a:xfrm>
          <a:prstGeom prst="rect">
            <a:avLst/>
          </a:prstGeom>
          <a:solidFill>
            <a:srgbClr val="DC2626"/>
          </a:solidFill>
          <a:ln w="12700">
            <a:solidFill>
              <a:srgbClr val="DC2626"/>
            </a:solidFill>
            <a:prstDash val="solid"/>
          </a:ln>
        </p:spPr>
      </p:sp>
      <p:sp>
        <p:nvSpPr>
          <p:cNvPr id="7" name="Text 5"/>
          <p:cNvSpPr/>
          <p:nvPr/>
        </p:nvSpPr>
        <p:spPr>
          <a:xfrm>
            <a:off x="329184" y="1078992"/>
            <a:ext cx="2971800" cy="365760"/>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 PDF Boarding Pass Ticket</a:t>
            </a:r>
            <a:endParaRPr lang="en-US" sz="1350" dirty="0"/>
          </a:p>
        </p:txBody>
      </p:sp>
      <p:sp>
        <p:nvSpPr>
          <p:cNvPr id="8" name="Text 6"/>
          <p:cNvSpPr/>
          <p:nvPr/>
        </p:nvSpPr>
        <p:spPr>
          <a:xfrm>
            <a:off x="329184" y="1572768"/>
            <a:ext cx="2980944" cy="33832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ReportLab-generated PDF download</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Dark navy boarding-pass layout</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VISTARA · Flight UK343 · ECONOMY CLASS</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DEL → BOM · Non-Stop arrow</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13:30 departure · 15:40 arrival</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Passenger: arjun k · Seat: 3A</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QR code pattern on stub · Gate B15 · T3</a:t>
            </a:r>
            <a:endParaRPr lang="en-US" sz="1100" dirty="0"/>
          </a:p>
        </p:txBody>
      </p:sp>
      <p:sp>
        <p:nvSpPr>
          <p:cNvPr id="9" name="Shape 7"/>
          <p:cNvSpPr/>
          <p:nvPr/>
        </p:nvSpPr>
        <p:spPr>
          <a:xfrm>
            <a:off x="3575304" y="155448"/>
            <a:ext cx="5449824" cy="4919472"/>
          </a:xfrm>
          <a:prstGeom prst="rect">
            <a:avLst/>
          </a:prstGeom>
          <a:solidFill>
            <a:srgbClr val="C7D9F5"/>
          </a:solidFill>
          <a:ln w="12700">
            <a:solidFill>
              <a:srgbClr val="C7D9F5"/>
            </a:solidFill>
            <a:prstDash val="solid"/>
          </a:ln>
        </p:spPr>
      </p:sp>
      <p:sp>
        <p:nvSpPr>
          <p:cNvPr id="10" name="Shape 8"/>
          <p:cNvSpPr/>
          <p:nvPr/>
        </p:nvSpPr>
        <p:spPr>
          <a:xfrm>
            <a:off x="3529584" y="109728"/>
            <a:ext cx="5449824" cy="4919472"/>
          </a:xfrm>
          <a:prstGeom prst="rect">
            <a:avLst/>
          </a:prstGeom>
          <a:solidFill>
            <a:srgbClr val="FFFFFF"/>
          </a:solidFill>
          <a:ln w="12700">
            <a:solidFill>
              <a:srgbClr val="C7D9F5"/>
            </a:solidFill>
            <a:prstDash val="solid"/>
          </a:ln>
        </p:spPr>
      </p:sp>
      <p:sp>
        <p:nvSpPr>
          <p:cNvPr id="11" name="Shape 9"/>
          <p:cNvSpPr/>
          <p:nvPr/>
        </p:nvSpPr>
        <p:spPr>
          <a:xfrm>
            <a:off x="3529584" y="109728"/>
            <a:ext cx="5449824" cy="256032"/>
          </a:xfrm>
          <a:prstGeom prst="rect">
            <a:avLst/>
          </a:prstGeom>
          <a:solidFill>
            <a:srgbClr val="E8EEF8"/>
          </a:solidFill>
          <a:ln w="6350">
            <a:solidFill>
              <a:srgbClr val="D1DAF0"/>
            </a:solidFill>
            <a:prstDash val="solid"/>
          </a:ln>
        </p:spPr>
      </p:sp>
      <p:sp>
        <p:nvSpPr>
          <p:cNvPr id="12" name="Shape 10"/>
          <p:cNvSpPr/>
          <p:nvPr/>
        </p:nvSpPr>
        <p:spPr>
          <a:xfrm>
            <a:off x="3639312" y="173736"/>
            <a:ext cx="118872" cy="118872"/>
          </a:xfrm>
          <a:prstGeom prst="ellipse">
            <a:avLst/>
          </a:prstGeom>
          <a:solidFill>
            <a:srgbClr val="EF4444"/>
          </a:solidFill>
          <a:ln w="12700">
            <a:solidFill>
              <a:srgbClr val="EF4444"/>
            </a:solidFill>
            <a:prstDash val="solid"/>
          </a:ln>
        </p:spPr>
      </p:sp>
      <p:sp>
        <p:nvSpPr>
          <p:cNvPr id="13" name="Shape 11"/>
          <p:cNvSpPr/>
          <p:nvPr/>
        </p:nvSpPr>
        <p:spPr>
          <a:xfrm>
            <a:off x="3776472" y="173736"/>
            <a:ext cx="118872" cy="118872"/>
          </a:xfrm>
          <a:prstGeom prst="ellipse">
            <a:avLst/>
          </a:prstGeom>
          <a:solidFill>
            <a:srgbClr val="F59E0B"/>
          </a:solidFill>
          <a:ln w="12700">
            <a:solidFill>
              <a:srgbClr val="F59E0B"/>
            </a:solidFill>
            <a:prstDash val="solid"/>
          </a:ln>
        </p:spPr>
      </p:sp>
      <p:sp>
        <p:nvSpPr>
          <p:cNvPr id="14" name="Shape 12"/>
          <p:cNvSpPr/>
          <p:nvPr/>
        </p:nvSpPr>
        <p:spPr>
          <a:xfrm>
            <a:off x="3913632" y="173736"/>
            <a:ext cx="118872" cy="118872"/>
          </a:xfrm>
          <a:prstGeom prst="ellipse">
            <a:avLst/>
          </a:prstGeom>
          <a:solidFill>
            <a:srgbClr val="10B981"/>
          </a:solidFill>
          <a:ln w="12700">
            <a:solidFill>
              <a:srgbClr val="10B981"/>
            </a:solidFill>
            <a:prstDash val="solid"/>
          </a:ln>
        </p:spPr>
      </p:sp>
      <p:sp>
        <p:nvSpPr>
          <p:cNvPr id="15" name="Shape 13"/>
          <p:cNvSpPr/>
          <p:nvPr/>
        </p:nvSpPr>
        <p:spPr>
          <a:xfrm>
            <a:off x="4123944" y="155448"/>
            <a:ext cx="3291840" cy="164592"/>
          </a:xfrm>
          <a:prstGeom prst="rect">
            <a:avLst/>
          </a:prstGeom>
          <a:solidFill>
            <a:srgbClr val="FFFFFF"/>
          </a:solidFill>
          <a:ln w="5080">
            <a:solidFill>
              <a:srgbClr val="C7D9F5"/>
            </a:solidFill>
            <a:prstDash val="solid"/>
          </a:ln>
        </p:spPr>
      </p:sp>
      <p:sp>
        <p:nvSpPr>
          <p:cNvPr id="16" name="Text 14"/>
          <p:cNvSpPr/>
          <p:nvPr/>
        </p:nvSpPr>
        <p:spPr>
          <a:xfrm>
            <a:off x="4151376" y="160020"/>
            <a:ext cx="3236976" cy="155448"/>
          </a:xfrm>
          <a:prstGeom prst="rect">
            <a:avLst/>
          </a:prstGeom>
          <a:noFill/>
          <a:ln/>
        </p:spPr>
        <p:txBody>
          <a:bodyPr wrap="square" lIns="0" tIns="0" rIns="0" bIns="0" rtlCol="0" anchor="ctr"/>
          <a:lstStyle/>
          <a:p>
            <a:pPr marL="0" indent="0">
              <a:buNone/>
            </a:pPr>
            <a:r>
              <a:rPr lang="en-US" sz="700" dirty="0">
                <a:solidFill>
                  <a:srgbClr val="6B7280"/>
                </a:solidFill>
                <a:latin typeface="Consolas" pitchFamily="34" charset="0"/>
                <a:ea typeface="Consolas" pitchFamily="34" charset="-122"/>
                <a:cs typeface="Consolas" pitchFamily="34" charset="-120"/>
              </a:rPr>
              <a:t>localhost:8765</a:t>
            </a:r>
            <a:endParaRPr lang="en-US" sz="700" dirty="0"/>
          </a:p>
        </p:txBody>
      </p:sp>
      <p:pic>
        <p:nvPicPr>
          <p:cNvPr id="17" name="Image 0" descr="preencoded.png"/>
          <p:cNvPicPr>
            <a:picLocks noChangeAspect="1"/>
          </p:cNvPicPr>
          <p:nvPr/>
        </p:nvPicPr>
        <p:blipFill>
          <a:blip r:embed="rId3"/>
          <a:stretch>
            <a:fillRect/>
          </a:stretch>
        </p:blipFill>
        <p:spPr>
          <a:xfrm>
            <a:off x="3547872" y="384048"/>
            <a:ext cx="5413248" cy="4626864"/>
          </a:xfrm>
          <a:prstGeom prst="rect">
            <a:avLst/>
          </a:prstGeom>
        </p:spPr>
      </p:pic>
      <p:sp>
        <p:nvSpPr>
          <p:cNvPr id="18" name="Text 15"/>
          <p:cNvSpPr/>
          <p:nvPr/>
        </p:nvSpPr>
        <p:spPr>
          <a:xfrm>
            <a:off x="3529584" y="4956048"/>
            <a:ext cx="5449824" cy="164592"/>
          </a:xfrm>
          <a:prstGeom prst="rect">
            <a:avLst/>
          </a:prstGeom>
          <a:noFill/>
          <a:ln/>
        </p:spPr>
        <p:txBody>
          <a:bodyPr wrap="square" lIns="0" tIns="0" rIns="0" bIns="0" rtlCol="0" anchor="ctr"/>
          <a:lstStyle/>
          <a:p>
            <a:pPr marL="0" indent="0" algn="r">
              <a:buNone/>
            </a:pPr>
            <a:r>
              <a:rPr lang="en-US" sz="750" i="1" dirty="0">
                <a:solidFill>
                  <a:srgbClr val="94A3B8"/>
                </a:solidFill>
                <a:latin typeface="Calibri" pitchFamily="34" charset="0"/>
                <a:ea typeface="Calibri" pitchFamily="34" charset="-122"/>
                <a:cs typeface="Calibri" pitchFamily="34" charset="-120"/>
              </a:rPr>
              <a:t>Slide 13 · PDF Boarding Pass</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w="12700">
            <a:solidFill>
              <a:srgbClr val="0EA5E9"/>
            </a:solidFill>
            <a:prstDash val="solid"/>
          </a:ln>
        </p:spPr>
      </p:sp>
      <p:sp>
        <p:nvSpPr>
          <p:cNvPr id="3" name="Text 1"/>
          <p:cNvSpPr/>
          <p:nvPr/>
        </p:nvSpPr>
        <p:spPr>
          <a:xfrm>
            <a:off x="256032" y="128016"/>
            <a:ext cx="3108960" cy="566928"/>
          </a:xfrm>
          <a:prstGeom prst="rect">
            <a:avLst/>
          </a:prstGeom>
          <a:noFill/>
          <a:ln/>
        </p:spPr>
        <p:txBody>
          <a:bodyPr wrap="square" lIns="0" tIns="0" rIns="0" bIns="0" rtlCol="0" anchor="ctr"/>
          <a:lstStyle/>
          <a:p>
            <a:pPr marL="0" indent="0">
              <a:buNone/>
            </a:pPr>
            <a:r>
              <a:rPr lang="en-US" sz="2700" b="1" dirty="0">
                <a:solidFill>
                  <a:srgbClr val="0B1437"/>
                </a:solidFill>
                <a:latin typeface="Trebuchet MS" pitchFamily="34" charset="0"/>
                <a:ea typeface="Trebuchet MS" pitchFamily="34" charset="-122"/>
                <a:cs typeface="Trebuchet MS" pitchFamily="34" charset="-120"/>
              </a:rPr>
              <a:t>Frontend Views</a:t>
            </a:r>
            <a:endParaRPr lang="en-US" sz="2700" dirty="0"/>
          </a:p>
        </p:txBody>
      </p:sp>
      <p:sp>
        <p:nvSpPr>
          <p:cNvPr id="4" name="Text 2"/>
          <p:cNvSpPr/>
          <p:nvPr/>
        </p:nvSpPr>
        <p:spPr>
          <a:xfrm>
            <a:off x="256032" y="713232"/>
            <a:ext cx="3108960" cy="237744"/>
          </a:xfrm>
          <a:prstGeom prst="rect">
            <a:avLst/>
          </a:prstGeom>
          <a:noFill/>
          <a:ln/>
        </p:spPr>
        <p:txBody>
          <a:bodyPr wrap="square" lIns="0" tIns="0" rIns="0" bIns="0" rtlCol="0" anchor="ctr"/>
          <a:lstStyle/>
          <a:p>
            <a:pPr marL="0" indent="0">
              <a:buNone/>
            </a:pPr>
            <a:r>
              <a:rPr lang="en-US" sz="1050" i="1" dirty="0">
                <a:solidFill>
                  <a:srgbClr val="334155"/>
                </a:solidFill>
                <a:latin typeface="Calibri" pitchFamily="34" charset="0"/>
                <a:ea typeface="Calibri" pitchFamily="34" charset="-122"/>
                <a:cs typeface="Calibri" pitchFamily="34" charset="-120"/>
              </a:rPr>
              <a:t>Key screens of the SkyWay web application</a:t>
            </a:r>
            <a:endParaRPr lang="en-US" sz="1050" dirty="0"/>
          </a:p>
        </p:txBody>
      </p:sp>
      <p:sp>
        <p:nvSpPr>
          <p:cNvPr id="5" name="Shape 3"/>
          <p:cNvSpPr/>
          <p:nvPr/>
        </p:nvSpPr>
        <p:spPr>
          <a:xfrm>
            <a:off x="228600" y="1042416"/>
            <a:ext cx="3182112" cy="4005072"/>
          </a:xfrm>
          <a:prstGeom prst="rect">
            <a:avLst/>
          </a:prstGeom>
          <a:solidFill>
            <a:srgbClr val="FFFFFF"/>
          </a:solidFill>
          <a:ln w="7620">
            <a:solidFill>
              <a:srgbClr val="D1DAF0"/>
            </a:solidFill>
            <a:prstDash val="solid"/>
          </a:ln>
          <a:effectLst>
            <a:outerShdw blurRad="76200" dist="25400" dir="8100000" algn="bl" rotWithShape="0">
              <a:srgbClr val="000000">
                <a:alpha val="10000"/>
              </a:srgbClr>
            </a:outerShdw>
          </a:effectLst>
        </p:spPr>
      </p:sp>
      <p:sp>
        <p:nvSpPr>
          <p:cNvPr id="6" name="Shape 4"/>
          <p:cNvSpPr/>
          <p:nvPr/>
        </p:nvSpPr>
        <p:spPr>
          <a:xfrm>
            <a:off x="228600" y="1042416"/>
            <a:ext cx="3182112" cy="438912"/>
          </a:xfrm>
          <a:prstGeom prst="rect">
            <a:avLst/>
          </a:prstGeom>
          <a:solidFill>
            <a:srgbClr val="10B981"/>
          </a:solidFill>
          <a:ln w="12700">
            <a:solidFill>
              <a:srgbClr val="10B981"/>
            </a:solidFill>
            <a:prstDash val="solid"/>
          </a:ln>
        </p:spPr>
      </p:sp>
      <p:sp>
        <p:nvSpPr>
          <p:cNvPr id="7" name="Text 5"/>
          <p:cNvSpPr/>
          <p:nvPr/>
        </p:nvSpPr>
        <p:spPr>
          <a:xfrm>
            <a:off x="329184" y="1078992"/>
            <a:ext cx="2971800" cy="365760"/>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 Web Check-In Page</a:t>
            </a:r>
            <a:endParaRPr lang="en-US" sz="1350" dirty="0"/>
          </a:p>
        </p:txBody>
      </p:sp>
      <p:sp>
        <p:nvSpPr>
          <p:cNvPr id="8" name="Text 6"/>
          <p:cNvSpPr/>
          <p:nvPr/>
        </p:nvSpPr>
        <p:spPr>
          <a:xfrm>
            <a:off x="329184" y="1572768"/>
            <a:ext cx="2980944" cy="33832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Check-in is open! green banner shown</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DEL → BOM · Vistara UK343 · PNR FNX6BN</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Passenger arjun k · Seat 3A displayed</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Emergency Contact + Special Requirement fields</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Baggage Declaration: 15 kg + 7 kg cabin</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Two checkboxes: baggage + terms confirm</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Complete Check-In green button at bottom</a:t>
            </a:r>
            <a:endParaRPr lang="en-US" sz="1100" dirty="0"/>
          </a:p>
        </p:txBody>
      </p:sp>
      <p:sp>
        <p:nvSpPr>
          <p:cNvPr id="9" name="Shape 7"/>
          <p:cNvSpPr/>
          <p:nvPr/>
        </p:nvSpPr>
        <p:spPr>
          <a:xfrm>
            <a:off x="3575304" y="155448"/>
            <a:ext cx="5449824" cy="4919472"/>
          </a:xfrm>
          <a:prstGeom prst="rect">
            <a:avLst/>
          </a:prstGeom>
          <a:solidFill>
            <a:srgbClr val="C7D9F5"/>
          </a:solidFill>
          <a:ln w="12700">
            <a:solidFill>
              <a:srgbClr val="C7D9F5"/>
            </a:solidFill>
            <a:prstDash val="solid"/>
          </a:ln>
        </p:spPr>
      </p:sp>
      <p:sp>
        <p:nvSpPr>
          <p:cNvPr id="10" name="Shape 8"/>
          <p:cNvSpPr/>
          <p:nvPr/>
        </p:nvSpPr>
        <p:spPr>
          <a:xfrm>
            <a:off x="3529584" y="109728"/>
            <a:ext cx="5449824" cy="4919472"/>
          </a:xfrm>
          <a:prstGeom prst="rect">
            <a:avLst/>
          </a:prstGeom>
          <a:solidFill>
            <a:srgbClr val="FFFFFF"/>
          </a:solidFill>
          <a:ln w="12700">
            <a:solidFill>
              <a:srgbClr val="C7D9F5"/>
            </a:solidFill>
            <a:prstDash val="solid"/>
          </a:ln>
        </p:spPr>
      </p:sp>
      <p:sp>
        <p:nvSpPr>
          <p:cNvPr id="11" name="Shape 9"/>
          <p:cNvSpPr/>
          <p:nvPr/>
        </p:nvSpPr>
        <p:spPr>
          <a:xfrm>
            <a:off x="3529584" y="109728"/>
            <a:ext cx="5449824" cy="256032"/>
          </a:xfrm>
          <a:prstGeom prst="rect">
            <a:avLst/>
          </a:prstGeom>
          <a:solidFill>
            <a:srgbClr val="E8EEF8"/>
          </a:solidFill>
          <a:ln w="6350">
            <a:solidFill>
              <a:srgbClr val="D1DAF0"/>
            </a:solidFill>
            <a:prstDash val="solid"/>
          </a:ln>
        </p:spPr>
      </p:sp>
      <p:sp>
        <p:nvSpPr>
          <p:cNvPr id="12" name="Shape 10"/>
          <p:cNvSpPr/>
          <p:nvPr/>
        </p:nvSpPr>
        <p:spPr>
          <a:xfrm>
            <a:off x="3639312" y="173736"/>
            <a:ext cx="118872" cy="118872"/>
          </a:xfrm>
          <a:prstGeom prst="ellipse">
            <a:avLst/>
          </a:prstGeom>
          <a:solidFill>
            <a:srgbClr val="EF4444"/>
          </a:solidFill>
          <a:ln w="12700">
            <a:solidFill>
              <a:srgbClr val="EF4444"/>
            </a:solidFill>
            <a:prstDash val="solid"/>
          </a:ln>
        </p:spPr>
      </p:sp>
      <p:sp>
        <p:nvSpPr>
          <p:cNvPr id="13" name="Shape 11"/>
          <p:cNvSpPr/>
          <p:nvPr/>
        </p:nvSpPr>
        <p:spPr>
          <a:xfrm>
            <a:off x="3776472" y="173736"/>
            <a:ext cx="118872" cy="118872"/>
          </a:xfrm>
          <a:prstGeom prst="ellipse">
            <a:avLst/>
          </a:prstGeom>
          <a:solidFill>
            <a:srgbClr val="F59E0B"/>
          </a:solidFill>
          <a:ln w="12700">
            <a:solidFill>
              <a:srgbClr val="F59E0B"/>
            </a:solidFill>
            <a:prstDash val="solid"/>
          </a:ln>
        </p:spPr>
      </p:sp>
      <p:sp>
        <p:nvSpPr>
          <p:cNvPr id="14" name="Shape 12"/>
          <p:cNvSpPr/>
          <p:nvPr/>
        </p:nvSpPr>
        <p:spPr>
          <a:xfrm>
            <a:off x="3913632" y="173736"/>
            <a:ext cx="118872" cy="118872"/>
          </a:xfrm>
          <a:prstGeom prst="ellipse">
            <a:avLst/>
          </a:prstGeom>
          <a:solidFill>
            <a:srgbClr val="10B981"/>
          </a:solidFill>
          <a:ln w="12700">
            <a:solidFill>
              <a:srgbClr val="10B981"/>
            </a:solidFill>
            <a:prstDash val="solid"/>
          </a:ln>
        </p:spPr>
      </p:sp>
      <p:sp>
        <p:nvSpPr>
          <p:cNvPr id="15" name="Shape 13"/>
          <p:cNvSpPr/>
          <p:nvPr/>
        </p:nvSpPr>
        <p:spPr>
          <a:xfrm>
            <a:off x="4123944" y="155448"/>
            <a:ext cx="3291840" cy="164592"/>
          </a:xfrm>
          <a:prstGeom prst="rect">
            <a:avLst/>
          </a:prstGeom>
          <a:solidFill>
            <a:srgbClr val="FFFFFF"/>
          </a:solidFill>
          <a:ln w="5080">
            <a:solidFill>
              <a:srgbClr val="C7D9F5"/>
            </a:solidFill>
            <a:prstDash val="solid"/>
          </a:ln>
        </p:spPr>
      </p:sp>
      <p:sp>
        <p:nvSpPr>
          <p:cNvPr id="16" name="Text 14"/>
          <p:cNvSpPr/>
          <p:nvPr/>
        </p:nvSpPr>
        <p:spPr>
          <a:xfrm>
            <a:off x="4151376" y="160020"/>
            <a:ext cx="3236976" cy="155448"/>
          </a:xfrm>
          <a:prstGeom prst="rect">
            <a:avLst/>
          </a:prstGeom>
          <a:noFill/>
          <a:ln/>
        </p:spPr>
        <p:txBody>
          <a:bodyPr wrap="square" lIns="0" tIns="0" rIns="0" bIns="0" rtlCol="0" anchor="ctr"/>
          <a:lstStyle/>
          <a:p>
            <a:pPr marL="0" indent="0">
              <a:buNone/>
            </a:pPr>
            <a:r>
              <a:rPr lang="en-US" sz="700" dirty="0">
                <a:solidFill>
                  <a:srgbClr val="6B7280"/>
                </a:solidFill>
                <a:latin typeface="Consolas" pitchFamily="34" charset="0"/>
                <a:ea typeface="Consolas" pitchFamily="34" charset="-122"/>
                <a:cs typeface="Consolas" pitchFamily="34" charset="-120"/>
              </a:rPr>
              <a:t>localhost:8765</a:t>
            </a:r>
            <a:endParaRPr lang="en-US" sz="700" dirty="0"/>
          </a:p>
        </p:txBody>
      </p:sp>
      <p:pic>
        <p:nvPicPr>
          <p:cNvPr id="17" name="Image 0" descr="preencoded.png"/>
          <p:cNvPicPr>
            <a:picLocks noChangeAspect="1"/>
          </p:cNvPicPr>
          <p:nvPr/>
        </p:nvPicPr>
        <p:blipFill>
          <a:blip r:embed="rId3"/>
          <a:stretch>
            <a:fillRect/>
          </a:stretch>
        </p:blipFill>
        <p:spPr>
          <a:xfrm>
            <a:off x="3547872" y="384048"/>
            <a:ext cx="5413248" cy="4626864"/>
          </a:xfrm>
          <a:prstGeom prst="rect">
            <a:avLst/>
          </a:prstGeom>
        </p:spPr>
      </p:pic>
      <p:sp>
        <p:nvSpPr>
          <p:cNvPr id="18" name="Text 15"/>
          <p:cNvSpPr/>
          <p:nvPr/>
        </p:nvSpPr>
        <p:spPr>
          <a:xfrm>
            <a:off x="3529584" y="4956048"/>
            <a:ext cx="5449824" cy="164592"/>
          </a:xfrm>
          <a:prstGeom prst="rect">
            <a:avLst/>
          </a:prstGeom>
          <a:noFill/>
          <a:ln/>
        </p:spPr>
        <p:txBody>
          <a:bodyPr wrap="square" lIns="0" tIns="0" rIns="0" bIns="0" rtlCol="0" anchor="ctr"/>
          <a:lstStyle/>
          <a:p>
            <a:pPr marL="0" indent="0" algn="r">
              <a:buNone/>
            </a:pPr>
            <a:r>
              <a:rPr lang="en-US" sz="750" i="1" dirty="0">
                <a:solidFill>
                  <a:srgbClr val="94A3B8"/>
                </a:solidFill>
                <a:latin typeface="Calibri" pitchFamily="34" charset="0"/>
                <a:ea typeface="Calibri" pitchFamily="34" charset="-122"/>
                <a:cs typeface="Calibri" pitchFamily="34" charset="-120"/>
              </a:rPr>
              <a:t>Slide 14 · Web Check-In</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w="12700">
            <a:solidFill>
              <a:srgbClr val="0EA5E9"/>
            </a:solidFill>
            <a:prstDash val="solid"/>
          </a:ln>
        </p:spPr>
      </p:sp>
      <p:sp>
        <p:nvSpPr>
          <p:cNvPr id="3" name="Text 1"/>
          <p:cNvSpPr/>
          <p:nvPr/>
        </p:nvSpPr>
        <p:spPr>
          <a:xfrm>
            <a:off x="256032" y="128016"/>
            <a:ext cx="3108960" cy="566928"/>
          </a:xfrm>
          <a:prstGeom prst="rect">
            <a:avLst/>
          </a:prstGeom>
          <a:noFill/>
          <a:ln/>
        </p:spPr>
        <p:txBody>
          <a:bodyPr wrap="square" lIns="0" tIns="0" rIns="0" bIns="0" rtlCol="0" anchor="ctr"/>
          <a:lstStyle/>
          <a:p>
            <a:pPr marL="0" indent="0">
              <a:buNone/>
            </a:pPr>
            <a:r>
              <a:rPr lang="en-US" sz="2700" b="1" dirty="0">
                <a:solidFill>
                  <a:srgbClr val="0B1437"/>
                </a:solidFill>
                <a:latin typeface="Trebuchet MS" pitchFamily="34" charset="0"/>
                <a:ea typeface="Trebuchet MS" pitchFamily="34" charset="-122"/>
                <a:cs typeface="Trebuchet MS" pitchFamily="34" charset="-120"/>
              </a:rPr>
              <a:t>Frontend Views</a:t>
            </a:r>
            <a:endParaRPr lang="en-US" sz="2700" dirty="0"/>
          </a:p>
        </p:txBody>
      </p:sp>
      <p:sp>
        <p:nvSpPr>
          <p:cNvPr id="4" name="Text 2"/>
          <p:cNvSpPr/>
          <p:nvPr/>
        </p:nvSpPr>
        <p:spPr>
          <a:xfrm>
            <a:off x="256032" y="713232"/>
            <a:ext cx="3108960" cy="237744"/>
          </a:xfrm>
          <a:prstGeom prst="rect">
            <a:avLst/>
          </a:prstGeom>
          <a:noFill/>
          <a:ln/>
        </p:spPr>
        <p:txBody>
          <a:bodyPr wrap="square" lIns="0" tIns="0" rIns="0" bIns="0" rtlCol="0" anchor="ctr"/>
          <a:lstStyle/>
          <a:p>
            <a:pPr marL="0" indent="0">
              <a:buNone/>
            </a:pPr>
            <a:r>
              <a:rPr lang="en-US" sz="1050" i="1" dirty="0">
                <a:solidFill>
                  <a:srgbClr val="334155"/>
                </a:solidFill>
                <a:latin typeface="Calibri" pitchFamily="34" charset="0"/>
                <a:ea typeface="Calibri" pitchFamily="34" charset="-122"/>
                <a:cs typeface="Calibri" pitchFamily="34" charset="-120"/>
              </a:rPr>
              <a:t>Key screens of the SkyWay web application</a:t>
            </a:r>
            <a:endParaRPr lang="en-US" sz="1050" dirty="0"/>
          </a:p>
        </p:txBody>
      </p:sp>
      <p:sp>
        <p:nvSpPr>
          <p:cNvPr id="5" name="Shape 3"/>
          <p:cNvSpPr/>
          <p:nvPr/>
        </p:nvSpPr>
        <p:spPr>
          <a:xfrm>
            <a:off x="228600" y="1042416"/>
            <a:ext cx="3182112" cy="4005072"/>
          </a:xfrm>
          <a:prstGeom prst="rect">
            <a:avLst/>
          </a:prstGeom>
          <a:solidFill>
            <a:srgbClr val="FFFFFF"/>
          </a:solidFill>
          <a:ln w="7620">
            <a:solidFill>
              <a:srgbClr val="D1DAF0"/>
            </a:solidFill>
            <a:prstDash val="solid"/>
          </a:ln>
          <a:effectLst>
            <a:outerShdw blurRad="76200" dist="25400" dir="8100000" algn="bl" rotWithShape="0">
              <a:srgbClr val="000000">
                <a:alpha val="10000"/>
              </a:srgbClr>
            </a:outerShdw>
          </a:effectLst>
        </p:spPr>
      </p:sp>
      <p:sp>
        <p:nvSpPr>
          <p:cNvPr id="6" name="Shape 4"/>
          <p:cNvSpPr/>
          <p:nvPr/>
        </p:nvSpPr>
        <p:spPr>
          <a:xfrm>
            <a:off x="228600" y="1042416"/>
            <a:ext cx="3182112" cy="438912"/>
          </a:xfrm>
          <a:prstGeom prst="rect">
            <a:avLst/>
          </a:prstGeom>
          <a:solidFill>
            <a:srgbClr val="0EA5E9"/>
          </a:solidFill>
          <a:ln w="12700">
            <a:solidFill>
              <a:srgbClr val="0EA5E9"/>
            </a:solidFill>
            <a:prstDash val="solid"/>
          </a:ln>
        </p:spPr>
      </p:sp>
      <p:sp>
        <p:nvSpPr>
          <p:cNvPr id="7" name="Text 5"/>
          <p:cNvSpPr/>
          <p:nvPr/>
        </p:nvSpPr>
        <p:spPr>
          <a:xfrm>
            <a:off x="329184" y="1078992"/>
            <a:ext cx="2971800" cy="365760"/>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 Check-In Successful — Boarding Pass</a:t>
            </a:r>
            <a:endParaRPr lang="en-US" sz="1350" dirty="0"/>
          </a:p>
        </p:txBody>
      </p:sp>
      <p:sp>
        <p:nvSpPr>
          <p:cNvPr id="8" name="Text 6"/>
          <p:cNvSpPr/>
          <p:nvPr/>
        </p:nvSpPr>
        <p:spPr>
          <a:xfrm>
            <a:off x="329184" y="1572768"/>
            <a:ext cx="2980944" cy="33832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Modal popup: Check-In Successful!</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Dark navy boarding pass card in modal</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DEL → BOM route shown large</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Passenger: arjun k · Flight: UK343</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Seat: 3A · Date: 2026-04-06 · 13:30</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PNR: FNX6BN displayed in mono font</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Download Boarding Pass + My Bookings buttons</a:t>
            </a:r>
            <a:endParaRPr lang="en-US" sz="1100" dirty="0"/>
          </a:p>
        </p:txBody>
      </p:sp>
      <p:sp>
        <p:nvSpPr>
          <p:cNvPr id="9" name="Shape 7"/>
          <p:cNvSpPr/>
          <p:nvPr/>
        </p:nvSpPr>
        <p:spPr>
          <a:xfrm>
            <a:off x="3575304" y="155448"/>
            <a:ext cx="5449824" cy="4919472"/>
          </a:xfrm>
          <a:prstGeom prst="rect">
            <a:avLst/>
          </a:prstGeom>
          <a:solidFill>
            <a:srgbClr val="C7D9F5"/>
          </a:solidFill>
          <a:ln w="12700">
            <a:solidFill>
              <a:srgbClr val="C7D9F5"/>
            </a:solidFill>
            <a:prstDash val="solid"/>
          </a:ln>
        </p:spPr>
      </p:sp>
      <p:sp>
        <p:nvSpPr>
          <p:cNvPr id="10" name="Shape 8"/>
          <p:cNvSpPr/>
          <p:nvPr/>
        </p:nvSpPr>
        <p:spPr>
          <a:xfrm>
            <a:off x="3529584" y="109728"/>
            <a:ext cx="5449824" cy="4919472"/>
          </a:xfrm>
          <a:prstGeom prst="rect">
            <a:avLst/>
          </a:prstGeom>
          <a:solidFill>
            <a:srgbClr val="FFFFFF"/>
          </a:solidFill>
          <a:ln w="12700">
            <a:solidFill>
              <a:srgbClr val="C7D9F5"/>
            </a:solidFill>
            <a:prstDash val="solid"/>
          </a:ln>
        </p:spPr>
      </p:sp>
      <p:sp>
        <p:nvSpPr>
          <p:cNvPr id="11" name="Shape 9"/>
          <p:cNvSpPr/>
          <p:nvPr/>
        </p:nvSpPr>
        <p:spPr>
          <a:xfrm>
            <a:off x="3529584" y="109728"/>
            <a:ext cx="5449824" cy="256032"/>
          </a:xfrm>
          <a:prstGeom prst="rect">
            <a:avLst/>
          </a:prstGeom>
          <a:solidFill>
            <a:srgbClr val="E8EEF8"/>
          </a:solidFill>
          <a:ln w="6350">
            <a:solidFill>
              <a:srgbClr val="D1DAF0"/>
            </a:solidFill>
            <a:prstDash val="solid"/>
          </a:ln>
        </p:spPr>
      </p:sp>
      <p:sp>
        <p:nvSpPr>
          <p:cNvPr id="12" name="Shape 10"/>
          <p:cNvSpPr/>
          <p:nvPr/>
        </p:nvSpPr>
        <p:spPr>
          <a:xfrm>
            <a:off x="3639312" y="173736"/>
            <a:ext cx="118872" cy="118872"/>
          </a:xfrm>
          <a:prstGeom prst="ellipse">
            <a:avLst/>
          </a:prstGeom>
          <a:solidFill>
            <a:srgbClr val="EF4444"/>
          </a:solidFill>
          <a:ln w="12700">
            <a:solidFill>
              <a:srgbClr val="EF4444"/>
            </a:solidFill>
            <a:prstDash val="solid"/>
          </a:ln>
        </p:spPr>
      </p:sp>
      <p:sp>
        <p:nvSpPr>
          <p:cNvPr id="13" name="Shape 11"/>
          <p:cNvSpPr/>
          <p:nvPr/>
        </p:nvSpPr>
        <p:spPr>
          <a:xfrm>
            <a:off x="3776472" y="173736"/>
            <a:ext cx="118872" cy="118872"/>
          </a:xfrm>
          <a:prstGeom prst="ellipse">
            <a:avLst/>
          </a:prstGeom>
          <a:solidFill>
            <a:srgbClr val="F59E0B"/>
          </a:solidFill>
          <a:ln w="12700">
            <a:solidFill>
              <a:srgbClr val="F59E0B"/>
            </a:solidFill>
            <a:prstDash val="solid"/>
          </a:ln>
        </p:spPr>
      </p:sp>
      <p:sp>
        <p:nvSpPr>
          <p:cNvPr id="14" name="Shape 12"/>
          <p:cNvSpPr/>
          <p:nvPr/>
        </p:nvSpPr>
        <p:spPr>
          <a:xfrm>
            <a:off x="3913632" y="173736"/>
            <a:ext cx="118872" cy="118872"/>
          </a:xfrm>
          <a:prstGeom prst="ellipse">
            <a:avLst/>
          </a:prstGeom>
          <a:solidFill>
            <a:srgbClr val="10B981"/>
          </a:solidFill>
          <a:ln w="12700">
            <a:solidFill>
              <a:srgbClr val="10B981"/>
            </a:solidFill>
            <a:prstDash val="solid"/>
          </a:ln>
        </p:spPr>
      </p:sp>
      <p:sp>
        <p:nvSpPr>
          <p:cNvPr id="15" name="Shape 13"/>
          <p:cNvSpPr/>
          <p:nvPr/>
        </p:nvSpPr>
        <p:spPr>
          <a:xfrm>
            <a:off x="4123944" y="155448"/>
            <a:ext cx="3291840" cy="164592"/>
          </a:xfrm>
          <a:prstGeom prst="rect">
            <a:avLst/>
          </a:prstGeom>
          <a:solidFill>
            <a:srgbClr val="FFFFFF"/>
          </a:solidFill>
          <a:ln w="5080">
            <a:solidFill>
              <a:srgbClr val="C7D9F5"/>
            </a:solidFill>
            <a:prstDash val="solid"/>
          </a:ln>
        </p:spPr>
      </p:sp>
      <p:sp>
        <p:nvSpPr>
          <p:cNvPr id="16" name="Text 14"/>
          <p:cNvSpPr/>
          <p:nvPr/>
        </p:nvSpPr>
        <p:spPr>
          <a:xfrm>
            <a:off x="4151376" y="160020"/>
            <a:ext cx="3236976" cy="155448"/>
          </a:xfrm>
          <a:prstGeom prst="rect">
            <a:avLst/>
          </a:prstGeom>
          <a:noFill/>
          <a:ln/>
        </p:spPr>
        <p:txBody>
          <a:bodyPr wrap="square" lIns="0" tIns="0" rIns="0" bIns="0" rtlCol="0" anchor="ctr"/>
          <a:lstStyle/>
          <a:p>
            <a:pPr marL="0" indent="0">
              <a:buNone/>
            </a:pPr>
            <a:r>
              <a:rPr lang="en-US" sz="700" dirty="0">
                <a:solidFill>
                  <a:srgbClr val="6B7280"/>
                </a:solidFill>
                <a:latin typeface="Consolas" pitchFamily="34" charset="0"/>
                <a:ea typeface="Consolas" pitchFamily="34" charset="-122"/>
                <a:cs typeface="Consolas" pitchFamily="34" charset="-120"/>
              </a:rPr>
              <a:t>localhost:8765</a:t>
            </a:r>
            <a:endParaRPr lang="en-US" sz="700" dirty="0"/>
          </a:p>
        </p:txBody>
      </p:sp>
      <p:pic>
        <p:nvPicPr>
          <p:cNvPr id="17" name="Image 0" descr="preencoded.png"/>
          <p:cNvPicPr>
            <a:picLocks noChangeAspect="1"/>
          </p:cNvPicPr>
          <p:nvPr/>
        </p:nvPicPr>
        <p:blipFill>
          <a:blip r:embed="rId3"/>
          <a:stretch>
            <a:fillRect/>
          </a:stretch>
        </p:blipFill>
        <p:spPr>
          <a:xfrm>
            <a:off x="3547872" y="384048"/>
            <a:ext cx="5413248" cy="4626864"/>
          </a:xfrm>
          <a:prstGeom prst="rect">
            <a:avLst/>
          </a:prstGeom>
        </p:spPr>
      </p:pic>
      <p:sp>
        <p:nvSpPr>
          <p:cNvPr id="18" name="Text 15"/>
          <p:cNvSpPr/>
          <p:nvPr/>
        </p:nvSpPr>
        <p:spPr>
          <a:xfrm>
            <a:off x="3529584" y="4956048"/>
            <a:ext cx="5449824" cy="164592"/>
          </a:xfrm>
          <a:prstGeom prst="rect">
            <a:avLst/>
          </a:prstGeom>
          <a:noFill/>
          <a:ln/>
        </p:spPr>
        <p:txBody>
          <a:bodyPr wrap="square" lIns="0" tIns="0" rIns="0" bIns="0" rtlCol="0" anchor="ctr"/>
          <a:lstStyle/>
          <a:p>
            <a:pPr marL="0" indent="0" algn="r">
              <a:buNone/>
            </a:pPr>
            <a:r>
              <a:rPr lang="en-US" sz="750" i="1" dirty="0">
                <a:solidFill>
                  <a:srgbClr val="94A3B8"/>
                </a:solidFill>
                <a:latin typeface="Calibri" pitchFamily="34" charset="0"/>
                <a:ea typeface="Calibri" pitchFamily="34" charset="-122"/>
                <a:cs typeface="Calibri" pitchFamily="34" charset="-120"/>
              </a:rPr>
              <a:t>Slide 15 · Boarding Pass Modal</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w="12700">
            <a:solidFill>
              <a:srgbClr val="0EA5E9"/>
            </a:solidFill>
            <a:prstDash val="solid"/>
          </a:ln>
        </p:spPr>
      </p:sp>
      <p:sp>
        <p:nvSpPr>
          <p:cNvPr id="3" name="Text 1"/>
          <p:cNvSpPr/>
          <p:nvPr/>
        </p:nvSpPr>
        <p:spPr>
          <a:xfrm>
            <a:off x="256032" y="128016"/>
            <a:ext cx="3108960" cy="566928"/>
          </a:xfrm>
          <a:prstGeom prst="rect">
            <a:avLst/>
          </a:prstGeom>
          <a:noFill/>
          <a:ln/>
        </p:spPr>
        <p:txBody>
          <a:bodyPr wrap="square" lIns="0" tIns="0" rIns="0" bIns="0" rtlCol="0" anchor="ctr"/>
          <a:lstStyle/>
          <a:p>
            <a:pPr marL="0" indent="0">
              <a:buNone/>
            </a:pPr>
            <a:r>
              <a:rPr lang="en-US" sz="2700" b="1" dirty="0">
                <a:solidFill>
                  <a:srgbClr val="0B1437"/>
                </a:solidFill>
                <a:latin typeface="Trebuchet MS" pitchFamily="34" charset="0"/>
                <a:ea typeface="Trebuchet MS" pitchFamily="34" charset="-122"/>
                <a:cs typeface="Trebuchet MS" pitchFamily="34" charset="-120"/>
              </a:rPr>
              <a:t>Frontend Views</a:t>
            </a:r>
            <a:endParaRPr lang="en-US" sz="2700" dirty="0"/>
          </a:p>
        </p:txBody>
      </p:sp>
      <p:sp>
        <p:nvSpPr>
          <p:cNvPr id="4" name="Text 2"/>
          <p:cNvSpPr/>
          <p:nvPr/>
        </p:nvSpPr>
        <p:spPr>
          <a:xfrm>
            <a:off x="256032" y="713232"/>
            <a:ext cx="3108960" cy="237744"/>
          </a:xfrm>
          <a:prstGeom prst="rect">
            <a:avLst/>
          </a:prstGeom>
          <a:noFill/>
          <a:ln/>
        </p:spPr>
        <p:txBody>
          <a:bodyPr wrap="square" lIns="0" tIns="0" rIns="0" bIns="0" rtlCol="0" anchor="ctr"/>
          <a:lstStyle/>
          <a:p>
            <a:pPr marL="0" indent="0">
              <a:buNone/>
            </a:pPr>
            <a:r>
              <a:rPr lang="en-US" sz="1050" i="1" dirty="0">
                <a:solidFill>
                  <a:srgbClr val="334155"/>
                </a:solidFill>
                <a:latin typeface="Calibri" pitchFamily="34" charset="0"/>
                <a:ea typeface="Calibri" pitchFamily="34" charset="-122"/>
                <a:cs typeface="Calibri" pitchFamily="34" charset="-120"/>
              </a:rPr>
              <a:t>Key screens of the SkyWay web application</a:t>
            </a:r>
            <a:endParaRPr lang="en-US" sz="1050" dirty="0"/>
          </a:p>
        </p:txBody>
      </p:sp>
      <p:sp>
        <p:nvSpPr>
          <p:cNvPr id="5" name="Shape 3"/>
          <p:cNvSpPr/>
          <p:nvPr/>
        </p:nvSpPr>
        <p:spPr>
          <a:xfrm>
            <a:off x="228600" y="1042416"/>
            <a:ext cx="3182112" cy="4005072"/>
          </a:xfrm>
          <a:prstGeom prst="rect">
            <a:avLst/>
          </a:prstGeom>
          <a:solidFill>
            <a:srgbClr val="FFFFFF"/>
          </a:solidFill>
          <a:ln w="7620">
            <a:solidFill>
              <a:srgbClr val="D1DAF0"/>
            </a:solidFill>
            <a:prstDash val="solid"/>
          </a:ln>
          <a:effectLst>
            <a:outerShdw blurRad="76200" dist="25400" dir="8100000" algn="bl" rotWithShape="0">
              <a:srgbClr val="000000">
                <a:alpha val="10000"/>
              </a:srgbClr>
            </a:outerShdw>
          </a:effectLst>
        </p:spPr>
      </p:sp>
      <p:sp>
        <p:nvSpPr>
          <p:cNvPr id="6" name="Shape 4"/>
          <p:cNvSpPr/>
          <p:nvPr/>
        </p:nvSpPr>
        <p:spPr>
          <a:xfrm>
            <a:off x="228600" y="1042416"/>
            <a:ext cx="3182112" cy="438912"/>
          </a:xfrm>
          <a:prstGeom prst="rect">
            <a:avLst/>
          </a:prstGeom>
          <a:solidFill>
            <a:srgbClr val="92400E"/>
          </a:solidFill>
          <a:ln w="12700">
            <a:solidFill>
              <a:srgbClr val="92400E"/>
            </a:solidFill>
            <a:prstDash val="solid"/>
          </a:ln>
        </p:spPr>
      </p:sp>
      <p:sp>
        <p:nvSpPr>
          <p:cNvPr id="7" name="Text 5"/>
          <p:cNvSpPr/>
          <p:nvPr/>
        </p:nvSpPr>
        <p:spPr>
          <a:xfrm>
            <a:off x="329184" y="1078992"/>
            <a:ext cx="2971800" cy="365760"/>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 Admin Dashboard</a:t>
            </a:r>
            <a:endParaRPr lang="en-US" sz="1350" dirty="0"/>
          </a:p>
        </p:txBody>
      </p:sp>
      <p:sp>
        <p:nvSpPr>
          <p:cNvPr id="8" name="Text 6"/>
          <p:cNvSpPr/>
          <p:nvPr/>
        </p:nvSpPr>
        <p:spPr>
          <a:xfrm>
            <a:off x="329184" y="1572768"/>
            <a:ext cx="2980944" cy="33832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Admin Panel header (dark brown gradient)</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6 tabs: Dashboard · All Bookings · Users</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Flight Status · Notifications · Revenue</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4 stat cards: Revenue ₹1,46,001 · 6 bookings</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6 paid bookings · 1 registered user</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Bookings by Airline bar chart (Air India 3)</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Booking Status: Cancelled 3, Confirmed 2</a:t>
            </a:r>
            <a:endParaRPr lang="en-US" sz="1100" dirty="0"/>
          </a:p>
        </p:txBody>
      </p:sp>
      <p:sp>
        <p:nvSpPr>
          <p:cNvPr id="9" name="Shape 7"/>
          <p:cNvSpPr/>
          <p:nvPr/>
        </p:nvSpPr>
        <p:spPr>
          <a:xfrm>
            <a:off x="3575304" y="155448"/>
            <a:ext cx="5449824" cy="4919472"/>
          </a:xfrm>
          <a:prstGeom prst="rect">
            <a:avLst/>
          </a:prstGeom>
          <a:solidFill>
            <a:srgbClr val="C7D9F5"/>
          </a:solidFill>
          <a:ln w="12700">
            <a:solidFill>
              <a:srgbClr val="C7D9F5"/>
            </a:solidFill>
            <a:prstDash val="solid"/>
          </a:ln>
        </p:spPr>
      </p:sp>
      <p:sp>
        <p:nvSpPr>
          <p:cNvPr id="10" name="Shape 8"/>
          <p:cNvSpPr/>
          <p:nvPr/>
        </p:nvSpPr>
        <p:spPr>
          <a:xfrm>
            <a:off x="3529584" y="109728"/>
            <a:ext cx="5449824" cy="4919472"/>
          </a:xfrm>
          <a:prstGeom prst="rect">
            <a:avLst/>
          </a:prstGeom>
          <a:solidFill>
            <a:srgbClr val="FFFFFF"/>
          </a:solidFill>
          <a:ln w="12700">
            <a:solidFill>
              <a:srgbClr val="C7D9F5"/>
            </a:solidFill>
            <a:prstDash val="solid"/>
          </a:ln>
        </p:spPr>
      </p:sp>
      <p:sp>
        <p:nvSpPr>
          <p:cNvPr id="11" name="Shape 9"/>
          <p:cNvSpPr/>
          <p:nvPr/>
        </p:nvSpPr>
        <p:spPr>
          <a:xfrm>
            <a:off x="3529584" y="109728"/>
            <a:ext cx="5449824" cy="256032"/>
          </a:xfrm>
          <a:prstGeom prst="rect">
            <a:avLst/>
          </a:prstGeom>
          <a:solidFill>
            <a:srgbClr val="E8EEF8"/>
          </a:solidFill>
          <a:ln w="6350">
            <a:solidFill>
              <a:srgbClr val="D1DAF0"/>
            </a:solidFill>
            <a:prstDash val="solid"/>
          </a:ln>
        </p:spPr>
      </p:sp>
      <p:sp>
        <p:nvSpPr>
          <p:cNvPr id="12" name="Shape 10"/>
          <p:cNvSpPr/>
          <p:nvPr/>
        </p:nvSpPr>
        <p:spPr>
          <a:xfrm>
            <a:off x="3639312" y="173736"/>
            <a:ext cx="118872" cy="118872"/>
          </a:xfrm>
          <a:prstGeom prst="ellipse">
            <a:avLst/>
          </a:prstGeom>
          <a:solidFill>
            <a:srgbClr val="EF4444"/>
          </a:solidFill>
          <a:ln w="12700">
            <a:solidFill>
              <a:srgbClr val="EF4444"/>
            </a:solidFill>
            <a:prstDash val="solid"/>
          </a:ln>
        </p:spPr>
      </p:sp>
      <p:sp>
        <p:nvSpPr>
          <p:cNvPr id="13" name="Shape 11"/>
          <p:cNvSpPr/>
          <p:nvPr/>
        </p:nvSpPr>
        <p:spPr>
          <a:xfrm>
            <a:off x="3776472" y="173736"/>
            <a:ext cx="118872" cy="118872"/>
          </a:xfrm>
          <a:prstGeom prst="ellipse">
            <a:avLst/>
          </a:prstGeom>
          <a:solidFill>
            <a:srgbClr val="F59E0B"/>
          </a:solidFill>
          <a:ln w="12700">
            <a:solidFill>
              <a:srgbClr val="F59E0B"/>
            </a:solidFill>
            <a:prstDash val="solid"/>
          </a:ln>
        </p:spPr>
      </p:sp>
      <p:sp>
        <p:nvSpPr>
          <p:cNvPr id="14" name="Shape 12"/>
          <p:cNvSpPr/>
          <p:nvPr/>
        </p:nvSpPr>
        <p:spPr>
          <a:xfrm>
            <a:off x="3913632" y="173736"/>
            <a:ext cx="118872" cy="118872"/>
          </a:xfrm>
          <a:prstGeom prst="ellipse">
            <a:avLst/>
          </a:prstGeom>
          <a:solidFill>
            <a:srgbClr val="10B981"/>
          </a:solidFill>
          <a:ln w="12700">
            <a:solidFill>
              <a:srgbClr val="10B981"/>
            </a:solidFill>
            <a:prstDash val="solid"/>
          </a:ln>
        </p:spPr>
      </p:sp>
      <p:sp>
        <p:nvSpPr>
          <p:cNvPr id="15" name="Shape 13"/>
          <p:cNvSpPr/>
          <p:nvPr/>
        </p:nvSpPr>
        <p:spPr>
          <a:xfrm>
            <a:off x="4123944" y="155448"/>
            <a:ext cx="3291840" cy="164592"/>
          </a:xfrm>
          <a:prstGeom prst="rect">
            <a:avLst/>
          </a:prstGeom>
          <a:solidFill>
            <a:srgbClr val="FFFFFF"/>
          </a:solidFill>
          <a:ln w="5080">
            <a:solidFill>
              <a:srgbClr val="C7D9F5"/>
            </a:solidFill>
            <a:prstDash val="solid"/>
          </a:ln>
        </p:spPr>
      </p:sp>
      <p:sp>
        <p:nvSpPr>
          <p:cNvPr id="16" name="Text 14"/>
          <p:cNvSpPr/>
          <p:nvPr/>
        </p:nvSpPr>
        <p:spPr>
          <a:xfrm>
            <a:off x="4151376" y="160020"/>
            <a:ext cx="3236976" cy="155448"/>
          </a:xfrm>
          <a:prstGeom prst="rect">
            <a:avLst/>
          </a:prstGeom>
          <a:noFill/>
          <a:ln/>
        </p:spPr>
        <p:txBody>
          <a:bodyPr wrap="square" lIns="0" tIns="0" rIns="0" bIns="0" rtlCol="0" anchor="ctr"/>
          <a:lstStyle/>
          <a:p>
            <a:pPr marL="0" indent="0">
              <a:buNone/>
            </a:pPr>
            <a:r>
              <a:rPr lang="en-US" sz="700" dirty="0">
                <a:solidFill>
                  <a:srgbClr val="6B7280"/>
                </a:solidFill>
                <a:latin typeface="Consolas" pitchFamily="34" charset="0"/>
                <a:ea typeface="Consolas" pitchFamily="34" charset="-122"/>
                <a:cs typeface="Consolas" pitchFamily="34" charset="-120"/>
              </a:rPr>
              <a:t>localhost:8765</a:t>
            </a:r>
            <a:endParaRPr lang="en-US" sz="700" dirty="0"/>
          </a:p>
        </p:txBody>
      </p:sp>
      <p:pic>
        <p:nvPicPr>
          <p:cNvPr id="17" name="Image 0" descr="preencoded.png"/>
          <p:cNvPicPr>
            <a:picLocks noChangeAspect="1"/>
          </p:cNvPicPr>
          <p:nvPr/>
        </p:nvPicPr>
        <p:blipFill>
          <a:blip r:embed="rId3"/>
          <a:stretch>
            <a:fillRect/>
          </a:stretch>
        </p:blipFill>
        <p:spPr>
          <a:xfrm>
            <a:off x="3547872" y="384048"/>
            <a:ext cx="5413248" cy="4626864"/>
          </a:xfrm>
          <a:prstGeom prst="rect">
            <a:avLst/>
          </a:prstGeom>
        </p:spPr>
      </p:pic>
      <p:sp>
        <p:nvSpPr>
          <p:cNvPr id="18" name="Text 15"/>
          <p:cNvSpPr/>
          <p:nvPr/>
        </p:nvSpPr>
        <p:spPr>
          <a:xfrm>
            <a:off x="3529584" y="4956048"/>
            <a:ext cx="5449824" cy="164592"/>
          </a:xfrm>
          <a:prstGeom prst="rect">
            <a:avLst/>
          </a:prstGeom>
          <a:noFill/>
          <a:ln/>
        </p:spPr>
        <p:txBody>
          <a:bodyPr wrap="square" lIns="0" tIns="0" rIns="0" bIns="0" rtlCol="0" anchor="ctr"/>
          <a:lstStyle/>
          <a:p>
            <a:pPr marL="0" indent="0" algn="r">
              <a:buNone/>
            </a:pPr>
            <a:r>
              <a:rPr lang="en-US" sz="750" i="1" dirty="0">
                <a:solidFill>
                  <a:srgbClr val="94A3B8"/>
                </a:solidFill>
                <a:latin typeface="Calibri" pitchFamily="34" charset="0"/>
                <a:ea typeface="Calibri" pitchFamily="34" charset="-122"/>
                <a:cs typeface="Calibri" pitchFamily="34" charset="-120"/>
              </a:rPr>
              <a:t>Slide 16 · Admin Dashboard</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w="12700">
            <a:solidFill>
              <a:srgbClr val="0EA5E9"/>
            </a:solidFill>
            <a:prstDash val="solid"/>
          </a:ln>
        </p:spPr>
      </p:sp>
      <p:sp>
        <p:nvSpPr>
          <p:cNvPr id="3" name="Text 1"/>
          <p:cNvSpPr/>
          <p:nvPr/>
        </p:nvSpPr>
        <p:spPr>
          <a:xfrm>
            <a:off x="256032" y="128016"/>
            <a:ext cx="3108960" cy="566928"/>
          </a:xfrm>
          <a:prstGeom prst="rect">
            <a:avLst/>
          </a:prstGeom>
          <a:noFill/>
          <a:ln/>
        </p:spPr>
        <p:txBody>
          <a:bodyPr wrap="square" lIns="0" tIns="0" rIns="0" bIns="0" rtlCol="0" anchor="ctr"/>
          <a:lstStyle/>
          <a:p>
            <a:pPr marL="0" indent="0">
              <a:buNone/>
            </a:pPr>
            <a:r>
              <a:rPr lang="en-US" sz="2700" b="1" dirty="0">
                <a:solidFill>
                  <a:srgbClr val="0B1437"/>
                </a:solidFill>
                <a:latin typeface="Trebuchet MS" pitchFamily="34" charset="0"/>
                <a:ea typeface="Trebuchet MS" pitchFamily="34" charset="-122"/>
                <a:cs typeface="Trebuchet MS" pitchFamily="34" charset="-120"/>
              </a:rPr>
              <a:t>Frontend Views</a:t>
            </a:r>
            <a:endParaRPr lang="en-US" sz="2700" dirty="0"/>
          </a:p>
        </p:txBody>
      </p:sp>
      <p:sp>
        <p:nvSpPr>
          <p:cNvPr id="4" name="Text 2"/>
          <p:cNvSpPr/>
          <p:nvPr/>
        </p:nvSpPr>
        <p:spPr>
          <a:xfrm>
            <a:off x="256032" y="713232"/>
            <a:ext cx="3108960" cy="237744"/>
          </a:xfrm>
          <a:prstGeom prst="rect">
            <a:avLst/>
          </a:prstGeom>
          <a:noFill/>
          <a:ln/>
        </p:spPr>
        <p:txBody>
          <a:bodyPr wrap="square" lIns="0" tIns="0" rIns="0" bIns="0" rtlCol="0" anchor="ctr"/>
          <a:lstStyle/>
          <a:p>
            <a:pPr marL="0" indent="0">
              <a:buNone/>
            </a:pPr>
            <a:r>
              <a:rPr lang="en-US" sz="1050" i="1" dirty="0">
                <a:solidFill>
                  <a:srgbClr val="334155"/>
                </a:solidFill>
                <a:latin typeface="Calibri" pitchFamily="34" charset="0"/>
                <a:ea typeface="Calibri" pitchFamily="34" charset="-122"/>
                <a:cs typeface="Calibri" pitchFamily="34" charset="-120"/>
              </a:rPr>
              <a:t>Key screens of the SkyWay web application</a:t>
            </a:r>
            <a:endParaRPr lang="en-US" sz="1050" dirty="0"/>
          </a:p>
        </p:txBody>
      </p:sp>
      <p:sp>
        <p:nvSpPr>
          <p:cNvPr id="5" name="Shape 3"/>
          <p:cNvSpPr/>
          <p:nvPr/>
        </p:nvSpPr>
        <p:spPr>
          <a:xfrm>
            <a:off x="228600" y="1042416"/>
            <a:ext cx="3182112" cy="4005072"/>
          </a:xfrm>
          <a:prstGeom prst="rect">
            <a:avLst/>
          </a:prstGeom>
          <a:solidFill>
            <a:srgbClr val="FFFFFF"/>
          </a:solidFill>
          <a:ln w="7620">
            <a:solidFill>
              <a:srgbClr val="D1DAF0"/>
            </a:solidFill>
            <a:prstDash val="solid"/>
          </a:ln>
          <a:effectLst>
            <a:outerShdw blurRad="76200" dist="25400" dir="8100000" algn="bl" rotWithShape="0">
              <a:srgbClr val="000000">
                <a:alpha val="10000"/>
              </a:srgbClr>
            </a:outerShdw>
          </a:effectLst>
        </p:spPr>
      </p:sp>
      <p:sp>
        <p:nvSpPr>
          <p:cNvPr id="6" name="Shape 4"/>
          <p:cNvSpPr/>
          <p:nvPr/>
        </p:nvSpPr>
        <p:spPr>
          <a:xfrm>
            <a:off x="228600" y="1042416"/>
            <a:ext cx="3182112" cy="438912"/>
          </a:xfrm>
          <a:prstGeom prst="rect">
            <a:avLst/>
          </a:prstGeom>
          <a:solidFill>
            <a:srgbClr val="10B981"/>
          </a:solidFill>
          <a:ln w="12700">
            <a:solidFill>
              <a:srgbClr val="10B981"/>
            </a:solidFill>
            <a:prstDash val="solid"/>
          </a:ln>
        </p:spPr>
      </p:sp>
      <p:sp>
        <p:nvSpPr>
          <p:cNvPr id="7" name="Text 5"/>
          <p:cNvSpPr/>
          <p:nvPr/>
        </p:nvSpPr>
        <p:spPr>
          <a:xfrm>
            <a:off x="329184" y="1078992"/>
            <a:ext cx="2971800" cy="365760"/>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 Admin — Recent Transactions</a:t>
            </a:r>
            <a:endParaRPr lang="en-US" sz="1350" dirty="0"/>
          </a:p>
        </p:txBody>
      </p:sp>
      <p:sp>
        <p:nvSpPr>
          <p:cNvPr id="8" name="Text 6"/>
          <p:cNvSpPr/>
          <p:nvPr/>
        </p:nvSpPr>
        <p:spPr>
          <a:xfrm>
            <a:off x="329184" y="1572768"/>
            <a:ext cx="2980944" cy="33832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Dashboard scrolled to Recent Transactions</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Bookings by Airline + Booking Status cards</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Full transaction table with 6 rows</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Columns: Payment ID · PNR · Passenger</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Route · Airline · Cabin · Amount · Time</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PAY_GB595M · FNX6BN · DEL→BOM · ₹6,768</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Amounts in green · sortable by time</a:t>
            </a:r>
            <a:endParaRPr lang="en-US" sz="1100" dirty="0"/>
          </a:p>
        </p:txBody>
      </p:sp>
      <p:sp>
        <p:nvSpPr>
          <p:cNvPr id="9" name="Shape 7"/>
          <p:cNvSpPr/>
          <p:nvPr/>
        </p:nvSpPr>
        <p:spPr>
          <a:xfrm>
            <a:off x="3575304" y="155448"/>
            <a:ext cx="5449824" cy="4919472"/>
          </a:xfrm>
          <a:prstGeom prst="rect">
            <a:avLst/>
          </a:prstGeom>
          <a:solidFill>
            <a:srgbClr val="C7D9F5"/>
          </a:solidFill>
          <a:ln w="12700">
            <a:solidFill>
              <a:srgbClr val="C7D9F5"/>
            </a:solidFill>
            <a:prstDash val="solid"/>
          </a:ln>
        </p:spPr>
      </p:sp>
      <p:sp>
        <p:nvSpPr>
          <p:cNvPr id="10" name="Shape 8"/>
          <p:cNvSpPr/>
          <p:nvPr/>
        </p:nvSpPr>
        <p:spPr>
          <a:xfrm>
            <a:off x="3529584" y="109728"/>
            <a:ext cx="5449824" cy="4919472"/>
          </a:xfrm>
          <a:prstGeom prst="rect">
            <a:avLst/>
          </a:prstGeom>
          <a:solidFill>
            <a:srgbClr val="FFFFFF"/>
          </a:solidFill>
          <a:ln w="12700">
            <a:solidFill>
              <a:srgbClr val="C7D9F5"/>
            </a:solidFill>
            <a:prstDash val="solid"/>
          </a:ln>
        </p:spPr>
      </p:sp>
      <p:sp>
        <p:nvSpPr>
          <p:cNvPr id="11" name="Shape 9"/>
          <p:cNvSpPr/>
          <p:nvPr/>
        </p:nvSpPr>
        <p:spPr>
          <a:xfrm>
            <a:off x="3529584" y="109728"/>
            <a:ext cx="5449824" cy="256032"/>
          </a:xfrm>
          <a:prstGeom prst="rect">
            <a:avLst/>
          </a:prstGeom>
          <a:solidFill>
            <a:srgbClr val="E8EEF8"/>
          </a:solidFill>
          <a:ln w="6350">
            <a:solidFill>
              <a:srgbClr val="D1DAF0"/>
            </a:solidFill>
            <a:prstDash val="solid"/>
          </a:ln>
        </p:spPr>
      </p:sp>
      <p:sp>
        <p:nvSpPr>
          <p:cNvPr id="12" name="Shape 10"/>
          <p:cNvSpPr/>
          <p:nvPr/>
        </p:nvSpPr>
        <p:spPr>
          <a:xfrm>
            <a:off x="3639312" y="173736"/>
            <a:ext cx="118872" cy="118872"/>
          </a:xfrm>
          <a:prstGeom prst="ellipse">
            <a:avLst/>
          </a:prstGeom>
          <a:solidFill>
            <a:srgbClr val="EF4444"/>
          </a:solidFill>
          <a:ln w="12700">
            <a:solidFill>
              <a:srgbClr val="EF4444"/>
            </a:solidFill>
            <a:prstDash val="solid"/>
          </a:ln>
        </p:spPr>
      </p:sp>
      <p:sp>
        <p:nvSpPr>
          <p:cNvPr id="13" name="Shape 11"/>
          <p:cNvSpPr/>
          <p:nvPr/>
        </p:nvSpPr>
        <p:spPr>
          <a:xfrm>
            <a:off x="3776472" y="173736"/>
            <a:ext cx="118872" cy="118872"/>
          </a:xfrm>
          <a:prstGeom prst="ellipse">
            <a:avLst/>
          </a:prstGeom>
          <a:solidFill>
            <a:srgbClr val="F59E0B"/>
          </a:solidFill>
          <a:ln w="12700">
            <a:solidFill>
              <a:srgbClr val="F59E0B"/>
            </a:solidFill>
            <a:prstDash val="solid"/>
          </a:ln>
        </p:spPr>
      </p:sp>
      <p:sp>
        <p:nvSpPr>
          <p:cNvPr id="14" name="Shape 12"/>
          <p:cNvSpPr/>
          <p:nvPr/>
        </p:nvSpPr>
        <p:spPr>
          <a:xfrm>
            <a:off x="3913632" y="173736"/>
            <a:ext cx="118872" cy="118872"/>
          </a:xfrm>
          <a:prstGeom prst="ellipse">
            <a:avLst/>
          </a:prstGeom>
          <a:solidFill>
            <a:srgbClr val="10B981"/>
          </a:solidFill>
          <a:ln w="12700">
            <a:solidFill>
              <a:srgbClr val="10B981"/>
            </a:solidFill>
            <a:prstDash val="solid"/>
          </a:ln>
        </p:spPr>
      </p:sp>
      <p:sp>
        <p:nvSpPr>
          <p:cNvPr id="15" name="Shape 13"/>
          <p:cNvSpPr/>
          <p:nvPr/>
        </p:nvSpPr>
        <p:spPr>
          <a:xfrm>
            <a:off x="4123944" y="155448"/>
            <a:ext cx="3291840" cy="164592"/>
          </a:xfrm>
          <a:prstGeom prst="rect">
            <a:avLst/>
          </a:prstGeom>
          <a:solidFill>
            <a:srgbClr val="FFFFFF"/>
          </a:solidFill>
          <a:ln w="5080">
            <a:solidFill>
              <a:srgbClr val="C7D9F5"/>
            </a:solidFill>
            <a:prstDash val="solid"/>
          </a:ln>
        </p:spPr>
      </p:sp>
      <p:sp>
        <p:nvSpPr>
          <p:cNvPr id="16" name="Text 14"/>
          <p:cNvSpPr/>
          <p:nvPr/>
        </p:nvSpPr>
        <p:spPr>
          <a:xfrm>
            <a:off x="4151376" y="160020"/>
            <a:ext cx="3236976" cy="155448"/>
          </a:xfrm>
          <a:prstGeom prst="rect">
            <a:avLst/>
          </a:prstGeom>
          <a:noFill/>
          <a:ln/>
        </p:spPr>
        <p:txBody>
          <a:bodyPr wrap="square" lIns="0" tIns="0" rIns="0" bIns="0" rtlCol="0" anchor="ctr"/>
          <a:lstStyle/>
          <a:p>
            <a:pPr marL="0" indent="0">
              <a:buNone/>
            </a:pPr>
            <a:r>
              <a:rPr lang="en-US" sz="700" dirty="0">
                <a:solidFill>
                  <a:srgbClr val="6B7280"/>
                </a:solidFill>
                <a:latin typeface="Consolas" pitchFamily="34" charset="0"/>
                <a:ea typeface="Consolas" pitchFamily="34" charset="-122"/>
                <a:cs typeface="Consolas" pitchFamily="34" charset="-120"/>
              </a:rPr>
              <a:t>localhost:8765</a:t>
            </a:r>
            <a:endParaRPr lang="en-US" sz="700" dirty="0"/>
          </a:p>
        </p:txBody>
      </p:sp>
      <p:pic>
        <p:nvPicPr>
          <p:cNvPr id="17" name="Image 0" descr="preencoded.png"/>
          <p:cNvPicPr>
            <a:picLocks noChangeAspect="1"/>
          </p:cNvPicPr>
          <p:nvPr/>
        </p:nvPicPr>
        <p:blipFill>
          <a:blip r:embed="rId3"/>
          <a:stretch>
            <a:fillRect/>
          </a:stretch>
        </p:blipFill>
        <p:spPr>
          <a:xfrm>
            <a:off x="3547872" y="384048"/>
            <a:ext cx="5413248" cy="4626864"/>
          </a:xfrm>
          <a:prstGeom prst="rect">
            <a:avLst/>
          </a:prstGeom>
        </p:spPr>
      </p:pic>
      <p:sp>
        <p:nvSpPr>
          <p:cNvPr id="18" name="Text 15"/>
          <p:cNvSpPr/>
          <p:nvPr/>
        </p:nvSpPr>
        <p:spPr>
          <a:xfrm>
            <a:off x="3529584" y="4956048"/>
            <a:ext cx="5449824" cy="164592"/>
          </a:xfrm>
          <a:prstGeom prst="rect">
            <a:avLst/>
          </a:prstGeom>
          <a:noFill/>
          <a:ln/>
        </p:spPr>
        <p:txBody>
          <a:bodyPr wrap="square" lIns="0" tIns="0" rIns="0" bIns="0" rtlCol="0" anchor="ctr"/>
          <a:lstStyle/>
          <a:p>
            <a:pPr marL="0" indent="0" algn="r">
              <a:buNone/>
            </a:pPr>
            <a:r>
              <a:rPr lang="en-US" sz="750" i="1" dirty="0">
                <a:solidFill>
                  <a:srgbClr val="94A3B8"/>
                </a:solidFill>
                <a:latin typeface="Calibri" pitchFamily="34" charset="0"/>
                <a:ea typeface="Calibri" pitchFamily="34" charset="-122"/>
                <a:cs typeface="Calibri" pitchFamily="34" charset="-120"/>
              </a:rPr>
              <a:t>Slide 17 · Admin Transactions</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w="12700">
            <a:solidFill>
              <a:srgbClr val="0EA5E9"/>
            </a:solidFill>
            <a:prstDash val="solid"/>
          </a:ln>
        </p:spPr>
      </p:sp>
      <p:sp>
        <p:nvSpPr>
          <p:cNvPr id="3" name="Text 1"/>
          <p:cNvSpPr/>
          <p:nvPr/>
        </p:nvSpPr>
        <p:spPr>
          <a:xfrm>
            <a:off x="256032" y="128016"/>
            <a:ext cx="3108960" cy="566928"/>
          </a:xfrm>
          <a:prstGeom prst="rect">
            <a:avLst/>
          </a:prstGeom>
          <a:noFill/>
          <a:ln/>
        </p:spPr>
        <p:txBody>
          <a:bodyPr wrap="square" lIns="0" tIns="0" rIns="0" bIns="0" rtlCol="0" anchor="ctr"/>
          <a:lstStyle/>
          <a:p>
            <a:pPr marL="0" indent="0">
              <a:buNone/>
            </a:pPr>
            <a:r>
              <a:rPr lang="en-US" sz="2700" b="1" dirty="0">
                <a:solidFill>
                  <a:srgbClr val="0B1437"/>
                </a:solidFill>
                <a:latin typeface="Trebuchet MS" pitchFamily="34" charset="0"/>
                <a:ea typeface="Trebuchet MS" pitchFamily="34" charset="-122"/>
                <a:cs typeface="Trebuchet MS" pitchFamily="34" charset="-120"/>
              </a:rPr>
              <a:t>Frontend Views</a:t>
            </a:r>
            <a:endParaRPr lang="en-US" sz="2700" dirty="0"/>
          </a:p>
        </p:txBody>
      </p:sp>
      <p:sp>
        <p:nvSpPr>
          <p:cNvPr id="4" name="Text 2"/>
          <p:cNvSpPr/>
          <p:nvPr/>
        </p:nvSpPr>
        <p:spPr>
          <a:xfrm>
            <a:off x="256032" y="713232"/>
            <a:ext cx="3108960" cy="237744"/>
          </a:xfrm>
          <a:prstGeom prst="rect">
            <a:avLst/>
          </a:prstGeom>
          <a:noFill/>
          <a:ln/>
        </p:spPr>
        <p:txBody>
          <a:bodyPr wrap="square" lIns="0" tIns="0" rIns="0" bIns="0" rtlCol="0" anchor="ctr"/>
          <a:lstStyle/>
          <a:p>
            <a:pPr marL="0" indent="0">
              <a:buNone/>
            </a:pPr>
            <a:r>
              <a:rPr lang="en-US" sz="1050" i="1" dirty="0">
                <a:solidFill>
                  <a:srgbClr val="334155"/>
                </a:solidFill>
                <a:latin typeface="Calibri" pitchFamily="34" charset="0"/>
                <a:ea typeface="Calibri" pitchFamily="34" charset="-122"/>
                <a:cs typeface="Calibri" pitchFamily="34" charset="-120"/>
              </a:rPr>
              <a:t>Key screens of the SkyWay web application</a:t>
            </a:r>
            <a:endParaRPr lang="en-US" sz="1050" dirty="0"/>
          </a:p>
        </p:txBody>
      </p:sp>
      <p:sp>
        <p:nvSpPr>
          <p:cNvPr id="5" name="Shape 3"/>
          <p:cNvSpPr/>
          <p:nvPr/>
        </p:nvSpPr>
        <p:spPr>
          <a:xfrm>
            <a:off x="228600" y="1042416"/>
            <a:ext cx="3182112" cy="4005072"/>
          </a:xfrm>
          <a:prstGeom prst="rect">
            <a:avLst/>
          </a:prstGeom>
          <a:solidFill>
            <a:srgbClr val="FFFFFF"/>
          </a:solidFill>
          <a:ln w="7620">
            <a:solidFill>
              <a:srgbClr val="D1DAF0"/>
            </a:solidFill>
            <a:prstDash val="solid"/>
          </a:ln>
          <a:effectLst>
            <a:outerShdw blurRad="76200" dist="25400" dir="8100000" algn="bl" rotWithShape="0">
              <a:srgbClr val="000000">
                <a:alpha val="10000"/>
              </a:srgbClr>
            </a:outerShdw>
          </a:effectLst>
        </p:spPr>
      </p:sp>
      <p:sp>
        <p:nvSpPr>
          <p:cNvPr id="6" name="Shape 4"/>
          <p:cNvSpPr/>
          <p:nvPr/>
        </p:nvSpPr>
        <p:spPr>
          <a:xfrm>
            <a:off x="228600" y="1042416"/>
            <a:ext cx="3182112" cy="438912"/>
          </a:xfrm>
          <a:prstGeom prst="rect">
            <a:avLst/>
          </a:prstGeom>
          <a:solidFill>
            <a:srgbClr val="F97316"/>
          </a:solidFill>
          <a:ln w="12700">
            <a:solidFill>
              <a:srgbClr val="F97316"/>
            </a:solidFill>
            <a:prstDash val="solid"/>
          </a:ln>
        </p:spPr>
      </p:sp>
      <p:sp>
        <p:nvSpPr>
          <p:cNvPr id="7" name="Text 5"/>
          <p:cNvSpPr/>
          <p:nvPr/>
        </p:nvSpPr>
        <p:spPr>
          <a:xfrm>
            <a:off x="329184" y="1078992"/>
            <a:ext cx="2971800" cy="365760"/>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 Admin — Notifications Panel</a:t>
            </a:r>
            <a:endParaRPr lang="en-US" sz="1350" dirty="0"/>
          </a:p>
        </p:txBody>
      </p:sp>
      <p:sp>
        <p:nvSpPr>
          <p:cNvPr id="8" name="Text 6"/>
          <p:cNvSpPr/>
          <p:nvPr/>
        </p:nvSpPr>
        <p:spPr>
          <a:xfrm>
            <a:off x="329184" y="1572768"/>
            <a:ext cx="2980944" cy="33832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Notifications tab selected in admin panel</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Orange delay banner at top of screen</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1 notifications sent counter shown</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New Notification button (blue) top-right</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DELAY · 6E205 card with orange header</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Delay: +30 minutes shown in orange</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Full message text · timestamp · admin email</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Delete button to remove notification</a:t>
            </a:r>
            <a:endParaRPr lang="en-US" sz="1100" dirty="0"/>
          </a:p>
        </p:txBody>
      </p:sp>
      <p:sp>
        <p:nvSpPr>
          <p:cNvPr id="9" name="Shape 7"/>
          <p:cNvSpPr/>
          <p:nvPr/>
        </p:nvSpPr>
        <p:spPr>
          <a:xfrm>
            <a:off x="3575304" y="155448"/>
            <a:ext cx="5449824" cy="4919472"/>
          </a:xfrm>
          <a:prstGeom prst="rect">
            <a:avLst/>
          </a:prstGeom>
          <a:solidFill>
            <a:srgbClr val="C7D9F5"/>
          </a:solidFill>
          <a:ln w="12700">
            <a:solidFill>
              <a:srgbClr val="C7D9F5"/>
            </a:solidFill>
            <a:prstDash val="solid"/>
          </a:ln>
        </p:spPr>
      </p:sp>
      <p:sp>
        <p:nvSpPr>
          <p:cNvPr id="10" name="Shape 8"/>
          <p:cNvSpPr/>
          <p:nvPr/>
        </p:nvSpPr>
        <p:spPr>
          <a:xfrm>
            <a:off x="3529584" y="109728"/>
            <a:ext cx="5449824" cy="4919472"/>
          </a:xfrm>
          <a:prstGeom prst="rect">
            <a:avLst/>
          </a:prstGeom>
          <a:solidFill>
            <a:srgbClr val="FFFFFF"/>
          </a:solidFill>
          <a:ln w="12700">
            <a:solidFill>
              <a:srgbClr val="C7D9F5"/>
            </a:solidFill>
            <a:prstDash val="solid"/>
          </a:ln>
        </p:spPr>
      </p:sp>
      <p:sp>
        <p:nvSpPr>
          <p:cNvPr id="11" name="Shape 9"/>
          <p:cNvSpPr/>
          <p:nvPr/>
        </p:nvSpPr>
        <p:spPr>
          <a:xfrm>
            <a:off x="3529584" y="109728"/>
            <a:ext cx="5449824" cy="256032"/>
          </a:xfrm>
          <a:prstGeom prst="rect">
            <a:avLst/>
          </a:prstGeom>
          <a:solidFill>
            <a:srgbClr val="E8EEF8"/>
          </a:solidFill>
          <a:ln w="6350">
            <a:solidFill>
              <a:srgbClr val="D1DAF0"/>
            </a:solidFill>
            <a:prstDash val="solid"/>
          </a:ln>
        </p:spPr>
      </p:sp>
      <p:sp>
        <p:nvSpPr>
          <p:cNvPr id="12" name="Shape 10"/>
          <p:cNvSpPr/>
          <p:nvPr/>
        </p:nvSpPr>
        <p:spPr>
          <a:xfrm>
            <a:off x="3639312" y="173736"/>
            <a:ext cx="118872" cy="118872"/>
          </a:xfrm>
          <a:prstGeom prst="ellipse">
            <a:avLst/>
          </a:prstGeom>
          <a:solidFill>
            <a:srgbClr val="EF4444"/>
          </a:solidFill>
          <a:ln w="12700">
            <a:solidFill>
              <a:srgbClr val="EF4444"/>
            </a:solidFill>
            <a:prstDash val="solid"/>
          </a:ln>
        </p:spPr>
      </p:sp>
      <p:sp>
        <p:nvSpPr>
          <p:cNvPr id="13" name="Shape 11"/>
          <p:cNvSpPr/>
          <p:nvPr/>
        </p:nvSpPr>
        <p:spPr>
          <a:xfrm>
            <a:off x="3776472" y="173736"/>
            <a:ext cx="118872" cy="118872"/>
          </a:xfrm>
          <a:prstGeom prst="ellipse">
            <a:avLst/>
          </a:prstGeom>
          <a:solidFill>
            <a:srgbClr val="F59E0B"/>
          </a:solidFill>
          <a:ln w="12700">
            <a:solidFill>
              <a:srgbClr val="F59E0B"/>
            </a:solidFill>
            <a:prstDash val="solid"/>
          </a:ln>
        </p:spPr>
      </p:sp>
      <p:sp>
        <p:nvSpPr>
          <p:cNvPr id="14" name="Shape 12"/>
          <p:cNvSpPr/>
          <p:nvPr/>
        </p:nvSpPr>
        <p:spPr>
          <a:xfrm>
            <a:off x="3913632" y="173736"/>
            <a:ext cx="118872" cy="118872"/>
          </a:xfrm>
          <a:prstGeom prst="ellipse">
            <a:avLst/>
          </a:prstGeom>
          <a:solidFill>
            <a:srgbClr val="10B981"/>
          </a:solidFill>
          <a:ln w="12700">
            <a:solidFill>
              <a:srgbClr val="10B981"/>
            </a:solidFill>
            <a:prstDash val="solid"/>
          </a:ln>
        </p:spPr>
      </p:sp>
      <p:sp>
        <p:nvSpPr>
          <p:cNvPr id="15" name="Shape 13"/>
          <p:cNvSpPr/>
          <p:nvPr/>
        </p:nvSpPr>
        <p:spPr>
          <a:xfrm>
            <a:off x="4123944" y="155448"/>
            <a:ext cx="3291840" cy="164592"/>
          </a:xfrm>
          <a:prstGeom prst="rect">
            <a:avLst/>
          </a:prstGeom>
          <a:solidFill>
            <a:srgbClr val="FFFFFF"/>
          </a:solidFill>
          <a:ln w="5080">
            <a:solidFill>
              <a:srgbClr val="C7D9F5"/>
            </a:solidFill>
            <a:prstDash val="solid"/>
          </a:ln>
        </p:spPr>
      </p:sp>
      <p:sp>
        <p:nvSpPr>
          <p:cNvPr id="16" name="Text 14"/>
          <p:cNvSpPr/>
          <p:nvPr/>
        </p:nvSpPr>
        <p:spPr>
          <a:xfrm>
            <a:off x="4151376" y="160020"/>
            <a:ext cx="3236976" cy="155448"/>
          </a:xfrm>
          <a:prstGeom prst="rect">
            <a:avLst/>
          </a:prstGeom>
          <a:noFill/>
          <a:ln/>
        </p:spPr>
        <p:txBody>
          <a:bodyPr wrap="square" lIns="0" tIns="0" rIns="0" bIns="0" rtlCol="0" anchor="ctr"/>
          <a:lstStyle/>
          <a:p>
            <a:pPr marL="0" indent="0">
              <a:buNone/>
            </a:pPr>
            <a:r>
              <a:rPr lang="en-US" sz="700" dirty="0">
                <a:solidFill>
                  <a:srgbClr val="6B7280"/>
                </a:solidFill>
                <a:latin typeface="Consolas" pitchFamily="34" charset="0"/>
                <a:ea typeface="Consolas" pitchFamily="34" charset="-122"/>
                <a:cs typeface="Consolas" pitchFamily="34" charset="-120"/>
              </a:rPr>
              <a:t>localhost:8765</a:t>
            </a:r>
            <a:endParaRPr lang="en-US" sz="700" dirty="0"/>
          </a:p>
        </p:txBody>
      </p:sp>
      <p:pic>
        <p:nvPicPr>
          <p:cNvPr id="17" name="Image 0" descr="preencoded.png"/>
          <p:cNvPicPr>
            <a:picLocks noChangeAspect="1"/>
          </p:cNvPicPr>
          <p:nvPr/>
        </p:nvPicPr>
        <p:blipFill>
          <a:blip r:embed="rId3"/>
          <a:stretch>
            <a:fillRect/>
          </a:stretch>
        </p:blipFill>
        <p:spPr>
          <a:xfrm>
            <a:off x="3547872" y="384048"/>
            <a:ext cx="5413248" cy="4626864"/>
          </a:xfrm>
          <a:prstGeom prst="rect">
            <a:avLst/>
          </a:prstGeom>
        </p:spPr>
      </p:pic>
      <p:sp>
        <p:nvSpPr>
          <p:cNvPr id="18" name="Text 15"/>
          <p:cNvSpPr/>
          <p:nvPr/>
        </p:nvSpPr>
        <p:spPr>
          <a:xfrm>
            <a:off x="3529584" y="4956048"/>
            <a:ext cx="5449824" cy="164592"/>
          </a:xfrm>
          <a:prstGeom prst="rect">
            <a:avLst/>
          </a:prstGeom>
          <a:noFill/>
          <a:ln/>
        </p:spPr>
        <p:txBody>
          <a:bodyPr wrap="square" lIns="0" tIns="0" rIns="0" bIns="0" rtlCol="0" anchor="ctr"/>
          <a:lstStyle/>
          <a:p>
            <a:pPr marL="0" indent="0" algn="r">
              <a:buNone/>
            </a:pPr>
            <a:r>
              <a:rPr lang="en-US" sz="750" i="1" dirty="0">
                <a:solidFill>
                  <a:srgbClr val="94A3B8"/>
                </a:solidFill>
                <a:latin typeface="Calibri" pitchFamily="34" charset="0"/>
                <a:ea typeface="Calibri" pitchFamily="34" charset="-122"/>
                <a:cs typeface="Calibri" pitchFamily="34" charset="-120"/>
              </a:rPr>
              <a:t>Slide 18 · Admin Notifications</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w="12700">
            <a:solidFill>
              <a:srgbClr val="0EA5E9"/>
            </a:solidFill>
            <a:prstDash val="solid"/>
          </a:ln>
        </p:spPr>
      </p:sp>
      <p:sp>
        <p:nvSpPr>
          <p:cNvPr id="3" name="Text 1"/>
          <p:cNvSpPr/>
          <p:nvPr/>
        </p:nvSpPr>
        <p:spPr>
          <a:xfrm>
            <a:off x="256032" y="128016"/>
            <a:ext cx="3108960" cy="566928"/>
          </a:xfrm>
          <a:prstGeom prst="rect">
            <a:avLst/>
          </a:prstGeom>
          <a:noFill/>
          <a:ln/>
        </p:spPr>
        <p:txBody>
          <a:bodyPr wrap="square" lIns="0" tIns="0" rIns="0" bIns="0" rtlCol="0" anchor="ctr"/>
          <a:lstStyle/>
          <a:p>
            <a:pPr marL="0" indent="0">
              <a:buNone/>
            </a:pPr>
            <a:r>
              <a:rPr lang="en-US" sz="2700" b="1" dirty="0">
                <a:solidFill>
                  <a:srgbClr val="0B1437"/>
                </a:solidFill>
                <a:latin typeface="Trebuchet MS" pitchFamily="34" charset="0"/>
                <a:ea typeface="Trebuchet MS" pitchFamily="34" charset="-122"/>
                <a:cs typeface="Trebuchet MS" pitchFamily="34" charset="-120"/>
              </a:rPr>
              <a:t>Frontend Views</a:t>
            </a:r>
            <a:endParaRPr lang="en-US" sz="2700" dirty="0"/>
          </a:p>
        </p:txBody>
      </p:sp>
      <p:sp>
        <p:nvSpPr>
          <p:cNvPr id="4" name="Text 2"/>
          <p:cNvSpPr/>
          <p:nvPr/>
        </p:nvSpPr>
        <p:spPr>
          <a:xfrm>
            <a:off x="256032" y="713232"/>
            <a:ext cx="3108960" cy="237744"/>
          </a:xfrm>
          <a:prstGeom prst="rect">
            <a:avLst/>
          </a:prstGeom>
          <a:noFill/>
          <a:ln/>
        </p:spPr>
        <p:txBody>
          <a:bodyPr wrap="square" lIns="0" tIns="0" rIns="0" bIns="0" rtlCol="0" anchor="ctr"/>
          <a:lstStyle/>
          <a:p>
            <a:pPr marL="0" indent="0">
              <a:buNone/>
            </a:pPr>
            <a:r>
              <a:rPr lang="en-US" sz="1050" i="1" dirty="0">
                <a:solidFill>
                  <a:srgbClr val="334155"/>
                </a:solidFill>
                <a:latin typeface="Calibri" pitchFamily="34" charset="0"/>
                <a:ea typeface="Calibri" pitchFamily="34" charset="-122"/>
                <a:cs typeface="Calibri" pitchFamily="34" charset="-120"/>
              </a:rPr>
              <a:t>Key screens of the SkyWay web application</a:t>
            </a:r>
            <a:endParaRPr lang="en-US" sz="1050" dirty="0"/>
          </a:p>
        </p:txBody>
      </p:sp>
      <p:sp>
        <p:nvSpPr>
          <p:cNvPr id="5" name="Shape 3"/>
          <p:cNvSpPr/>
          <p:nvPr/>
        </p:nvSpPr>
        <p:spPr>
          <a:xfrm>
            <a:off x="228600" y="1042416"/>
            <a:ext cx="3182112" cy="4005072"/>
          </a:xfrm>
          <a:prstGeom prst="rect">
            <a:avLst/>
          </a:prstGeom>
          <a:solidFill>
            <a:srgbClr val="FFFFFF"/>
          </a:solidFill>
          <a:ln w="7620">
            <a:solidFill>
              <a:srgbClr val="D1DAF0"/>
            </a:solidFill>
            <a:prstDash val="solid"/>
          </a:ln>
          <a:effectLst>
            <a:outerShdw blurRad="76200" dist="25400" dir="8100000" algn="bl" rotWithShape="0">
              <a:srgbClr val="000000">
                <a:alpha val="10000"/>
              </a:srgbClr>
            </a:outerShdw>
          </a:effectLst>
        </p:spPr>
      </p:sp>
      <p:sp>
        <p:nvSpPr>
          <p:cNvPr id="6" name="Shape 4"/>
          <p:cNvSpPr/>
          <p:nvPr/>
        </p:nvSpPr>
        <p:spPr>
          <a:xfrm>
            <a:off x="228600" y="1042416"/>
            <a:ext cx="3182112" cy="438912"/>
          </a:xfrm>
          <a:prstGeom prst="rect">
            <a:avLst/>
          </a:prstGeom>
          <a:solidFill>
            <a:srgbClr val="F59E0B"/>
          </a:solidFill>
          <a:ln w="12700">
            <a:solidFill>
              <a:srgbClr val="F59E0B"/>
            </a:solidFill>
            <a:prstDash val="solid"/>
          </a:ln>
        </p:spPr>
      </p:sp>
      <p:sp>
        <p:nvSpPr>
          <p:cNvPr id="7" name="Text 5"/>
          <p:cNvSpPr/>
          <p:nvPr/>
        </p:nvSpPr>
        <p:spPr>
          <a:xfrm>
            <a:off x="329184" y="1078992"/>
            <a:ext cx="2971800" cy="365760"/>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 Admin — Revenue Analytics</a:t>
            </a:r>
            <a:endParaRPr lang="en-US" sz="1350" dirty="0"/>
          </a:p>
        </p:txBody>
      </p:sp>
      <p:sp>
        <p:nvSpPr>
          <p:cNvPr id="8" name="Text 6"/>
          <p:cNvSpPr/>
          <p:nvPr/>
        </p:nvSpPr>
        <p:spPr>
          <a:xfrm>
            <a:off x="329184" y="1572768"/>
            <a:ext cx="2980944" cy="33832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Revenue tab selected in admin panel</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3 stat cards at top row</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Total Revenue: ₹1,46,001 (green border)</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Paid Bookings: 6 (blue border)</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Avg Booking Value: ₹24,334 (gold border)</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All Transactions table with 6 entries</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Payment ID · PNR · Email · Route · Amount</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Amounts highlighted in green font</a:t>
            </a:r>
            <a:endParaRPr lang="en-US" sz="1100" dirty="0"/>
          </a:p>
        </p:txBody>
      </p:sp>
      <p:sp>
        <p:nvSpPr>
          <p:cNvPr id="9" name="Shape 7"/>
          <p:cNvSpPr/>
          <p:nvPr/>
        </p:nvSpPr>
        <p:spPr>
          <a:xfrm>
            <a:off x="3575304" y="155448"/>
            <a:ext cx="5449824" cy="4919472"/>
          </a:xfrm>
          <a:prstGeom prst="rect">
            <a:avLst/>
          </a:prstGeom>
          <a:solidFill>
            <a:srgbClr val="C7D9F5"/>
          </a:solidFill>
          <a:ln w="12700">
            <a:solidFill>
              <a:srgbClr val="C7D9F5"/>
            </a:solidFill>
            <a:prstDash val="solid"/>
          </a:ln>
        </p:spPr>
      </p:sp>
      <p:sp>
        <p:nvSpPr>
          <p:cNvPr id="10" name="Shape 8"/>
          <p:cNvSpPr/>
          <p:nvPr/>
        </p:nvSpPr>
        <p:spPr>
          <a:xfrm>
            <a:off x="3529584" y="109728"/>
            <a:ext cx="5449824" cy="4919472"/>
          </a:xfrm>
          <a:prstGeom prst="rect">
            <a:avLst/>
          </a:prstGeom>
          <a:solidFill>
            <a:srgbClr val="FFFFFF"/>
          </a:solidFill>
          <a:ln w="12700">
            <a:solidFill>
              <a:srgbClr val="C7D9F5"/>
            </a:solidFill>
            <a:prstDash val="solid"/>
          </a:ln>
        </p:spPr>
      </p:sp>
      <p:sp>
        <p:nvSpPr>
          <p:cNvPr id="11" name="Shape 9"/>
          <p:cNvSpPr/>
          <p:nvPr/>
        </p:nvSpPr>
        <p:spPr>
          <a:xfrm>
            <a:off x="3529584" y="109728"/>
            <a:ext cx="5449824" cy="256032"/>
          </a:xfrm>
          <a:prstGeom prst="rect">
            <a:avLst/>
          </a:prstGeom>
          <a:solidFill>
            <a:srgbClr val="E8EEF8"/>
          </a:solidFill>
          <a:ln w="6350">
            <a:solidFill>
              <a:srgbClr val="D1DAF0"/>
            </a:solidFill>
            <a:prstDash val="solid"/>
          </a:ln>
        </p:spPr>
      </p:sp>
      <p:sp>
        <p:nvSpPr>
          <p:cNvPr id="12" name="Shape 10"/>
          <p:cNvSpPr/>
          <p:nvPr/>
        </p:nvSpPr>
        <p:spPr>
          <a:xfrm>
            <a:off x="3639312" y="173736"/>
            <a:ext cx="118872" cy="118872"/>
          </a:xfrm>
          <a:prstGeom prst="ellipse">
            <a:avLst/>
          </a:prstGeom>
          <a:solidFill>
            <a:srgbClr val="EF4444"/>
          </a:solidFill>
          <a:ln w="12700">
            <a:solidFill>
              <a:srgbClr val="EF4444"/>
            </a:solidFill>
            <a:prstDash val="solid"/>
          </a:ln>
        </p:spPr>
      </p:sp>
      <p:sp>
        <p:nvSpPr>
          <p:cNvPr id="13" name="Shape 11"/>
          <p:cNvSpPr/>
          <p:nvPr/>
        </p:nvSpPr>
        <p:spPr>
          <a:xfrm>
            <a:off x="3776472" y="173736"/>
            <a:ext cx="118872" cy="118872"/>
          </a:xfrm>
          <a:prstGeom prst="ellipse">
            <a:avLst/>
          </a:prstGeom>
          <a:solidFill>
            <a:srgbClr val="F59E0B"/>
          </a:solidFill>
          <a:ln w="12700">
            <a:solidFill>
              <a:srgbClr val="F59E0B"/>
            </a:solidFill>
            <a:prstDash val="solid"/>
          </a:ln>
        </p:spPr>
      </p:sp>
      <p:sp>
        <p:nvSpPr>
          <p:cNvPr id="14" name="Shape 12"/>
          <p:cNvSpPr/>
          <p:nvPr/>
        </p:nvSpPr>
        <p:spPr>
          <a:xfrm>
            <a:off x="3913632" y="173736"/>
            <a:ext cx="118872" cy="118872"/>
          </a:xfrm>
          <a:prstGeom prst="ellipse">
            <a:avLst/>
          </a:prstGeom>
          <a:solidFill>
            <a:srgbClr val="10B981"/>
          </a:solidFill>
          <a:ln w="12700">
            <a:solidFill>
              <a:srgbClr val="10B981"/>
            </a:solidFill>
            <a:prstDash val="solid"/>
          </a:ln>
        </p:spPr>
      </p:sp>
      <p:sp>
        <p:nvSpPr>
          <p:cNvPr id="15" name="Shape 13"/>
          <p:cNvSpPr/>
          <p:nvPr/>
        </p:nvSpPr>
        <p:spPr>
          <a:xfrm>
            <a:off x="4123944" y="155448"/>
            <a:ext cx="3291840" cy="164592"/>
          </a:xfrm>
          <a:prstGeom prst="rect">
            <a:avLst/>
          </a:prstGeom>
          <a:solidFill>
            <a:srgbClr val="FFFFFF"/>
          </a:solidFill>
          <a:ln w="5080">
            <a:solidFill>
              <a:srgbClr val="C7D9F5"/>
            </a:solidFill>
            <a:prstDash val="solid"/>
          </a:ln>
        </p:spPr>
      </p:sp>
      <p:sp>
        <p:nvSpPr>
          <p:cNvPr id="16" name="Text 14"/>
          <p:cNvSpPr/>
          <p:nvPr/>
        </p:nvSpPr>
        <p:spPr>
          <a:xfrm>
            <a:off x="4151376" y="160020"/>
            <a:ext cx="3236976" cy="155448"/>
          </a:xfrm>
          <a:prstGeom prst="rect">
            <a:avLst/>
          </a:prstGeom>
          <a:noFill/>
          <a:ln/>
        </p:spPr>
        <p:txBody>
          <a:bodyPr wrap="square" lIns="0" tIns="0" rIns="0" bIns="0" rtlCol="0" anchor="ctr"/>
          <a:lstStyle/>
          <a:p>
            <a:pPr marL="0" indent="0">
              <a:buNone/>
            </a:pPr>
            <a:r>
              <a:rPr lang="en-US" sz="700" dirty="0">
                <a:solidFill>
                  <a:srgbClr val="6B7280"/>
                </a:solidFill>
                <a:latin typeface="Consolas" pitchFamily="34" charset="0"/>
                <a:ea typeface="Consolas" pitchFamily="34" charset="-122"/>
                <a:cs typeface="Consolas" pitchFamily="34" charset="-120"/>
              </a:rPr>
              <a:t>localhost:8765</a:t>
            </a:r>
            <a:endParaRPr lang="en-US" sz="700" dirty="0"/>
          </a:p>
        </p:txBody>
      </p:sp>
      <p:pic>
        <p:nvPicPr>
          <p:cNvPr id="17" name="Image 0" descr="preencoded.png"/>
          <p:cNvPicPr>
            <a:picLocks noChangeAspect="1"/>
          </p:cNvPicPr>
          <p:nvPr/>
        </p:nvPicPr>
        <p:blipFill>
          <a:blip r:embed="rId3"/>
          <a:stretch>
            <a:fillRect/>
          </a:stretch>
        </p:blipFill>
        <p:spPr>
          <a:xfrm>
            <a:off x="3547872" y="384048"/>
            <a:ext cx="5413248" cy="4626864"/>
          </a:xfrm>
          <a:prstGeom prst="rect">
            <a:avLst/>
          </a:prstGeom>
        </p:spPr>
      </p:pic>
      <p:sp>
        <p:nvSpPr>
          <p:cNvPr id="18" name="Text 15"/>
          <p:cNvSpPr/>
          <p:nvPr/>
        </p:nvSpPr>
        <p:spPr>
          <a:xfrm>
            <a:off x="3529584" y="4956048"/>
            <a:ext cx="5449824" cy="164592"/>
          </a:xfrm>
          <a:prstGeom prst="rect">
            <a:avLst/>
          </a:prstGeom>
          <a:noFill/>
          <a:ln/>
        </p:spPr>
        <p:txBody>
          <a:bodyPr wrap="square" lIns="0" tIns="0" rIns="0" bIns="0" rtlCol="0" anchor="ctr"/>
          <a:lstStyle/>
          <a:p>
            <a:pPr marL="0" indent="0" algn="r">
              <a:buNone/>
            </a:pPr>
            <a:r>
              <a:rPr lang="en-US" sz="750" i="1" dirty="0">
                <a:solidFill>
                  <a:srgbClr val="94A3B8"/>
                </a:solidFill>
                <a:latin typeface="Calibri" pitchFamily="34" charset="0"/>
                <a:ea typeface="Calibri" pitchFamily="34" charset="-122"/>
                <a:cs typeface="Calibri" pitchFamily="34" charset="-120"/>
              </a:rPr>
              <a:t>Slide 19 · Admin Revenue</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w="12700">
            <a:solidFill>
              <a:srgbClr val="0EA5E9"/>
            </a:solidFill>
            <a:prstDash val="solid"/>
          </a:ln>
        </p:spPr>
      </p:sp>
      <p:sp>
        <p:nvSpPr>
          <p:cNvPr id="3" name="Text 1"/>
          <p:cNvSpPr/>
          <p:nvPr/>
        </p:nvSpPr>
        <p:spPr>
          <a:xfrm>
            <a:off x="256032" y="128016"/>
            <a:ext cx="3108960" cy="566928"/>
          </a:xfrm>
          <a:prstGeom prst="rect">
            <a:avLst/>
          </a:prstGeom>
          <a:noFill/>
          <a:ln/>
        </p:spPr>
        <p:txBody>
          <a:bodyPr wrap="square" lIns="0" tIns="0" rIns="0" bIns="0" rtlCol="0" anchor="ctr"/>
          <a:lstStyle/>
          <a:p>
            <a:pPr marL="0" indent="0">
              <a:buNone/>
            </a:pPr>
            <a:r>
              <a:rPr lang="en-US" sz="2700" b="1" dirty="0">
                <a:solidFill>
                  <a:srgbClr val="0B1437"/>
                </a:solidFill>
                <a:latin typeface="Trebuchet MS" pitchFamily="34" charset="0"/>
                <a:ea typeface="Trebuchet MS" pitchFamily="34" charset="-122"/>
                <a:cs typeface="Trebuchet MS" pitchFamily="34" charset="-120"/>
              </a:rPr>
              <a:t>Frontend Views</a:t>
            </a:r>
            <a:endParaRPr lang="en-US" sz="2700" dirty="0"/>
          </a:p>
        </p:txBody>
      </p:sp>
      <p:sp>
        <p:nvSpPr>
          <p:cNvPr id="4" name="Text 2"/>
          <p:cNvSpPr/>
          <p:nvPr/>
        </p:nvSpPr>
        <p:spPr>
          <a:xfrm>
            <a:off x="256032" y="713232"/>
            <a:ext cx="3108960" cy="237744"/>
          </a:xfrm>
          <a:prstGeom prst="rect">
            <a:avLst/>
          </a:prstGeom>
          <a:noFill/>
          <a:ln/>
        </p:spPr>
        <p:txBody>
          <a:bodyPr wrap="square" lIns="0" tIns="0" rIns="0" bIns="0" rtlCol="0" anchor="ctr"/>
          <a:lstStyle/>
          <a:p>
            <a:pPr marL="0" indent="0">
              <a:buNone/>
            </a:pPr>
            <a:r>
              <a:rPr lang="en-US" sz="1050" i="1" dirty="0">
                <a:solidFill>
                  <a:srgbClr val="334155"/>
                </a:solidFill>
                <a:latin typeface="Calibri" pitchFamily="34" charset="0"/>
                <a:ea typeface="Calibri" pitchFamily="34" charset="-122"/>
                <a:cs typeface="Calibri" pitchFamily="34" charset="-120"/>
              </a:rPr>
              <a:t>Key screens of the SkyWay web application</a:t>
            </a:r>
            <a:endParaRPr lang="en-US" sz="1050" dirty="0"/>
          </a:p>
        </p:txBody>
      </p:sp>
      <p:sp>
        <p:nvSpPr>
          <p:cNvPr id="5" name="Shape 3"/>
          <p:cNvSpPr/>
          <p:nvPr/>
        </p:nvSpPr>
        <p:spPr>
          <a:xfrm>
            <a:off x="228600" y="1042416"/>
            <a:ext cx="3182112" cy="4005072"/>
          </a:xfrm>
          <a:prstGeom prst="rect">
            <a:avLst/>
          </a:prstGeom>
          <a:solidFill>
            <a:srgbClr val="FFFFFF"/>
          </a:solidFill>
          <a:ln w="7620">
            <a:solidFill>
              <a:srgbClr val="D1DAF0"/>
            </a:solidFill>
            <a:prstDash val="solid"/>
          </a:ln>
          <a:effectLst>
            <a:outerShdw blurRad="76200" dist="25400" dir="8100000" algn="bl" rotWithShape="0">
              <a:srgbClr val="000000">
                <a:alpha val="10000"/>
              </a:srgbClr>
            </a:outerShdw>
          </a:effectLst>
        </p:spPr>
      </p:sp>
      <p:sp>
        <p:nvSpPr>
          <p:cNvPr id="6" name="Shape 4"/>
          <p:cNvSpPr/>
          <p:nvPr/>
        </p:nvSpPr>
        <p:spPr>
          <a:xfrm>
            <a:off x="228600" y="1042416"/>
            <a:ext cx="3182112" cy="438912"/>
          </a:xfrm>
          <a:prstGeom prst="rect">
            <a:avLst/>
          </a:prstGeom>
          <a:solidFill>
            <a:srgbClr val="EF4444"/>
          </a:solidFill>
          <a:ln w="12700">
            <a:solidFill>
              <a:srgbClr val="EF4444"/>
            </a:solidFill>
            <a:prstDash val="solid"/>
          </a:ln>
        </p:spPr>
      </p:sp>
      <p:sp>
        <p:nvSpPr>
          <p:cNvPr id="7" name="Text 5"/>
          <p:cNvSpPr/>
          <p:nvPr/>
        </p:nvSpPr>
        <p:spPr>
          <a:xfrm>
            <a:off x="329184" y="1078992"/>
            <a:ext cx="2971800" cy="365760"/>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 Admin — Flight Status Control</a:t>
            </a:r>
            <a:endParaRPr lang="en-US" sz="1350" dirty="0"/>
          </a:p>
        </p:txBody>
      </p:sp>
      <p:sp>
        <p:nvSpPr>
          <p:cNvPr id="8" name="Text 6"/>
          <p:cNvSpPr/>
          <p:nvPr/>
        </p:nvSpPr>
        <p:spPr>
          <a:xfrm>
            <a:off x="329184" y="1572768"/>
            <a:ext cx="2980944" cy="33832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Flight Status tab · 1 flight with custom status</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Send Notification / Set Delay button</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Quick Flight Status Update form</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Flight Number · Status dropdown · Delay min</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Message text field · Update Status button</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Active Flight Alerts section below</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6E205 · DELAYED · +30 min delay card</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Clear button to remove active alert</a:t>
            </a:r>
            <a:endParaRPr lang="en-US" sz="1100" dirty="0"/>
          </a:p>
        </p:txBody>
      </p:sp>
      <p:sp>
        <p:nvSpPr>
          <p:cNvPr id="9" name="Shape 7"/>
          <p:cNvSpPr/>
          <p:nvPr/>
        </p:nvSpPr>
        <p:spPr>
          <a:xfrm>
            <a:off x="3575304" y="155448"/>
            <a:ext cx="5449824" cy="4919472"/>
          </a:xfrm>
          <a:prstGeom prst="rect">
            <a:avLst/>
          </a:prstGeom>
          <a:solidFill>
            <a:srgbClr val="C7D9F5"/>
          </a:solidFill>
          <a:ln w="12700">
            <a:solidFill>
              <a:srgbClr val="C7D9F5"/>
            </a:solidFill>
            <a:prstDash val="solid"/>
          </a:ln>
        </p:spPr>
      </p:sp>
      <p:sp>
        <p:nvSpPr>
          <p:cNvPr id="10" name="Shape 8"/>
          <p:cNvSpPr/>
          <p:nvPr/>
        </p:nvSpPr>
        <p:spPr>
          <a:xfrm>
            <a:off x="3529584" y="109728"/>
            <a:ext cx="5449824" cy="4919472"/>
          </a:xfrm>
          <a:prstGeom prst="rect">
            <a:avLst/>
          </a:prstGeom>
          <a:solidFill>
            <a:srgbClr val="FFFFFF"/>
          </a:solidFill>
          <a:ln w="12700">
            <a:solidFill>
              <a:srgbClr val="C7D9F5"/>
            </a:solidFill>
            <a:prstDash val="solid"/>
          </a:ln>
        </p:spPr>
      </p:sp>
      <p:sp>
        <p:nvSpPr>
          <p:cNvPr id="11" name="Shape 9"/>
          <p:cNvSpPr/>
          <p:nvPr/>
        </p:nvSpPr>
        <p:spPr>
          <a:xfrm>
            <a:off x="3529584" y="109728"/>
            <a:ext cx="5449824" cy="256032"/>
          </a:xfrm>
          <a:prstGeom prst="rect">
            <a:avLst/>
          </a:prstGeom>
          <a:solidFill>
            <a:srgbClr val="E8EEF8"/>
          </a:solidFill>
          <a:ln w="6350">
            <a:solidFill>
              <a:srgbClr val="D1DAF0"/>
            </a:solidFill>
            <a:prstDash val="solid"/>
          </a:ln>
        </p:spPr>
      </p:sp>
      <p:sp>
        <p:nvSpPr>
          <p:cNvPr id="12" name="Shape 10"/>
          <p:cNvSpPr/>
          <p:nvPr/>
        </p:nvSpPr>
        <p:spPr>
          <a:xfrm>
            <a:off x="3639312" y="173736"/>
            <a:ext cx="118872" cy="118872"/>
          </a:xfrm>
          <a:prstGeom prst="ellipse">
            <a:avLst/>
          </a:prstGeom>
          <a:solidFill>
            <a:srgbClr val="EF4444"/>
          </a:solidFill>
          <a:ln w="12700">
            <a:solidFill>
              <a:srgbClr val="EF4444"/>
            </a:solidFill>
            <a:prstDash val="solid"/>
          </a:ln>
        </p:spPr>
      </p:sp>
      <p:sp>
        <p:nvSpPr>
          <p:cNvPr id="13" name="Shape 11"/>
          <p:cNvSpPr/>
          <p:nvPr/>
        </p:nvSpPr>
        <p:spPr>
          <a:xfrm>
            <a:off x="3776472" y="173736"/>
            <a:ext cx="118872" cy="118872"/>
          </a:xfrm>
          <a:prstGeom prst="ellipse">
            <a:avLst/>
          </a:prstGeom>
          <a:solidFill>
            <a:srgbClr val="F59E0B"/>
          </a:solidFill>
          <a:ln w="12700">
            <a:solidFill>
              <a:srgbClr val="F59E0B"/>
            </a:solidFill>
            <a:prstDash val="solid"/>
          </a:ln>
        </p:spPr>
      </p:sp>
      <p:sp>
        <p:nvSpPr>
          <p:cNvPr id="14" name="Shape 12"/>
          <p:cNvSpPr/>
          <p:nvPr/>
        </p:nvSpPr>
        <p:spPr>
          <a:xfrm>
            <a:off x="3913632" y="173736"/>
            <a:ext cx="118872" cy="118872"/>
          </a:xfrm>
          <a:prstGeom prst="ellipse">
            <a:avLst/>
          </a:prstGeom>
          <a:solidFill>
            <a:srgbClr val="10B981"/>
          </a:solidFill>
          <a:ln w="12700">
            <a:solidFill>
              <a:srgbClr val="10B981"/>
            </a:solidFill>
            <a:prstDash val="solid"/>
          </a:ln>
        </p:spPr>
      </p:sp>
      <p:sp>
        <p:nvSpPr>
          <p:cNvPr id="15" name="Shape 13"/>
          <p:cNvSpPr/>
          <p:nvPr/>
        </p:nvSpPr>
        <p:spPr>
          <a:xfrm>
            <a:off x="4123944" y="155448"/>
            <a:ext cx="3291840" cy="164592"/>
          </a:xfrm>
          <a:prstGeom prst="rect">
            <a:avLst/>
          </a:prstGeom>
          <a:solidFill>
            <a:srgbClr val="FFFFFF"/>
          </a:solidFill>
          <a:ln w="5080">
            <a:solidFill>
              <a:srgbClr val="C7D9F5"/>
            </a:solidFill>
            <a:prstDash val="solid"/>
          </a:ln>
        </p:spPr>
      </p:sp>
      <p:sp>
        <p:nvSpPr>
          <p:cNvPr id="16" name="Text 14"/>
          <p:cNvSpPr/>
          <p:nvPr/>
        </p:nvSpPr>
        <p:spPr>
          <a:xfrm>
            <a:off x="4151376" y="160020"/>
            <a:ext cx="3236976" cy="155448"/>
          </a:xfrm>
          <a:prstGeom prst="rect">
            <a:avLst/>
          </a:prstGeom>
          <a:noFill/>
          <a:ln/>
        </p:spPr>
        <p:txBody>
          <a:bodyPr wrap="square" lIns="0" tIns="0" rIns="0" bIns="0" rtlCol="0" anchor="ctr"/>
          <a:lstStyle/>
          <a:p>
            <a:pPr marL="0" indent="0">
              <a:buNone/>
            </a:pPr>
            <a:r>
              <a:rPr lang="en-US" sz="700" dirty="0">
                <a:solidFill>
                  <a:srgbClr val="6B7280"/>
                </a:solidFill>
                <a:latin typeface="Consolas" pitchFamily="34" charset="0"/>
                <a:ea typeface="Consolas" pitchFamily="34" charset="-122"/>
                <a:cs typeface="Consolas" pitchFamily="34" charset="-120"/>
              </a:rPr>
              <a:t>localhost:8765</a:t>
            </a:r>
            <a:endParaRPr lang="en-US" sz="700" dirty="0"/>
          </a:p>
        </p:txBody>
      </p:sp>
      <p:pic>
        <p:nvPicPr>
          <p:cNvPr id="17" name="Image 0" descr="preencoded.png"/>
          <p:cNvPicPr>
            <a:picLocks noChangeAspect="1"/>
          </p:cNvPicPr>
          <p:nvPr/>
        </p:nvPicPr>
        <p:blipFill>
          <a:blip r:embed="rId3"/>
          <a:stretch>
            <a:fillRect/>
          </a:stretch>
        </p:blipFill>
        <p:spPr>
          <a:xfrm>
            <a:off x="3547872" y="384048"/>
            <a:ext cx="5413248" cy="4626864"/>
          </a:xfrm>
          <a:prstGeom prst="rect">
            <a:avLst/>
          </a:prstGeom>
        </p:spPr>
      </p:pic>
      <p:sp>
        <p:nvSpPr>
          <p:cNvPr id="18" name="Text 15"/>
          <p:cNvSpPr/>
          <p:nvPr/>
        </p:nvSpPr>
        <p:spPr>
          <a:xfrm>
            <a:off x="3529584" y="4956048"/>
            <a:ext cx="5449824" cy="164592"/>
          </a:xfrm>
          <a:prstGeom prst="rect">
            <a:avLst/>
          </a:prstGeom>
          <a:noFill/>
          <a:ln/>
        </p:spPr>
        <p:txBody>
          <a:bodyPr wrap="square" lIns="0" tIns="0" rIns="0" bIns="0" rtlCol="0" anchor="ctr"/>
          <a:lstStyle/>
          <a:p>
            <a:pPr marL="0" indent="0" algn="r">
              <a:buNone/>
            </a:pPr>
            <a:r>
              <a:rPr lang="en-US" sz="750" i="1" dirty="0">
                <a:solidFill>
                  <a:srgbClr val="94A3B8"/>
                </a:solidFill>
                <a:latin typeface="Calibri" pitchFamily="34" charset="0"/>
                <a:ea typeface="Calibri" pitchFamily="34" charset="-122"/>
                <a:cs typeface="Calibri" pitchFamily="34" charset="-120"/>
              </a:rPr>
              <a:t>Slide 20 · Admin Flight Status</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43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EA5E9"/>
          </a:solidFill>
          <a:ln w="12700">
            <a:solidFill>
              <a:srgbClr val="0EA5E9"/>
            </a:solidFill>
            <a:prstDash val="solid"/>
          </a:ln>
        </p:spPr>
      </p:sp>
      <p:sp>
        <p:nvSpPr>
          <p:cNvPr id="3" name="Shape 1"/>
          <p:cNvSpPr/>
          <p:nvPr/>
        </p:nvSpPr>
        <p:spPr>
          <a:xfrm>
            <a:off x="91440" y="0"/>
            <a:ext cx="22860" cy="5143500"/>
          </a:xfrm>
          <a:prstGeom prst="rect">
            <a:avLst/>
          </a:prstGeom>
          <a:solidFill>
            <a:srgbClr val="1E40AF"/>
          </a:solidFill>
          <a:ln w="12700">
            <a:solidFill>
              <a:srgbClr val="1E40AF"/>
            </a:solidFill>
            <a:prstDash val="solid"/>
          </a:ln>
        </p:spPr>
      </p:sp>
      <p:sp>
        <p:nvSpPr>
          <p:cNvPr id="4" name="Text 2"/>
          <p:cNvSpPr/>
          <p:nvPr/>
        </p:nvSpPr>
        <p:spPr>
          <a:xfrm>
            <a:off x="365760" y="201168"/>
            <a:ext cx="8412480" cy="50292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Proof of Prompts Generating Code</a:t>
            </a:r>
            <a:endParaRPr lang="en-US" sz="3000" dirty="0"/>
          </a:p>
        </p:txBody>
      </p:sp>
      <p:sp>
        <p:nvSpPr>
          <p:cNvPr id="5" name="Text 3"/>
          <p:cNvSpPr/>
          <p:nvPr/>
        </p:nvSpPr>
        <p:spPr>
          <a:xfrm>
            <a:off x="365760" y="749808"/>
            <a:ext cx="8412480" cy="292608"/>
          </a:xfrm>
          <a:prstGeom prst="rect">
            <a:avLst/>
          </a:prstGeom>
          <a:noFill/>
          <a:ln/>
        </p:spPr>
        <p:txBody>
          <a:bodyPr wrap="square" lIns="0" tIns="0" rIns="0" bIns="0" rtlCol="0" anchor="ctr"/>
          <a:lstStyle/>
          <a:p>
            <a:pPr marL="0" indent="0">
              <a:buNone/>
            </a:pPr>
            <a:endParaRPr lang="en-US" sz="1300" dirty="0"/>
          </a:p>
        </p:txBody>
      </p:sp>
      <p:sp>
        <p:nvSpPr>
          <p:cNvPr id="9" name="Text 7"/>
          <p:cNvSpPr/>
          <p:nvPr/>
        </p:nvSpPr>
        <p:spPr>
          <a:xfrm>
            <a:off x="374904" y="1106424"/>
            <a:ext cx="758952" cy="182880"/>
          </a:xfrm>
          <a:prstGeom prst="rect">
            <a:avLst/>
          </a:prstGeom>
          <a:noFill/>
          <a:ln/>
        </p:spPr>
        <p:txBody>
          <a:bodyPr wrap="square" lIns="0" tIns="0" rIns="0" bIns="0" rtlCol="0" anchor="ctr"/>
          <a:lstStyle/>
          <a:p>
            <a:pPr marL="0" indent="0">
              <a:buNone/>
            </a:pPr>
            <a:endParaRPr lang="en-US" sz="800" dirty="0"/>
          </a:p>
        </p:txBody>
      </p:sp>
      <p:sp>
        <p:nvSpPr>
          <p:cNvPr id="10" name="Text 8"/>
          <p:cNvSpPr/>
          <p:nvPr/>
        </p:nvSpPr>
        <p:spPr>
          <a:xfrm>
            <a:off x="1261872" y="1133856"/>
            <a:ext cx="3931920" cy="749808"/>
          </a:xfrm>
          <a:prstGeom prst="rect">
            <a:avLst/>
          </a:prstGeom>
          <a:noFill/>
          <a:ln/>
        </p:spPr>
        <p:txBody>
          <a:bodyPr wrap="square" lIns="0" tIns="0" rIns="0" bIns="0" rtlCol="0" anchor="t"/>
          <a:lstStyle/>
          <a:p>
            <a:pPr marL="0" indent="0">
              <a:buNone/>
            </a:pPr>
            <a:endParaRPr lang="en-US" sz="800" dirty="0"/>
          </a:p>
        </p:txBody>
      </p:sp>
      <p:sp>
        <p:nvSpPr>
          <p:cNvPr id="11" name="Shape 9"/>
          <p:cNvSpPr/>
          <p:nvPr/>
        </p:nvSpPr>
        <p:spPr>
          <a:xfrm>
            <a:off x="5257800" y="1170432"/>
            <a:ext cx="0" cy="676656"/>
          </a:xfrm>
          <a:prstGeom prst="line">
            <a:avLst/>
          </a:prstGeom>
          <a:noFill/>
          <a:ln w="10160">
            <a:solidFill>
              <a:srgbClr val="1E3A8A"/>
            </a:solidFill>
            <a:prstDash val="solid"/>
          </a:ln>
        </p:spPr>
      </p:sp>
      <p:sp>
        <p:nvSpPr>
          <p:cNvPr id="12" name="Text 10"/>
          <p:cNvSpPr/>
          <p:nvPr/>
        </p:nvSpPr>
        <p:spPr>
          <a:xfrm>
            <a:off x="5321808" y="1133856"/>
            <a:ext cx="3429000" cy="749808"/>
          </a:xfrm>
          <a:prstGeom prst="rect">
            <a:avLst/>
          </a:prstGeom>
          <a:noFill/>
          <a:ln/>
        </p:spPr>
        <p:txBody>
          <a:bodyPr wrap="square" lIns="0" tIns="0" rIns="0" bIns="0" rtlCol="0" anchor="ctr"/>
          <a:lstStyle/>
          <a:p>
            <a:pPr marL="0" indent="0">
              <a:buNone/>
            </a:pPr>
            <a:endParaRPr lang="en-US" sz="950" dirty="0"/>
          </a:p>
        </p:txBody>
      </p:sp>
      <p:sp>
        <p:nvSpPr>
          <p:cNvPr id="16" name="Text 14"/>
          <p:cNvSpPr/>
          <p:nvPr/>
        </p:nvSpPr>
        <p:spPr>
          <a:xfrm>
            <a:off x="374904" y="2075688"/>
            <a:ext cx="758952" cy="182880"/>
          </a:xfrm>
          <a:prstGeom prst="rect">
            <a:avLst/>
          </a:prstGeom>
          <a:noFill/>
          <a:ln/>
        </p:spPr>
        <p:txBody>
          <a:bodyPr wrap="square" lIns="0" tIns="0" rIns="0" bIns="0" rtlCol="0" anchor="ctr"/>
          <a:lstStyle/>
          <a:p>
            <a:pPr marL="0" indent="0">
              <a:buNone/>
            </a:pPr>
            <a:endParaRPr lang="en-US" sz="800" dirty="0"/>
          </a:p>
        </p:txBody>
      </p:sp>
      <p:sp>
        <p:nvSpPr>
          <p:cNvPr id="17" name="Text 15"/>
          <p:cNvSpPr/>
          <p:nvPr/>
        </p:nvSpPr>
        <p:spPr>
          <a:xfrm>
            <a:off x="1261872" y="2103120"/>
            <a:ext cx="3931920" cy="749808"/>
          </a:xfrm>
          <a:prstGeom prst="rect">
            <a:avLst/>
          </a:prstGeom>
          <a:noFill/>
          <a:ln/>
        </p:spPr>
        <p:txBody>
          <a:bodyPr wrap="square" lIns="0" tIns="0" rIns="0" bIns="0" rtlCol="0" anchor="t"/>
          <a:lstStyle/>
          <a:p>
            <a:pPr marL="0" indent="0">
              <a:buNone/>
            </a:pPr>
            <a:endParaRPr lang="en-US" sz="800" dirty="0"/>
          </a:p>
        </p:txBody>
      </p:sp>
      <p:sp>
        <p:nvSpPr>
          <p:cNvPr id="18" name="Shape 16"/>
          <p:cNvSpPr/>
          <p:nvPr/>
        </p:nvSpPr>
        <p:spPr>
          <a:xfrm>
            <a:off x="5257800" y="2139696"/>
            <a:ext cx="0" cy="676656"/>
          </a:xfrm>
          <a:prstGeom prst="line">
            <a:avLst/>
          </a:prstGeom>
          <a:noFill/>
          <a:ln w="10160">
            <a:solidFill>
              <a:srgbClr val="1E3A8A"/>
            </a:solidFill>
            <a:prstDash val="solid"/>
          </a:ln>
        </p:spPr>
      </p:sp>
      <p:sp>
        <p:nvSpPr>
          <p:cNvPr id="23" name="Text 21"/>
          <p:cNvSpPr/>
          <p:nvPr/>
        </p:nvSpPr>
        <p:spPr>
          <a:xfrm>
            <a:off x="374904" y="3044952"/>
            <a:ext cx="758952" cy="182880"/>
          </a:xfrm>
          <a:prstGeom prst="rect">
            <a:avLst/>
          </a:prstGeom>
          <a:noFill/>
          <a:ln/>
        </p:spPr>
        <p:txBody>
          <a:bodyPr wrap="square" lIns="0" tIns="0" rIns="0" bIns="0" rtlCol="0" anchor="ctr"/>
          <a:lstStyle/>
          <a:p>
            <a:pPr marL="0" indent="0">
              <a:buNone/>
            </a:pPr>
            <a:endParaRPr lang="en-US" sz="800" dirty="0"/>
          </a:p>
        </p:txBody>
      </p:sp>
      <p:sp>
        <p:nvSpPr>
          <p:cNvPr id="24" name="Text 22"/>
          <p:cNvSpPr/>
          <p:nvPr/>
        </p:nvSpPr>
        <p:spPr>
          <a:xfrm>
            <a:off x="1261872" y="3072384"/>
            <a:ext cx="3931920" cy="749808"/>
          </a:xfrm>
          <a:prstGeom prst="rect">
            <a:avLst/>
          </a:prstGeom>
          <a:noFill/>
          <a:ln/>
        </p:spPr>
        <p:txBody>
          <a:bodyPr wrap="square" lIns="0" tIns="0" rIns="0" bIns="0" rtlCol="0" anchor="t"/>
          <a:lstStyle/>
          <a:p>
            <a:pPr marL="0" indent="0">
              <a:buNone/>
            </a:pPr>
            <a:endParaRPr lang="en-US" sz="800" dirty="0"/>
          </a:p>
        </p:txBody>
      </p:sp>
      <p:sp>
        <p:nvSpPr>
          <p:cNvPr id="25" name="Shape 23"/>
          <p:cNvSpPr/>
          <p:nvPr/>
        </p:nvSpPr>
        <p:spPr>
          <a:xfrm>
            <a:off x="5257800" y="3108960"/>
            <a:ext cx="0" cy="676656"/>
          </a:xfrm>
          <a:prstGeom prst="line">
            <a:avLst/>
          </a:prstGeom>
          <a:noFill/>
          <a:ln w="10160">
            <a:solidFill>
              <a:srgbClr val="1E3A8A"/>
            </a:solidFill>
            <a:prstDash val="solid"/>
          </a:ln>
        </p:spPr>
      </p:sp>
      <p:sp>
        <p:nvSpPr>
          <p:cNvPr id="30" name="Text 28"/>
          <p:cNvSpPr/>
          <p:nvPr/>
        </p:nvSpPr>
        <p:spPr>
          <a:xfrm>
            <a:off x="374904" y="4014216"/>
            <a:ext cx="758952" cy="182880"/>
          </a:xfrm>
          <a:prstGeom prst="rect">
            <a:avLst/>
          </a:prstGeom>
          <a:noFill/>
          <a:ln/>
        </p:spPr>
        <p:txBody>
          <a:bodyPr wrap="square" lIns="0" tIns="0" rIns="0" bIns="0" rtlCol="0" anchor="ctr"/>
          <a:lstStyle/>
          <a:p>
            <a:pPr marL="0" indent="0">
              <a:buNone/>
            </a:pPr>
            <a:endParaRPr lang="en-US" sz="800" dirty="0"/>
          </a:p>
        </p:txBody>
      </p:sp>
      <p:sp>
        <p:nvSpPr>
          <p:cNvPr id="31" name="Text 29"/>
          <p:cNvSpPr/>
          <p:nvPr/>
        </p:nvSpPr>
        <p:spPr>
          <a:xfrm>
            <a:off x="1261872" y="4041648"/>
            <a:ext cx="3931920" cy="749808"/>
          </a:xfrm>
          <a:prstGeom prst="rect">
            <a:avLst/>
          </a:prstGeom>
          <a:noFill/>
          <a:ln/>
        </p:spPr>
        <p:txBody>
          <a:bodyPr wrap="square" lIns="0" tIns="0" rIns="0" bIns="0" rtlCol="0" anchor="t"/>
          <a:lstStyle/>
          <a:p>
            <a:pPr marL="0" indent="0">
              <a:buNone/>
            </a:pPr>
            <a:endParaRPr lang="en-US" sz="800" dirty="0"/>
          </a:p>
        </p:txBody>
      </p:sp>
      <p:sp>
        <p:nvSpPr>
          <p:cNvPr id="33" name="Text 31"/>
          <p:cNvSpPr/>
          <p:nvPr/>
        </p:nvSpPr>
        <p:spPr>
          <a:xfrm>
            <a:off x="5321808" y="4041648"/>
            <a:ext cx="3429000" cy="749808"/>
          </a:xfrm>
          <a:prstGeom prst="rect">
            <a:avLst/>
          </a:prstGeom>
          <a:noFill/>
          <a:ln/>
        </p:spPr>
        <p:txBody>
          <a:bodyPr wrap="square" lIns="0" tIns="0" rIns="0" bIns="0" rtlCol="0" anchor="ctr"/>
          <a:lstStyle/>
          <a:p>
            <a:pPr marL="0" indent="0">
              <a:buNone/>
            </a:pPr>
            <a:endParaRPr lang="en-US" sz="950" dirty="0"/>
          </a:p>
        </p:txBody>
      </p:sp>
      <p:sp>
        <p:nvSpPr>
          <p:cNvPr id="34" name="Text 32"/>
          <p:cNvSpPr/>
          <p:nvPr/>
        </p:nvSpPr>
        <p:spPr>
          <a:xfrm>
            <a:off x="320040" y="4846320"/>
            <a:ext cx="8503920" cy="182880"/>
          </a:xfrm>
          <a:prstGeom prst="rect">
            <a:avLst/>
          </a:prstGeom>
          <a:noFill/>
          <a:ln/>
        </p:spPr>
        <p:txBody>
          <a:bodyPr wrap="square" lIns="0" tIns="0" rIns="0" bIns="0" rtlCol="0" anchor="ctr"/>
          <a:lstStyle/>
          <a:p>
            <a:pPr marL="0" indent="0" algn="ctr">
              <a:buNone/>
            </a:pPr>
            <a:endParaRPr lang="en-US" sz="850" dirty="0"/>
          </a:p>
        </p:txBody>
      </p:sp>
      <p:pic>
        <p:nvPicPr>
          <p:cNvPr id="21" name="Picture 20">
            <a:extLst>
              <a:ext uri="{FF2B5EF4-FFF2-40B4-BE49-F238E27FC236}">
                <a16:creationId xmlns:a16="http://schemas.microsoft.com/office/drawing/2014/main" id="{3180B9EF-9C5F-4F46-8B48-E6DC791C1698}"/>
              </a:ext>
            </a:extLst>
          </p:cNvPr>
          <p:cNvPicPr>
            <a:picLocks noChangeAspect="1"/>
          </p:cNvPicPr>
          <p:nvPr/>
        </p:nvPicPr>
        <p:blipFill>
          <a:blip r:embed="rId3"/>
          <a:stretch>
            <a:fillRect/>
          </a:stretch>
        </p:blipFill>
        <p:spPr>
          <a:xfrm>
            <a:off x="178307" y="672565"/>
            <a:ext cx="4864391" cy="2595935"/>
          </a:xfrm>
          <a:prstGeom prst="rect">
            <a:avLst/>
          </a:prstGeom>
        </p:spPr>
      </p:pic>
      <p:pic>
        <p:nvPicPr>
          <p:cNvPr id="35" name="Picture 34">
            <a:extLst>
              <a:ext uri="{FF2B5EF4-FFF2-40B4-BE49-F238E27FC236}">
                <a16:creationId xmlns:a16="http://schemas.microsoft.com/office/drawing/2014/main" id="{4ED95D28-82EA-B9EC-89EE-0CFDA2329216}"/>
              </a:ext>
            </a:extLst>
          </p:cNvPr>
          <p:cNvPicPr>
            <a:picLocks noChangeAspect="1"/>
          </p:cNvPicPr>
          <p:nvPr/>
        </p:nvPicPr>
        <p:blipFill>
          <a:blip r:embed="rId4"/>
          <a:stretch>
            <a:fillRect/>
          </a:stretch>
        </p:blipFill>
        <p:spPr>
          <a:xfrm>
            <a:off x="4101302" y="2612002"/>
            <a:ext cx="4864391" cy="246628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EF4FF"/>
        </a:solidFill>
        <a:effectLst/>
      </p:bgPr>
    </p:bg>
    <p:spTree>
      <p:nvGrpSpPr>
        <p:cNvPr id="1" name=""/>
        <p:cNvGrpSpPr/>
        <p:nvPr/>
      </p:nvGrpSpPr>
      <p:grpSpPr>
        <a:xfrm>
          <a:off x="0" y="0"/>
          <a:ext cx="0" cy="0"/>
          <a:chOff x="0" y="0"/>
          <a:chExt cx="0" cy="0"/>
        </a:xfrm>
      </p:grpSpPr>
      <p:sp>
        <p:nvSpPr>
          <p:cNvPr id="31" name="Shape 0"/>
          <p:cNvSpPr/>
          <p:nvPr/>
        </p:nvSpPr>
        <p:spPr>
          <a:xfrm>
            <a:off x="0" y="0"/>
            <a:ext cx="9144000" cy="64008"/>
          </a:xfrm>
          <a:prstGeom prst="rect">
            <a:avLst/>
          </a:prstGeom>
          <a:solidFill>
            <a:srgbClr val="0EA5E9"/>
          </a:solidFill>
          <a:ln w="12700">
            <a:solidFill>
              <a:srgbClr val="0EA5E9"/>
            </a:solidFill>
            <a:prstDash val="solid"/>
          </a:ln>
        </p:spPr>
      </p:sp>
      <p:sp>
        <p:nvSpPr>
          <p:cNvPr id="32" name="Text 1"/>
          <p:cNvSpPr/>
          <p:nvPr/>
        </p:nvSpPr>
        <p:spPr>
          <a:xfrm>
            <a:off x="365760" y="201168"/>
            <a:ext cx="8412480" cy="502920"/>
          </a:xfrm>
          <a:prstGeom prst="rect">
            <a:avLst/>
          </a:prstGeom>
          <a:noFill/>
          <a:ln/>
        </p:spPr>
        <p:txBody>
          <a:bodyPr wrap="square" lIns="0" tIns="0" rIns="0" bIns="0" rtlCol="0" anchor="ctr"/>
          <a:lstStyle/>
          <a:p>
            <a:pPr marL="0" indent="0">
              <a:buNone/>
            </a:pPr>
            <a:r>
              <a:rPr lang="en-US" sz="3000" b="1" dirty="0">
                <a:solidFill>
                  <a:srgbClr val="0B1437"/>
                </a:solidFill>
                <a:latin typeface="Trebuchet MS" pitchFamily="34" charset="0"/>
                <a:ea typeface="Trebuchet MS" pitchFamily="34" charset="-122"/>
                <a:cs typeface="Trebuchet MS" pitchFamily="34" charset="-120"/>
              </a:rPr>
              <a:t>References</a:t>
            </a:r>
            <a:endParaRPr lang="en-US" sz="3000" dirty="0"/>
          </a:p>
        </p:txBody>
      </p:sp>
      <p:sp>
        <p:nvSpPr>
          <p:cNvPr id="33" name="Text 2"/>
          <p:cNvSpPr/>
          <p:nvPr/>
        </p:nvSpPr>
        <p:spPr>
          <a:xfrm>
            <a:off x="365760" y="731520"/>
            <a:ext cx="8412480" cy="256032"/>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Documentation, libraries, and tools used</a:t>
            </a:r>
            <a:endParaRPr lang="en-US" sz="1300" dirty="0"/>
          </a:p>
        </p:txBody>
      </p:sp>
      <p:sp>
        <p:nvSpPr>
          <p:cNvPr id="34" name="Shape 3"/>
          <p:cNvSpPr/>
          <p:nvPr/>
        </p:nvSpPr>
        <p:spPr>
          <a:xfrm>
            <a:off x="320040" y="1078992"/>
            <a:ext cx="8503920" cy="950976"/>
          </a:xfrm>
          <a:prstGeom prst="rect">
            <a:avLst/>
          </a:prstGeom>
          <a:solidFill>
            <a:srgbClr val="FFFFFF"/>
          </a:solidFill>
          <a:ln w="6350">
            <a:solidFill>
              <a:srgbClr val="E2EAF8"/>
            </a:solidFill>
            <a:prstDash val="solid"/>
          </a:ln>
        </p:spPr>
      </p:sp>
      <p:sp>
        <p:nvSpPr>
          <p:cNvPr id="35" name="Shape 4"/>
          <p:cNvSpPr/>
          <p:nvPr/>
        </p:nvSpPr>
        <p:spPr>
          <a:xfrm>
            <a:off x="320040" y="1078992"/>
            <a:ext cx="54864" cy="950976"/>
          </a:xfrm>
          <a:prstGeom prst="rect">
            <a:avLst/>
          </a:prstGeom>
          <a:solidFill>
            <a:srgbClr val="0EA5E9"/>
          </a:solidFill>
          <a:ln w="12700">
            <a:solidFill>
              <a:srgbClr val="0EA5E9"/>
            </a:solidFill>
            <a:prstDash val="solid"/>
          </a:ln>
        </p:spPr>
      </p:sp>
      <p:sp>
        <p:nvSpPr>
          <p:cNvPr id="36" name="Text 5"/>
          <p:cNvSpPr/>
          <p:nvPr/>
        </p:nvSpPr>
        <p:spPr>
          <a:xfrm>
            <a:off x="438912" y="1115568"/>
            <a:ext cx="8229600" cy="201168"/>
          </a:xfrm>
          <a:prstGeom prst="rect">
            <a:avLst/>
          </a:prstGeom>
          <a:noFill/>
          <a:ln/>
        </p:spPr>
        <p:txBody>
          <a:bodyPr wrap="square" lIns="0" tIns="0" rIns="0" bIns="0" rtlCol="0" anchor="ctr"/>
          <a:lstStyle/>
          <a:p>
            <a:pPr marL="0" indent="0">
              <a:buNone/>
            </a:pPr>
            <a:r>
              <a:rPr lang="en-US" sz="1050" b="1" dirty="0">
                <a:solidFill>
                  <a:srgbClr val="0B1437"/>
                </a:solidFill>
                <a:latin typeface="Trebuchet MS" pitchFamily="34" charset="0"/>
                <a:ea typeface="Trebuchet MS" pitchFamily="34" charset="-122"/>
                <a:cs typeface="Trebuchet MS" pitchFamily="34" charset="-120"/>
              </a:rPr>
              <a:t>Python Documentation</a:t>
            </a:r>
            <a:endParaRPr lang="en-US" sz="1050" dirty="0"/>
          </a:p>
        </p:txBody>
      </p:sp>
      <p:sp>
        <p:nvSpPr>
          <p:cNvPr id="37" name="Text 6"/>
          <p:cNvSpPr/>
          <p:nvPr/>
        </p:nvSpPr>
        <p:spPr>
          <a:xfrm>
            <a:off x="475488" y="1353312"/>
            <a:ext cx="8229600" cy="29260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  Python 3.11 Standard Library — http.server, hashlib, json, io, os — docs.python.org</a:t>
            </a:r>
            <a:endParaRPr lang="en-US" sz="1000" dirty="0"/>
          </a:p>
        </p:txBody>
      </p:sp>
      <p:sp>
        <p:nvSpPr>
          <p:cNvPr id="38" name="Text 7"/>
          <p:cNvSpPr/>
          <p:nvPr/>
        </p:nvSpPr>
        <p:spPr>
          <a:xfrm>
            <a:off x="475488" y="1700784"/>
            <a:ext cx="8229600" cy="29260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  ReportLab 4.x User Guide — PDF generation library — docs.reportlab.com</a:t>
            </a:r>
            <a:endParaRPr lang="en-US" sz="1000" dirty="0"/>
          </a:p>
        </p:txBody>
      </p:sp>
      <p:sp>
        <p:nvSpPr>
          <p:cNvPr id="39" name="Shape 8"/>
          <p:cNvSpPr/>
          <p:nvPr/>
        </p:nvSpPr>
        <p:spPr>
          <a:xfrm>
            <a:off x="320040" y="2139696"/>
            <a:ext cx="8503920" cy="932688"/>
          </a:xfrm>
          <a:prstGeom prst="rect">
            <a:avLst/>
          </a:prstGeom>
          <a:solidFill>
            <a:srgbClr val="FFFFFF"/>
          </a:solidFill>
          <a:ln w="6350">
            <a:solidFill>
              <a:srgbClr val="E2EAF8"/>
            </a:solidFill>
            <a:prstDash val="solid"/>
          </a:ln>
        </p:spPr>
      </p:sp>
      <p:sp>
        <p:nvSpPr>
          <p:cNvPr id="40" name="Shape 9"/>
          <p:cNvSpPr/>
          <p:nvPr/>
        </p:nvSpPr>
        <p:spPr>
          <a:xfrm>
            <a:off x="320040" y="2139696"/>
            <a:ext cx="45719" cy="941832"/>
          </a:xfrm>
          <a:prstGeom prst="rect">
            <a:avLst/>
          </a:prstGeom>
          <a:solidFill>
            <a:srgbClr val="0EA5E9"/>
          </a:solidFill>
          <a:ln w="12700">
            <a:solidFill>
              <a:srgbClr val="0EA5E9"/>
            </a:solidFill>
            <a:prstDash val="solid"/>
          </a:ln>
        </p:spPr>
      </p:sp>
      <p:sp>
        <p:nvSpPr>
          <p:cNvPr id="41" name="Text 10"/>
          <p:cNvSpPr/>
          <p:nvPr/>
        </p:nvSpPr>
        <p:spPr>
          <a:xfrm>
            <a:off x="438912" y="2176272"/>
            <a:ext cx="8229600" cy="201168"/>
          </a:xfrm>
          <a:prstGeom prst="rect">
            <a:avLst/>
          </a:prstGeom>
          <a:noFill/>
          <a:ln/>
        </p:spPr>
        <p:txBody>
          <a:bodyPr wrap="square" lIns="0" tIns="0" rIns="0" bIns="0" rtlCol="0" anchor="ctr"/>
          <a:lstStyle/>
          <a:p>
            <a:pPr marL="0" indent="0">
              <a:buNone/>
            </a:pPr>
            <a:r>
              <a:rPr lang="en-US" sz="1050" b="1" dirty="0">
                <a:solidFill>
                  <a:srgbClr val="0B1437"/>
                </a:solidFill>
                <a:latin typeface="Trebuchet MS" pitchFamily="34" charset="0"/>
                <a:ea typeface="Trebuchet MS" pitchFamily="34" charset="-122"/>
                <a:cs typeface="Trebuchet MS" pitchFamily="34" charset="-120"/>
              </a:rPr>
              <a:t>Frontend &amp; Design</a:t>
            </a:r>
            <a:endParaRPr lang="en-US" sz="1050" dirty="0"/>
          </a:p>
        </p:txBody>
      </p:sp>
      <p:sp>
        <p:nvSpPr>
          <p:cNvPr id="42" name="Text 11"/>
          <p:cNvSpPr/>
          <p:nvPr/>
        </p:nvSpPr>
        <p:spPr>
          <a:xfrm>
            <a:off x="475488" y="2414016"/>
            <a:ext cx="8229600" cy="29260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  Google Fonts — Sora, DM Sans, DM Mono — fonts.google.com</a:t>
            </a:r>
            <a:endParaRPr lang="en-US" sz="1000" dirty="0"/>
          </a:p>
        </p:txBody>
      </p:sp>
      <p:sp>
        <p:nvSpPr>
          <p:cNvPr id="43" name="Text 12"/>
          <p:cNvSpPr/>
          <p:nvPr/>
        </p:nvSpPr>
        <p:spPr>
          <a:xfrm>
            <a:off x="475488" y="2761488"/>
            <a:ext cx="8229600" cy="29260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  CSS Custom Properties (MDN) — developer.mozilla.org/en-US/docs/Web/CSS/--*</a:t>
            </a:r>
            <a:endParaRPr lang="en-US" sz="1000" dirty="0"/>
          </a:p>
        </p:txBody>
      </p:sp>
      <p:sp>
        <p:nvSpPr>
          <p:cNvPr id="44" name="Text 13"/>
          <p:cNvSpPr/>
          <p:nvPr/>
        </p:nvSpPr>
        <p:spPr>
          <a:xfrm>
            <a:off x="475488" y="3108960"/>
            <a:ext cx="8229600" cy="292608"/>
          </a:xfrm>
          <a:prstGeom prst="rect">
            <a:avLst/>
          </a:prstGeom>
          <a:noFill/>
          <a:ln/>
        </p:spPr>
        <p:txBody>
          <a:bodyPr wrap="square" lIns="0" tIns="0" rIns="0" bIns="0" rtlCol="0" anchor="ctr"/>
          <a:lstStyle/>
          <a:p>
            <a:pPr marL="0" indent="0">
              <a:buNone/>
            </a:pPr>
            <a:endParaRPr lang="en-US" sz="1000" dirty="0"/>
          </a:p>
        </p:txBody>
      </p:sp>
      <p:sp>
        <p:nvSpPr>
          <p:cNvPr id="45" name="Shape 14"/>
          <p:cNvSpPr/>
          <p:nvPr/>
        </p:nvSpPr>
        <p:spPr>
          <a:xfrm>
            <a:off x="320040" y="3146987"/>
            <a:ext cx="8503920" cy="621792"/>
          </a:xfrm>
          <a:prstGeom prst="rect">
            <a:avLst/>
          </a:prstGeom>
          <a:solidFill>
            <a:srgbClr val="FFFFFF"/>
          </a:solidFill>
          <a:ln w="6350">
            <a:solidFill>
              <a:srgbClr val="E2EAF8"/>
            </a:solidFill>
            <a:prstDash val="solid"/>
          </a:ln>
        </p:spPr>
        <p:txBody>
          <a:bodyPr/>
          <a:lstStyle/>
          <a:p>
            <a:endParaRPr lang="en-US" dirty="0"/>
          </a:p>
        </p:txBody>
      </p:sp>
      <p:sp>
        <p:nvSpPr>
          <p:cNvPr id="46" name="Shape 15"/>
          <p:cNvSpPr/>
          <p:nvPr/>
        </p:nvSpPr>
        <p:spPr>
          <a:xfrm>
            <a:off x="320040" y="3140310"/>
            <a:ext cx="45719" cy="621792"/>
          </a:xfrm>
          <a:prstGeom prst="rect">
            <a:avLst/>
          </a:prstGeom>
          <a:solidFill>
            <a:srgbClr val="0EA5E9"/>
          </a:solidFill>
          <a:ln w="12700">
            <a:solidFill>
              <a:srgbClr val="0EA5E9"/>
            </a:solidFill>
            <a:prstDash val="solid"/>
          </a:ln>
        </p:spPr>
      </p:sp>
      <p:sp>
        <p:nvSpPr>
          <p:cNvPr id="47" name="Text 16"/>
          <p:cNvSpPr/>
          <p:nvPr/>
        </p:nvSpPr>
        <p:spPr>
          <a:xfrm>
            <a:off x="438912" y="3187337"/>
            <a:ext cx="8229600" cy="201168"/>
          </a:xfrm>
          <a:prstGeom prst="rect">
            <a:avLst/>
          </a:prstGeom>
          <a:noFill/>
          <a:ln/>
        </p:spPr>
        <p:txBody>
          <a:bodyPr wrap="square" lIns="0" tIns="0" rIns="0" bIns="0" rtlCol="0" anchor="ctr"/>
          <a:lstStyle/>
          <a:p>
            <a:pPr marL="0" indent="0">
              <a:buNone/>
            </a:pPr>
            <a:r>
              <a:rPr lang="en-US" sz="1050" b="1" dirty="0">
                <a:solidFill>
                  <a:srgbClr val="0B1437"/>
                </a:solidFill>
                <a:latin typeface="Trebuchet MS" pitchFamily="34" charset="0"/>
                <a:ea typeface="Trebuchet MS" pitchFamily="34" charset="-122"/>
                <a:cs typeface="Trebuchet MS" pitchFamily="34" charset="-120"/>
              </a:rPr>
              <a:t>AI Tools Used</a:t>
            </a:r>
            <a:endParaRPr lang="en-US" sz="1050" dirty="0"/>
          </a:p>
        </p:txBody>
      </p:sp>
      <p:sp>
        <p:nvSpPr>
          <p:cNvPr id="48" name="Text 17"/>
          <p:cNvSpPr/>
          <p:nvPr/>
        </p:nvSpPr>
        <p:spPr>
          <a:xfrm>
            <a:off x="475488" y="3419566"/>
            <a:ext cx="8229600" cy="29260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  GitHub Copilot — AI code completion — github.com/features/copilot</a:t>
            </a:r>
            <a:endParaRPr lang="en-US" sz="1000" dirty="0"/>
          </a:p>
        </p:txBody>
      </p:sp>
      <p:sp>
        <p:nvSpPr>
          <p:cNvPr id="49" name="Text 18"/>
          <p:cNvSpPr/>
          <p:nvPr/>
        </p:nvSpPr>
        <p:spPr>
          <a:xfrm>
            <a:off x="475488" y="4169664"/>
            <a:ext cx="8229600" cy="292608"/>
          </a:xfrm>
          <a:prstGeom prst="rect">
            <a:avLst/>
          </a:prstGeom>
          <a:noFill/>
          <a:ln/>
        </p:spPr>
        <p:txBody>
          <a:bodyPr wrap="square" lIns="0" tIns="0" rIns="0" bIns="0" rtlCol="0" anchor="ctr"/>
          <a:lstStyle/>
          <a:p>
            <a:pPr marL="0" indent="0">
              <a:buNone/>
            </a:pPr>
            <a:endParaRPr lang="en-US" sz="1000" dirty="0"/>
          </a:p>
        </p:txBody>
      </p:sp>
      <p:sp>
        <p:nvSpPr>
          <p:cNvPr id="50" name="Shape 19"/>
          <p:cNvSpPr/>
          <p:nvPr/>
        </p:nvSpPr>
        <p:spPr>
          <a:xfrm>
            <a:off x="301752" y="3846866"/>
            <a:ext cx="8503920" cy="950976"/>
          </a:xfrm>
          <a:prstGeom prst="rect">
            <a:avLst/>
          </a:prstGeom>
          <a:solidFill>
            <a:srgbClr val="FFFFFF"/>
          </a:solidFill>
          <a:ln w="6350">
            <a:solidFill>
              <a:srgbClr val="E2EAF8"/>
            </a:solidFill>
            <a:prstDash val="solid"/>
          </a:ln>
        </p:spPr>
      </p:sp>
      <p:sp>
        <p:nvSpPr>
          <p:cNvPr id="51" name="Shape 20"/>
          <p:cNvSpPr/>
          <p:nvPr/>
        </p:nvSpPr>
        <p:spPr>
          <a:xfrm>
            <a:off x="340832" y="3846866"/>
            <a:ext cx="54864" cy="950976"/>
          </a:xfrm>
          <a:prstGeom prst="rect">
            <a:avLst/>
          </a:prstGeom>
          <a:solidFill>
            <a:srgbClr val="0EA5E9"/>
          </a:solidFill>
          <a:ln w="12700">
            <a:solidFill>
              <a:srgbClr val="0EA5E9"/>
            </a:solidFill>
            <a:prstDash val="solid"/>
          </a:ln>
        </p:spPr>
        <p:txBody>
          <a:bodyPr/>
          <a:lstStyle/>
          <a:p>
            <a:endParaRPr lang="en-US" dirty="0"/>
          </a:p>
        </p:txBody>
      </p:sp>
      <p:sp>
        <p:nvSpPr>
          <p:cNvPr id="52" name="Text 21"/>
          <p:cNvSpPr/>
          <p:nvPr/>
        </p:nvSpPr>
        <p:spPr>
          <a:xfrm>
            <a:off x="434776" y="3901149"/>
            <a:ext cx="8229600" cy="201168"/>
          </a:xfrm>
          <a:prstGeom prst="rect">
            <a:avLst/>
          </a:prstGeom>
          <a:noFill/>
          <a:ln/>
        </p:spPr>
        <p:txBody>
          <a:bodyPr wrap="square" lIns="0" tIns="0" rIns="0" bIns="0" rtlCol="0" anchor="ctr"/>
          <a:lstStyle/>
          <a:p>
            <a:r>
              <a:rPr lang="en-US" sz="1050" b="1" dirty="0">
                <a:solidFill>
                  <a:srgbClr val="0B1437"/>
                </a:solidFill>
                <a:latin typeface="Trebuchet MS" pitchFamily="34" charset="0"/>
                <a:ea typeface="Trebuchet MS" pitchFamily="34" charset="-122"/>
                <a:cs typeface="Trebuchet MS" pitchFamily="34" charset="-120"/>
              </a:rPr>
              <a:t>Airline Industry Standards</a:t>
            </a:r>
            <a:endParaRPr lang="en-US" sz="1050" dirty="0"/>
          </a:p>
        </p:txBody>
      </p:sp>
      <p:sp>
        <p:nvSpPr>
          <p:cNvPr id="53" name="Text 22"/>
          <p:cNvSpPr/>
          <p:nvPr/>
        </p:nvSpPr>
        <p:spPr>
          <a:xfrm>
            <a:off x="498348" y="4461111"/>
            <a:ext cx="8229600" cy="292608"/>
          </a:xfrm>
          <a:prstGeom prst="rect">
            <a:avLst/>
          </a:prstGeom>
          <a:noFill/>
          <a:ln/>
        </p:spPr>
        <p:txBody>
          <a:bodyPr wrap="square" lIns="0" tIns="0" rIns="0" bIns="0" rtlCol="0" anchor="ctr"/>
          <a:lstStyle/>
          <a:p>
            <a:pPr marL="0" indent="0">
              <a:buNone/>
            </a:pPr>
            <a:endParaRPr lang="en-US" sz="1000" dirty="0"/>
          </a:p>
        </p:txBody>
      </p:sp>
      <p:sp>
        <p:nvSpPr>
          <p:cNvPr id="54" name="Text 23"/>
          <p:cNvSpPr/>
          <p:nvPr/>
        </p:nvSpPr>
        <p:spPr>
          <a:xfrm>
            <a:off x="514350" y="4395506"/>
            <a:ext cx="8229600" cy="292608"/>
          </a:xfrm>
          <a:prstGeom prst="rect">
            <a:avLst/>
          </a:prstGeom>
          <a:noFill/>
          <a:ln/>
        </p:spPr>
        <p:txBody>
          <a:bodyPr wrap="square" lIns="0" tIns="0" rIns="0" bIns="0" rtlCol="0" anchor="ctr"/>
          <a:lstStyle/>
          <a:p>
            <a:r>
              <a:rPr lang="en-US" sz="1000" dirty="0">
                <a:solidFill>
                  <a:srgbClr val="334155"/>
                </a:solidFill>
                <a:latin typeface="Calibri" pitchFamily="34" charset="0"/>
                <a:ea typeface="Calibri" pitchFamily="34" charset="-122"/>
                <a:cs typeface="Calibri" pitchFamily="34" charset="-120"/>
              </a:rPr>
              <a:t>▸  Cancellation &amp; Refund Policy Reference — DGCA India Passenger Charter — dgca.gov.in</a:t>
            </a:r>
            <a:endParaRPr lang="en-US" sz="1000" dirty="0"/>
          </a:p>
        </p:txBody>
      </p:sp>
      <p:sp>
        <p:nvSpPr>
          <p:cNvPr id="55" name="Text 26"/>
          <p:cNvSpPr/>
          <p:nvPr/>
        </p:nvSpPr>
        <p:spPr>
          <a:xfrm>
            <a:off x="438912" y="5705856"/>
            <a:ext cx="8229600" cy="201168"/>
          </a:xfrm>
          <a:prstGeom prst="rect">
            <a:avLst/>
          </a:prstGeom>
          <a:noFill/>
          <a:ln/>
        </p:spPr>
        <p:txBody>
          <a:bodyPr wrap="square" lIns="0" tIns="0" rIns="0" bIns="0" rtlCol="0" anchor="ctr"/>
          <a:lstStyle/>
          <a:p>
            <a:pPr marL="0" indent="0">
              <a:buNone/>
            </a:pPr>
            <a:endParaRPr lang="en-US" sz="1050" dirty="0"/>
          </a:p>
        </p:txBody>
      </p:sp>
      <p:sp>
        <p:nvSpPr>
          <p:cNvPr id="56" name="Text 27"/>
          <p:cNvSpPr/>
          <p:nvPr/>
        </p:nvSpPr>
        <p:spPr>
          <a:xfrm>
            <a:off x="498348" y="4048034"/>
            <a:ext cx="8229600" cy="29260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  IATA Airport Codes Reference — iata.org/en/publications/directories/code-search</a:t>
            </a:r>
            <a:endParaRPr lang="en-US" sz="1000" dirty="0"/>
          </a:p>
        </p:txBody>
      </p:sp>
      <p:sp>
        <p:nvSpPr>
          <p:cNvPr id="57" name="Text 28"/>
          <p:cNvSpPr/>
          <p:nvPr/>
        </p:nvSpPr>
        <p:spPr>
          <a:xfrm>
            <a:off x="475488" y="6291072"/>
            <a:ext cx="8229600" cy="292608"/>
          </a:xfrm>
          <a:prstGeom prst="rect">
            <a:avLst/>
          </a:prstGeom>
          <a:noFill/>
          <a:ln/>
        </p:spPr>
        <p:txBody>
          <a:bodyPr wrap="square" lIns="0" tIns="0" rIns="0" bIns="0" rtlCol="0" anchor="ctr"/>
          <a:lstStyle/>
          <a:p>
            <a:pPr marL="0" indent="0">
              <a:buNone/>
            </a:pP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3089</Words>
  <Application>Microsoft Office PowerPoint</Application>
  <PresentationFormat>On-screen Show (16:9)</PresentationFormat>
  <Paragraphs>401</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SkyWay Flight Booking System</dc:title>
  <dc:subject>PptxGenJS Presentation</dc:subject>
  <dc:creator>PptxGenJS</dc:creator>
  <cp:lastModifiedBy>MEHER N</cp:lastModifiedBy>
  <cp:revision>5</cp:revision>
  <dcterms:created xsi:type="dcterms:W3CDTF">2026-04-05T14:03:57Z</dcterms:created>
  <dcterms:modified xsi:type="dcterms:W3CDTF">2026-04-22T06:30:24Z</dcterms:modified>
</cp:coreProperties>
</file>